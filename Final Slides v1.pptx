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e75b1d807f44ec4" /><Relationship Type="http://schemas.openxmlformats.org/officeDocument/2006/relationships/extended-properties" Target="/docProps/app.xml" Id="R5dc9407acc064832" /><Relationship Type="http://schemas.openxmlformats.org/officeDocument/2006/relationships/officeDocument" Target="/ppt/presentation.xml" Id="R5903693717d641b2" /></Relationships>
</file>

<file path=ppt/presentation.xml><?xml version="1.0" encoding="utf-8"?>
<p:presentation xmlns:p="http://schemas.openxmlformats.org/presentationml/2006/main">
  <p:sldMasterIdLst>
    <p:sldMasterId xmlns:r="http://schemas.openxmlformats.org/officeDocument/2006/relationships" id="2147483648" r:id="R220a97659b374ec3"/>
  </p:sldMasterIdLst>
  <p:notesMasterIdLst>
    <p:notesMasterId xmlns:r="http://schemas.openxmlformats.org/officeDocument/2006/relationships" r:id="Rdf1d4f01b25b4bd1"/>
  </p:notesMasterIdLst>
  <p:sldIdLst>
    <p:sldId xmlns:r="http://schemas.openxmlformats.org/officeDocument/2006/relationships" id="256" r:id="R89aab942129c45b7"/>
    <p:sldId xmlns:r="http://schemas.openxmlformats.org/officeDocument/2006/relationships" id="257" r:id="R37be54c9010e4f03"/>
    <p:sldId xmlns:r="http://schemas.openxmlformats.org/officeDocument/2006/relationships" id="258" r:id="Re95bc7cb38184742"/>
    <p:sldId xmlns:r="http://schemas.openxmlformats.org/officeDocument/2006/relationships" id="259" r:id="Rc4d5750ee93e46c1"/>
    <p:sldId xmlns:r="http://schemas.openxmlformats.org/officeDocument/2006/relationships" id="260" r:id="R08221b93c681467a"/>
    <p:sldId xmlns:r="http://schemas.openxmlformats.org/officeDocument/2006/relationships" id="261" r:id="R8a0131185dd0406a"/>
    <p:sldId xmlns:r="http://schemas.openxmlformats.org/officeDocument/2006/relationships" id="262" r:id="Ra19940958b30459f"/>
    <p:sldId xmlns:r="http://schemas.openxmlformats.org/officeDocument/2006/relationships" id="263" r:id="Rc3cdedc7295e4a01"/>
    <p:sldId xmlns:r="http://schemas.openxmlformats.org/officeDocument/2006/relationships" id="264" r:id="R5729397135b44d6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bfcfbf0a584524" /><Relationship Type="http://schemas.openxmlformats.org/officeDocument/2006/relationships/slideMaster" Target="/ppt/slideMasters/slideMaster1.xml" Id="R220a97659b374ec3" /><Relationship Type="http://schemas.openxmlformats.org/officeDocument/2006/relationships/notesMaster" Target="/ppt/notesMasters/notesMaster1.xml" Id="Rdf1d4f01b25b4bd1" /><Relationship Type="http://schemas.openxmlformats.org/officeDocument/2006/relationships/presProps" Target="/ppt/presProps.xml" Id="R391821211e1d4cb5" /><Relationship Type="http://schemas.openxmlformats.org/officeDocument/2006/relationships/tableStyles" Target="/ppt/tableStyles.xml" Id="R7c620acccacb4797" /><Relationship Type="http://schemas.openxmlformats.org/officeDocument/2006/relationships/slide" Target="/ppt/slides/slide1.xml" Id="R89aab942129c45b7" /><Relationship Type="http://schemas.openxmlformats.org/officeDocument/2006/relationships/slide" Target="/ppt/slides/slide2.xml" Id="R37be54c9010e4f03" /><Relationship Type="http://schemas.openxmlformats.org/officeDocument/2006/relationships/slide" Target="/ppt/slides/slide3.xml" Id="Re95bc7cb38184742" /><Relationship Type="http://schemas.openxmlformats.org/officeDocument/2006/relationships/slide" Target="/ppt/slides/slide4.xml" Id="Rc4d5750ee93e46c1" /><Relationship Type="http://schemas.openxmlformats.org/officeDocument/2006/relationships/slide" Target="/ppt/slides/slide5.xml" Id="R08221b93c681467a" /><Relationship Type="http://schemas.openxmlformats.org/officeDocument/2006/relationships/slide" Target="/ppt/slides/slide6.xml" Id="R8a0131185dd0406a" /><Relationship Type="http://schemas.openxmlformats.org/officeDocument/2006/relationships/slide" Target="/ppt/slides/slide7.xml" Id="Ra19940958b30459f" /><Relationship Type="http://schemas.openxmlformats.org/officeDocument/2006/relationships/slide" Target="/ppt/slides/slide8.xml" Id="Rc3cdedc7295e4a01" /><Relationship Type="http://schemas.openxmlformats.org/officeDocument/2006/relationships/slide" Target="/ppt/slides/slide9.xml" Id="R5729397135b44d6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2868d1e37f43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7b8ff3c5d44fc7" /><Relationship Type="http://schemas.openxmlformats.org/officeDocument/2006/relationships/notesMaster" Target="/ppt/notesMasters/notesMaster1.xml" Id="Rfadf3c1c407742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cd2569b20e484a" /><Relationship Type="http://schemas.openxmlformats.org/officeDocument/2006/relationships/notesMaster" Target="/ppt/notesMasters/notesMaster1.xml" Id="Rccd36e3f4b1a42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86eaadb0dc4d75" /><Relationship Type="http://schemas.openxmlformats.org/officeDocument/2006/relationships/notesMaster" Target="/ppt/notesMasters/notesMaster1.xml" Id="Ra6707423ce31431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e879a6f72f42b4" /><Relationship Type="http://schemas.openxmlformats.org/officeDocument/2006/relationships/notesMaster" Target="/ppt/notesMasters/notesMaster1.xml" Id="R1a8ee744302842c3"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6f391d597b459d" /><Relationship Type="http://schemas.openxmlformats.org/officeDocument/2006/relationships/notesMaster" Target="/ppt/notesMasters/notesMaster1.xml" Id="Rac11d71888574da6"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9b3a2772f1493c" /><Relationship Type="http://schemas.openxmlformats.org/officeDocument/2006/relationships/notesMaster" Target="/ppt/notesMasters/notesMaster1.xml" Id="Rbef5c3b1be7546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5f59779f7f4f68" /><Relationship Type="http://schemas.openxmlformats.org/officeDocument/2006/relationships/notesMaster" Target="/ppt/notesMasters/notesMaster1.xml" Id="R1c907af87d814fa3"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f2543fcbc94945" /><Relationship Type="http://schemas.openxmlformats.org/officeDocument/2006/relationships/notesMaster" Target="/ppt/notesMasters/notesMaster1.xml" Id="Rc0ff714186914fb6" /></Relationships>
</file>

<file path=ppt/notesSlides/_rels/notesSlide9.xml.rels>&#65279;<?xml version="1.0" encoding="utf-8"?><Relationships xmlns="http://schemas.openxmlformats.org/package/2006/relationships"><Relationship Type="http://schemas.openxmlformats.org/officeDocument/2006/relationships/slide" Target="/ppt/slides/slide9.xml" Id="Rd660092214034f26" /><Relationship Type="http://schemas.openxmlformats.org/officeDocument/2006/relationships/notesMaster" Target="/ppt/notesMasters/notesMaster1.xml" Id="R3acbfabd5b6a45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team by name and the consulting role. We identify promising release and promotion strategies, then recommend pilots to test whether they increase total streams and generate enough additional royalties to justify their costs. The data do not identify a proven revenue-maximizing policy.</a:t>
            </a:r>
          </a:p>
          <a:p xmlns:a="http://schemas.openxmlformats.org/drawingml/2006/main">
            <a:r>
              <a:t/>
            </a:r>
          </a:p>
          <a:p xmlns:a="http://schemas.openxmlformats.org/drawingml/2006/main">
            <a:r>
              <a:t>Sources: tracks_simplified.csv; Genre Streaming Analysis.R; Genre Analysis Output/Final Genre Comparison.csv; Genre Analysis Output/Sensitivity Checks.csv. Results verified October 12, 2026. Final model formulas reproduce Genre Drivers of Spotify Streams.pdf.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UMG FY2025 recorded music revenue was EUR 9,456 million out of total revenue of EUR 12,507 million (75.6%, rounded to 76%). Subscriptions and streaming accounted for 67% of recorded music revenue. These are different denominators. Source: UMG Annual Report 2025, business review and financial review. https://assets.ctfassets.net/e66ejtqbaazg/7HObJrt5UDQfjjfKYN454B/201bf057190c5ed4ee185b04a34ec095/UMG_2025_Annual_Report.pdf</a:t>
            </a:r>
          </a:p>
          <a:p xmlns:a="http://schemas.openxmlformats.org/drawingml/2006/main">
            <a:r>
              <a:t>Spotify pays rights holders based on streamshare rather than a fixed per-stream amount: https://loudandclear.byspotify.com/faqs/how-is-streamshare-calculated/</a:t>
            </a:r>
          </a:p>
          <a:p xmlns:a="http://schemas.openxmlformats.org/drawingml/2006/main">
            <a:r>
              <a:t/>
            </a:r>
          </a:p>
          <a:p xmlns:a="http://schemas.openxmlformats.org/drawingml/2006/main">
            <a:r>
              <a:t>Sources: tracks_simplified.csv; Genre Streaming Analysis.R; Genre Analysis Output/Final Genre Comparison.csv; Genre Analysis Output/Sensitivity Checks.csv. Results verified October 12, 2026. Final model formulas reproduce Genre Drivers of Spotify Streams.pdf.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statistical evidence from business goals. Estimated differences describe adjusted associations. HC3 intervals allow unequal error variance and use a t critical value. Repeated five-fold cross-validation tests fixed formulas on held-out tracks. The business target of 10% is proposed, not estimated from the regression. Suggested initial pilot window: 28 days with balanced budgets and comparable controls, subject to sample-size planning. Measure streams across all versions/project tracks. Check royalty income as reporting becomes available.</a:t>
            </a:r>
          </a:p>
          <a:p xmlns:a="http://schemas.openxmlformats.org/drawingml/2006/main">
            <a:r>
              <a:t/>
            </a:r>
          </a:p>
          <a:p xmlns:a="http://schemas.openxmlformats.org/drawingml/2006/main">
            <a:r>
              <a:t>Sources: tracks_simplified.csv; Genre Streaming Analysis.R; Genre Analysis Output/Final Genre Comparison.csv; Genre Analysis Output/Sensitivity Checks.csv. Results verified October 12, 2026. Final model formulas reproduce Genre Drivers of Spotify Streams.pdf.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Raw n=5,870. Seventeen tracks had zero duration and placeholder release dates. Another 29 lacked required follower/artist-popularity data. The positive-value filter also removes NA followers; subsequent na.omit removes no additional rows in this file. Final sample n=5,824. Focus genres total 3,199: Hip-Hop/Rap 1,224; Pop 1,633; Latin 342. We extract years from M/D/YY, YYYY, and YYYY-MM using the original 2026 century cutoff. Duration is minutes. Use ln(streams), ln(followers+1), and release-size categories. Missing artist names do not exclude rows. One Hip-Hop/Rap track has |standardized residual|&gt;3 and is retained in the main model. Excluding it changes the follower scenario from +7.69% to +7.63%.</a:t>
            </a:r>
          </a:p>
          <a:p xmlns:a="http://schemas.openxmlformats.org/drawingml/2006/main">
            <a:r>
              <a:t/>
            </a:r>
          </a:p>
          <a:p xmlns:a="http://schemas.openxmlformats.org/drawingml/2006/main">
            <a:r>
              <a:t>Sources: tracks_simplified.csv; Genre Streaming Analysis.R; Genre Analysis Output/Final Genre Comparison.csv; Genre Analysis Output/Sensitivity Checks.csv. Results verified October 12, 2026. Final model formulas reproduce Genre Drivers of Spotify Streams.pdf.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final genre models regress ln(streams) on explicit status, release size, release year, ln(followers+1), and duration; Latin also includes liveness. These formulas were selected during earlier exploratory analysis. Adjusted R² is in-sample; held-out R² averages 20 repetitions of five-fold validation. Folds separate tracks rather than artists, and variable selection was not nested within validation, so these checks remain exploratory. Residual plots show departures from normality; we use HC3 intervals for the scenario comparisons. HC3 does not fix omitted variables or dependence among songs by one artist. Supporting pooled ordinary F-tests use common controls: follower interactions p=0.000205, release-size p=0.001647, duration p=0.0000106. These do not identify every pairwise genre difference.</a:t>
            </a:r>
          </a:p>
          <a:p xmlns:a="http://schemas.openxmlformats.org/drawingml/2006/main">
            <a:r>
              <a:t/>
            </a:r>
          </a:p>
          <a:p xmlns:a="http://schemas.openxmlformats.org/drawingml/2006/main">
            <a:r>
              <a:t>Sources: tracks_simplified.csv; Genre Streaming Analysis.R; Genre Analysis Output/Final Genre Comparison.csv; Genre Analysis Output/Sensitivity Checks.csv. Results verified October 12, 2026. Final model formulas reproduce Genre Drivers of Spotify Streams.pdf.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Doubling followers from 100,000 to 200,000 changes fitted geometric-mean streams from 15,669.07 to 16,874.44 (+7.6926%). Profile: non-explicit one-track release, 2018, duration 3.404675 minutes. Model follower coefficient 0.10692029, ordinary p=8.027e-8. HC3 contrast p=1.948e-8, Holm p=5.844e-8 across the three comparisons. Individual 95% HC3 interval 4.9587% to 10.4978%. Confidence intervals concern the association, not an individual song. Follower count may partly reflect earlier success, so causation is not established. Listed-markets-only sensitivity yields +6.84%. The proposed fan-activation campaign is a hypothesis, not an intervention tested in these data.</a:t>
            </a:r>
          </a:p>
          <a:p xmlns:a="http://schemas.openxmlformats.org/drawingml/2006/main">
            <a:r>
              <a:t/>
            </a:r>
          </a:p>
          <a:p xmlns:a="http://schemas.openxmlformats.org/drawingml/2006/main">
            <a:r>
              <a:t>Sources: tracks_simplified.csv; Genre Streaming Analysis.R; Genre Analysis Output/Final Genre Comparison.csv; Genre Analysis Output/Sensitivity Checks.csv. Results verified October 12, 2026. Final model formulas reproduce Genre Drivers of Spotify Streams.pdf.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Scenario predictions: 11,573.72 versus 15,219.97 (+31.5046%). Profile: non-explicit, 2017, median followers 4,391,618, median duration 3.534367 minutes. Coefficient for 7+ tracks versus one track is -0.273871875, ordinary p=0.0002182. HC3 contrast p=0.0003367 and Holm p=0.0006601 across three comparisons. Individual HC3 95% interval 13.2425% to 52.7118%. A one-track release is not necessarily a promoted single. These are track-level comparisons, not total revenue or total album streams. Listed-markets-only sensitivity reduces the scenario difference to +19.50%, which limits the precision of a business promise. Test a single-first rollout and check for shifts in listening from album versions rather than additional listening.</a:t>
            </a:r>
          </a:p>
          <a:p xmlns:a="http://schemas.openxmlformats.org/drawingml/2006/main">
            <a:r>
              <a:t/>
            </a:r>
          </a:p>
          <a:p xmlns:a="http://schemas.openxmlformats.org/drawingml/2006/main">
            <a:r>
              <a:t>Sources: tracks_simplified.csv; Genre Streaming Analysis.R; Genre Analysis Output/Final Genre Comparison.csv; Genre Analysis Output/Sensitivity Checks.csv. Results verified October 12, 2026. Final model formulas reproduce Genre Drivers of Spotify Streams.pdf.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Scenario predictions: 24,197.69 at 3.5 minutes and 29,625.35 at 3 minutes (+22.4305%). Profile: non-explicit one-track release, 2017, followers 9,743,662 and liveness 0.128. Duration coefficient -0.40474603, ordinary p=0.0001254. HC3 contrast p=0.0003301, Holm p=0.0006601. Individual HC3 interval 9.7080% to 36.6283%. Liveness is included as a control. This compares different tracks and cannot show that removing thirty seconds causes the estimated gain. Listed-markets-only sensitivity yields +17.58%. Artist-approved shorter edits should be tested with balanced promotion, measuring combined streams across the original and edit.</a:t>
            </a:r>
          </a:p>
          <a:p xmlns:a="http://schemas.openxmlformats.org/drawingml/2006/main">
            <a:r>
              <a:t/>
            </a:r>
          </a:p>
          <a:p xmlns:a="http://schemas.openxmlformats.org/drawingml/2006/main">
            <a:r>
              <a:t>Sources: tracks_simplified.csv; Genre Streaming Analysis.R; Genre Analysis Output/Final Genre Comparison.csv; Genre Analysis Output/Sensitivity Checks.csv. Results verified October 12, 2026. Final model formulas reproduce Genre Drivers of Spotify Streams.pdf.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limited pilots before increasing spending. Hip-Hop/Rap: test fan activation against usual promotion. Pop: evaluate a single-first rollout at comparable budgets and measure all project tracks. Latin: test artist-approved shorter edits against originals, counting total streams across versions. Use comparable controls and randomization where feasible; determine sample size before launch. A 28-day observation window is proposed and should match across groups. The 10% improvement benchmark is a business target, not a modeled campaign lift. Assess uncertainty and additional royalty income relative to costs before expansion. More streams are not a fixed amount of revenue. We have neither campaign spend nor royalties in this dataset.</a:t>
            </a:r>
          </a:p>
          <a:p xmlns:a="http://schemas.openxmlformats.org/drawingml/2006/main">
            <a:r>
              <a:t/>
            </a:r>
          </a:p>
          <a:p xmlns:a="http://schemas.openxmlformats.org/drawingml/2006/main">
            <a:r>
              <a:t>Sources: tracks_simplified.csv; Genre Streaming Analysis.R; Genre Analysis Output/Final Genre Comparison.csv; Genre Analysis Output/Sensitivity Checks.csv. Results verified October 12, 2026. Final model formulas reproduce Genre Drivers of Spotify Streams.pdf.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b54240947a49f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0736dccd7f54d9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ac575251fe2472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ef112ae92b444f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b0d8c7608d3457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251c9666edb4e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4CC52E-C941-4EB3-8D98-503965E05CE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35273F8-F66D-43AA-BF85-2B3DCB73612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C6594B8-81FC-445F-8455-B554DD8E81A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B60984-E238-4E4E-9975-FCEA45B6AC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B32E0E9-FC6E-4DA1-8D97-FFD1858A416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B8A252C-B2E6-4C12-9515-0D074FB04A6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5F0D575-ECC1-462C-80E9-BACD3B4590C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443AF64-C518-407B-AA70-B3BB4471AA0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163969E-FD49-4BD9-9FC3-A7A9AFC7C7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4B62D2-4CC0-4DED-B1BD-EEFC0191A31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0ef778283c490d" /><Relationship Type="http://schemas.openxmlformats.org/officeDocument/2006/relationships/slideLayout" Target="/ppt/slideLayouts/slideLayout1.xml" Id="R37d49ef7d125451f" /><Relationship Type="http://schemas.openxmlformats.org/officeDocument/2006/relationships/slideLayout" Target="/ppt/slideLayouts/slideLayout2.xml" Id="Ra2d028c04dae4089" /><Relationship Type="http://schemas.openxmlformats.org/officeDocument/2006/relationships/slideLayout" Target="/ppt/slideLayouts/slideLayout3.xml" Id="R770e5d7eb332443a" /><Relationship Type="http://schemas.openxmlformats.org/officeDocument/2006/relationships/slideLayout" Target="/ppt/slideLayouts/slideLayout4.xml" Id="R665a4d9923854114" /><Relationship Type="http://schemas.openxmlformats.org/officeDocument/2006/relationships/slideLayout" Target="/ppt/slideLayouts/slideLayout5.xml" Id="Rd55a268a5b084486" /><Relationship Type="http://schemas.openxmlformats.org/officeDocument/2006/relationships/slideLayout" Target="/ppt/slideLayouts/slideLayout6.xml" Id="R6f2cd4e8817d46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d49ef7d125451f"/>
    <p:sldLayoutId xmlns:r="http://schemas.openxmlformats.org/officeDocument/2006/relationships" id="2147483650" r:id="Ra2d028c04dae4089"/>
    <p:sldLayoutId xmlns:r="http://schemas.openxmlformats.org/officeDocument/2006/relationships" id="2147483651" r:id="R770e5d7eb332443a"/>
    <p:sldLayoutId xmlns:r="http://schemas.openxmlformats.org/officeDocument/2006/relationships" id="2147483652" r:id="R665a4d9923854114"/>
    <p:sldLayoutId xmlns:r="http://schemas.openxmlformats.org/officeDocument/2006/relationships" id="2147483653" r:id="Rd55a268a5b084486"/>
    <p:sldLayoutId xmlns:r="http://schemas.openxmlformats.org/officeDocument/2006/relationships" id="2147483654" r:id="R6f2cd4e8817d46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bffd692e86f4dc5" /><Relationship Type="http://schemas.openxmlformats.org/officeDocument/2006/relationships/notesSlide" Target="/ppt/notesSlides/notesSlide1.xml" Id="Rd258fd048f5d47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f33b7ee47114d44" /><Relationship Type="http://schemas.openxmlformats.org/officeDocument/2006/relationships/notesSlide" Target="/ppt/notesSlides/notesSlide2.xml" Id="R8dd51f04c65146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c7ecc4a42eb4d18" /><Relationship Type="http://schemas.openxmlformats.org/officeDocument/2006/relationships/notesSlide" Target="/ppt/notesSlides/notesSlide3.xml" Id="Ra898242afd2546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6dff1409fb54463" /><Relationship Type="http://schemas.openxmlformats.org/officeDocument/2006/relationships/notesSlide" Target="/ppt/notesSlides/notesSlide4.xml" Id="R775d6eb8dad446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0f58bb6b3ad4086" /><Relationship Type="http://schemas.openxmlformats.org/officeDocument/2006/relationships/notesSlide" Target="/ppt/notesSlides/notesSlide5.xml" Id="Re0051b773e5444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5b47b794a924cca" /><Relationship Type="http://schemas.openxmlformats.org/officeDocument/2006/relationships/chart" Target="/ppt/slides/charts/chart1.xml" Id="R2b6f5824bef740c6" /><Relationship Type="http://schemas.openxmlformats.org/officeDocument/2006/relationships/notesSlide" Target="/ppt/notesSlides/notesSlide6.xml" Id="R124aa453a8e441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7615a698bb94dbf" /><Relationship Type="http://schemas.openxmlformats.org/officeDocument/2006/relationships/chart" Target="/ppt/slides/charts/chart2.xml" Id="R0665fd8bd0c4451d" /><Relationship Type="http://schemas.openxmlformats.org/officeDocument/2006/relationships/notesSlide" Target="/ppt/notesSlides/notesSlide7.xml" Id="R30320055348245f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ae57c6f79e7480e" /><Relationship Type="http://schemas.openxmlformats.org/officeDocument/2006/relationships/chart" Target="/ppt/slides/charts/chart3.xml" Id="R70e921c54674437b" /><Relationship Type="http://schemas.openxmlformats.org/officeDocument/2006/relationships/notesSlide" Target="/ppt/notesSlides/notesSlide8.xml" Id="Rcfae1a2b35a3472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bf443034fc34564" /><Relationship Type="http://schemas.openxmlformats.org/officeDocument/2006/relationships/notesSlide" Target="/ppt/notesSlides/notesSlide9.xml" Id="Ra1add4381e6e4c0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Fitted geometric-mean streams</c:v>
          </c:tx>
          <c:spPr>
            <a:solidFill xmlns:a="http://schemas.openxmlformats.org/drawingml/2006/main">
              <a:srgbClr val="147448"/>
            </a:solidFill>
          </c:spPr>
          <c:dPt>
            <c:idx val="0"/>
            <c:invertIfNegative val="0"/>
            <c:spPr>
              <a:solidFill xmlns:a="http://schemas.openxmlformats.org/drawingml/2006/main">
                <a:srgbClr val="A7B9AE"/>
              </a:solidFill>
            </c:spPr>
          </c:dPt>
          <c:dPt>
            <c:idx val="1"/>
            <c:invertIfNegative val="0"/>
            <c:spPr>
              <a:solidFill xmlns:a="http://schemas.openxmlformats.org/drawingml/2006/main">
                <a:srgbClr val="147448"/>
              </a:solidFill>
            </c:spPr>
          </c:dPt>
          <c:cat>
            <c:strRef>
              <c:f>'Chart Data'!$A$2:$A$3</c:f>
              <c:strCache>
                <c:ptCount val="2"/>
                <c:pt idx="0">
                  <c:v>100,000 followers</c:v>
                </c:pt>
                <c:pt idx="1">
                  <c:v>200,000 followers</c:v>
                </c:pt>
              </c:strCache>
            </c:strRef>
          </c:cat>
          <c:val>
            <c:numRef>
              <c:f>'Chart Data'!$B$2:$B$3</c:f>
              <c:numCache>
                <c:formatCode>#,##0</c:formatCode>
                <c:ptCount val="2"/>
                <c:pt idx="0">
                  <c:v>15669.0728481697</c:v>
                </c:pt>
                <c:pt idx="1">
                  <c:v>16874.4366509017</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75">
                  <a:solidFill>
                    <a:srgbClr val="182820"/>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6BD"/>
            </a:solidFill>
          </a:ln>
        </c:spPr>
        <c:txPr>
          <a:bodyPr xmlns:a="http://schemas.openxmlformats.org/drawingml/2006/main" anchorCtr="1"/>
          <a:lstStyle xmlns:a="http://schemas.openxmlformats.org/drawingml/2006/main"/>
          <a:p xmlns:a="http://schemas.openxmlformats.org/drawingml/2006/main">
            <a:pPr>
              <a:defRPr sz="1725">
                <a:solidFill>
                  <a:srgbClr val="182820"/>
                </a:solidFill>
                <a:latin typeface="Helvetica Neue"/>
                <a:ea typeface="Helvetica Neue"/>
                <a:cs typeface="Helvetica Neue"/>
              </a:defRPr>
            </a:pPr>
          </a:p>
        </c:txPr>
        <c:crossAx val="48672768"/>
      </c:catAx>
      <c:valAx>
        <c:axId val="48672768"/>
        <c:scaling>
          <c:orientation val="minMax"/>
          <c:max val="40000"/>
          <c:min val="0"/>
        </c:scaling>
        <c:delete val="0"/>
        <c:axPos val="l"/>
        <c:majorGridlines>
          <c:spPr>
            <a:ln xmlns:a="http://schemas.openxmlformats.org/drawingml/2006/main" w="9525">
              <a:solidFill>
                <a:srgbClr val="DFE7E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158"/>
                </a:solidFill>
                <a:latin typeface="Helvetica Neue"/>
                <a:ea typeface="Helvetica Neue"/>
                <a:cs typeface="Helvetica Neue"/>
              </a:defRPr>
            </a:pPr>
          </a:p>
        </c:txPr>
        <c:crossAx val="48650112"/>
        <c:crossBetween val="between"/>
        <c:majorUnit val="100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Fitted geometric-mean streams</c:v>
          </c:tx>
          <c:spPr>
            <a:solidFill xmlns:a="http://schemas.openxmlformats.org/drawingml/2006/main">
              <a:srgbClr val="147448"/>
            </a:solidFill>
          </c:spPr>
          <c:dPt>
            <c:idx val="0"/>
            <c:invertIfNegative val="0"/>
            <c:spPr>
              <a:solidFill xmlns:a="http://schemas.openxmlformats.org/drawingml/2006/main">
                <a:srgbClr val="A7B9AE"/>
              </a:solidFill>
            </c:spPr>
          </c:dPt>
          <c:dPt>
            <c:idx val="1"/>
            <c:invertIfNegative val="0"/>
            <c:spPr>
              <a:solidFill xmlns:a="http://schemas.openxmlformats.org/drawingml/2006/main">
                <a:srgbClr val="147448"/>
              </a:solidFill>
            </c:spPr>
          </c:dPt>
          <c:cat>
            <c:strRef>
              <c:f>'Chart Data'!$A$2:$A$3</c:f>
              <c:strCache>
                <c:ptCount val="2"/>
                <c:pt idx="0">
                  <c:v>Release with 7+ tracks</c:v>
                </c:pt>
                <c:pt idx="1">
                  <c:v>One-track release</c:v>
                </c:pt>
              </c:strCache>
            </c:strRef>
          </c:cat>
          <c:val>
            <c:numRef>
              <c:f>'Chart Data'!$B$2:$B$3</c:f>
              <c:numCache>
                <c:formatCode>#,##0</c:formatCode>
                <c:ptCount val="2"/>
                <c:pt idx="0">
                  <c:v>11573.7165826221</c:v>
                </c:pt>
                <c:pt idx="1">
                  <c:v>15219.9731861927</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75">
                  <a:solidFill>
                    <a:srgbClr val="182820"/>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6BD"/>
            </a:solidFill>
          </a:ln>
        </c:spPr>
        <c:txPr>
          <a:bodyPr xmlns:a="http://schemas.openxmlformats.org/drawingml/2006/main" anchorCtr="1"/>
          <a:lstStyle xmlns:a="http://schemas.openxmlformats.org/drawingml/2006/main"/>
          <a:p xmlns:a="http://schemas.openxmlformats.org/drawingml/2006/main">
            <a:pPr>
              <a:defRPr sz="1725">
                <a:solidFill>
                  <a:srgbClr val="182820"/>
                </a:solidFill>
                <a:latin typeface="Helvetica Neue"/>
                <a:ea typeface="Helvetica Neue"/>
                <a:cs typeface="Helvetica Neue"/>
              </a:defRPr>
            </a:pPr>
          </a:p>
        </c:txPr>
        <c:crossAx val="48672768"/>
      </c:catAx>
      <c:valAx>
        <c:axId val="48672768"/>
        <c:scaling>
          <c:orientation val="minMax"/>
          <c:max val="40000"/>
          <c:min val="0"/>
        </c:scaling>
        <c:delete val="0"/>
        <c:axPos val="l"/>
        <c:majorGridlines>
          <c:spPr>
            <a:ln xmlns:a="http://schemas.openxmlformats.org/drawingml/2006/main" w="9525">
              <a:solidFill>
                <a:srgbClr val="DFE7E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158"/>
                </a:solidFill>
                <a:latin typeface="Helvetica Neue"/>
                <a:ea typeface="Helvetica Neue"/>
                <a:cs typeface="Helvetica Neue"/>
              </a:defRPr>
            </a:pPr>
          </a:p>
        </c:txPr>
        <c:crossAx val="48650112"/>
        <c:crossBetween val="between"/>
        <c:majorUnit val="100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Fitted geometric-mean streams</c:v>
          </c:tx>
          <c:spPr>
            <a:solidFill xmlns:a="http://schemas.openxmlformats.org/drawingml/2006/main">
              <a:srgbClr val="147448"/>
            </a:solidFill>
          </c:spPr>
          <c:dPt>
            <c:idx val="0"/>
            <c:invertIfNegative val="0"/>
            <c:spPr>
              <a:solidFill xmlns:a="http://schemas.openxmlformats.org/drawingml/2006/main">
                <a:srgbClr val="A7B9AE"/>
              </a:solidFill>
            </c:spPr>
          </c:dPt>
          <c:dPt>
            <c:idx val="1"/>
            <c:invertIfNegative val="0"/>
            <c:spPr>
              <a:solidFill xmlns:a="http://schemas.openxmlformats.org/drawingml/2006/main">
                <a:srgbClr val="147448"/>
              </a:solidFill>
            </c:spPr>
          </c:dPt>
          <c:cat>
            <c:strRef>
              <c:f>'Chart Data'!$A$2:$A$3</c:f>
              <c:strCache>
                <c:ptCount val="2"/>
                <c:pt idx="0">
                  <c:v>3½-minute track</c:v>
                </c:pt>
                <c:pt idx="1">
                  <c:v>3-minute track</c:v>
                </c:pt>
              </c:strCache>
            </c:strRef>
          </c:cat>
          <c:val>
            <c:numRef>
              <c:f>'Chart Data'!$B$2:$B$3</c:f>
              <c:numCache>
                <c:formatCode>#,##0</c:formatCode>
                <c:ptCount val="2"/>
                <c:pt idx="0">
                  <c:v>24197.6922635342</c:v>
                </c:pt>
                <c:pt idx="1">
                  <c:v>29625.3460654733</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75">
                  <a:solidFill>
                    <a:srgbClr val="182820"/>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6BD"/>
            </a:solidFill>
          </a:ln>
        </c:spPr>
        <c:txPr>
          <a:bodyPr xmlns:a="http://schemas.openxmlformats.org/drawingml/2006/main" anchorCtr="1"/>
          <a:lstStyle xmlns:a="http://schemas.openxmlformats.org/drawingml/2006/main"/>
          <a:p xmlns:a="http://schemas.openxmlformats.org/drawingml/2006/main">
            <a:pPr>
              <a:defRPr sz="1725">
                <a:solidFill>
                  <a:srgbClr val="182820"/>
                </a:solidFill>
                <a:latin typeface="Helvetica Neue"/>
                <a:ea typeface="Helvetica Neue"/>
                <a:cs typeface="Helvetica Neue"/>
              </a:defRPr>
            </a:pPr>
          </a:p>
        </c:txPr>
        <c:crossAx val="48672768"/>
      </c:catAx>
      <c:valAx>
        <c:axId val="48672768"/>
        <c:scaling>
          <c:orientation val="minMax"/>
          <c:max val="40000"/>
          <c:min val="0"/>
        </c:scaling>
        <c:delete val="0"/>
        <c:axPos val="l"/>
        <c:majorGridlines>
          <c:spPr>
            <a:ln xmlns:a="http://schemas.openxmlformats.org/drawingml/2006/main" w="9525">
              <a:solidFill>
                <a:srgbClr val="DFE7E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158"/>
                </a:solidFill>
                <a:latin typeface="Helvetica Neue"/>
                <a:ea typeface="Helvetica Neue"/>
                <a:cs typeface="Helvetica Neue"/>
              </a:defRPr>
            </a:pPr>
          </a:p>
        </c:txPr>
        <c:crossAx val="48650112"/>
        <c:crossBetween val="between"/>
        <c:majorUnit val="100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0D7E412-D387-479A-B02F-71BA8D76436F}"/>
              </a:ext>
            </a:extLst>
          </p:cNvPr>
          <p:cNvSpPr>
            <a:spLocks xmlns:a="http://schemas.openxmlformats.org/drawingml/2006/main" noGrp="1"/>
          </p:cNvSpPr>
          <p:nvPr/>
        </p:nvSpPr>
        <p:spPr>
          <a:xfrm xmlns:a="http://schemas.openxmlformats.org/drawingml/2006/main">
            <a:off x="609600" y="14287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950" b="1">
                <a:solidFill>
                  <a:srgbClr val="182820"/>
                </a:solidFill>
                <a:latin typeface="Helvetica Neue"/>
                <a:ea typeface="Helvetica Neue"/>
                <a:cs typeface="Helvetica Neue"/>
              </a:defRPr>
            </a:defPPr>
          </a:lstStyle>
          <a:p xmlns:a="http://schemas.openxmlformats.org/drawingml/2006/main">
            <a:pPr>
              <a:defRPr sz="4950" b="1">
                <a:solidFill>
                  <a:srgbClr val="182820"/>
                </a:solidFill>
                <a:latin typeface="Helvetica Neue"/>
                <a:ea typeface="Helvetica Neue"/>
                <a:cs typeface="Helvetica Neue"/>
              </a:defRPr>
            </a:pPr>
            <a:r>
              <a:rPr sz="4950" b="1">
                <a:solidFill>
                  <a:srgbClr val="182820"/>
                </a:solidFill>
                <a:latin typeface="Helvetica Neue"/>
                <a:ea typeface="Helvetica Neue"/>
                <a:cs typeface="Helvetica Neue"/>
              </a:rPr>
              <a:t>Growing Spotify Streams</a:t>
            </a:r>
          </a:p>
        </p:txBody>
      </p:sp>
      <p:sp>
        <p:nvSpPr>
          <p:cNvPr id="2" name="">
            <a:extLst xmlns:a="http://schemas.openxmlformats.org/drawingml/2006/main">
              <a:ext uri="{FF2B5EF4-FFF2-40B4-BE49-F238E27FC236}">
                <a16:creationId xmlns:a16="http://schemas.microsoft.com/office/drawing/2014/main" id="{DCA58229-B1FA-4E93-95C2-C0F3BF121F9E}"/>
              </a:ext>
            </a:extLst>
          </p:cNvPr>
          <p:cNvSpPr>
            <a:spLocks xmlns:a="http://schemas.openxmlformats.org/drawingml/2006/main" noGrp="1"/>
          </p:cNvSpPr>
          <p:nvPr/>
        </p:nvSpPr>
        <p:spPr>
          <a:xfrm xmlns:a="http://schemas.openxmlformats.org/drawingml/2006/main">
            <a:off x="609600" y="26670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0">
                <a:solidFill>
                  <a:srgbClr val="147448"/>
                </a:solidFill>
                <a:latin typeface="Helvetica Neue"/>
                <a:ea typeface="Helvetica Neue"/>
                <a:cs typeface="Helvetica Neue"/>
              </a:defRPr>
            </a:defPPr>
          </a:lstStyle>
          <a:p xmlns:a="http://schemas.openxmlformats.org/drawingml/2006/main">
            <a:pPr>
              <a:defRPr sz="2700" b="0">
                <a:solidFill>
                  <a:srgbClr val="147448"/>
                </a:solidFill>
                <a:latin typeface="Helvetica Neue"/>
                <a:ea typeface="Helvetica Neue"/>
                <a:cs typeface="Helvetica Neue"/>
              </a:defRPr>
            </a:pPr>
            <a:r>
              <a:rPr sz="2700" b="0">
                <a:solidFill>
                  <a:srgbClr val="147448"/>
                </a:solidFill>
                <a:latin typeface="Helvetica Neue"/>
                <a:ea typeface="Helvetica Neue"/>
                <a:cs typeface="Helvetica Neue"/>
              </a:rPr>
              <a:t>Genre-specific strategies for Universal Music Group</a:t>
            </a:r>
          </a:p>
        </p:txBody>
      </p:sp>
      <p:sp>
        <p:nvSpPr>
          <p:cNvPr id="3" name="">
            <a:extLst xmlns:a="http://schemas.openxmlformats.org/drawingml/2006/main">
              <a:ext uri="{FF2B5EF4-FFF2-40B4-BE49-F238E27FC236}">
                <a16:creationId xmlns:a16="http://schemas.microsoft.com/office/drawing/2014/main" id="{E9084E5C-9F6C-4A42-B38B-317218A84CBE}"/>
              </a:ext>
            </a:extLst>
          </p:cNvPr>
          <p:cNvSpPr>
            <a:spLocks xmlns:a="http://schemas.openxmlformats.org/drawingml/2006/main" noGrp="1"/>
          </p:cNvSpPr>
          <p:nvPr/>
        </p:nvSpPr>
        <p:spPr>
          <a:xfrm xmlns:a="http://schemas.openxmlformats.org/drawingml/2006/main">
            <a:off x="609600" y="43053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82820"/>
                </a:solidFill>
                <a:latin typeface="Helvetica Neue"/>
                <a:ea typeface="Helvetica Neue"/>
                <a:cs typeface="Helvetica Neue"/>
              </a:defRPr>
            </a:defPPr>
          </a:lstStyle>
          <a:p xmlns:a="http://schemas.openxmlformats.org/drawingml/2006/main">
            <a:pPr>
              <a:defRPr sz="2175" b="0">
                <a:solidFill>
                  <a:srgbClr val="182820"/>
                </a:solidFill>
                <a:latin typeface="Helvetica Neue"/>
                <a:ea typeface="Helvetica Neue"/>
                <a:cs typeface="Helvetica Neue"/>
              </a:defRPr>
            </a:pPr>
            <a:r>
              <a:rPr sz="2175" b="0">
                <a:solidFill>
                  <a:srgbClr val="182820"/>
                </a:solidFill>
                <a:latin typeface="Helvetica Neue"/>
                <a:ea typeface="Helvetica Neue"/>
                <a:cs typeface="Helvetica Neue"/>
              </a:rPr>
              <a:t>BUAD 312 Midterm Project</a:t>
            </a:r>
          </a:p>
        </p:txBody>
      </p:sp>
      <p:sp>
        <p:nvSpPr>
          <p:cNvPr id="4" name="">
            <a:extLst xmlns:a="http://schemas.openxmlformats.org/drawingml/2006/main">
              <a:ext uri="{FF2B5EF4-FFF2-40B4-BE49-F238E27FC236}">
                <a16:creationId xmlns:a16="http://schemas.microsoft.com/office/drawing/2014/main" id="{9364658B-5415-44A6-9F59-3AD486A2F420}"/>
              </a:ext>
            </a:extLst>
          </p:cNvPr>
          <p:cNvSpPr>
            <a:spLocks xmlns:a="http://schemas.openxmlformats.org/drawingml/2006/main" noGrp="1"/>
          </p:cNvSpPr>
          <p:nvPr/>
        </p:nvSpPr>
        <p:spPr>
          <a:xfrm xmlns:a="http://schemas.openxmlformats.org/drawingml/2006/main">
            <a:off x="609600" y="490537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158"/>
                </a:solidFill>
                <a:latin typeface="Helvetica Neue"/>
                <a:ea typeface="Helvetica Neue"/>
                <a:cs typeface="Helvetica Neue"/>
              </a:defRPr>
            </a:defPPr>
          </a:lstStyle>
          <a:p xmlns:a="http://schemas.openxmlformats.org/drawingml/2006/main">
            <a:pPr>
              <a:defRPr sz="2175" b="0">
                <a:solidFill>
                  <a:srgbClr val="526158"/>
                </a:solidFill>
                <a:latin typeface="Helvetica Neue"/>
                <a:ea typeface="Helvetica Neue"/>
                <a:cs typeface="Helvetica Neue"/>
              </a:defRPr>
            </a:pPr>
            <a:r>
              <a:rPr sz="2175" b="0">
                <a:solidFill>
                  <a:srgbClr val="526158"/>
                </a:solidFill>
                <a:latin typeface="Helvetica Neue"/>
                <a:ea typeface="Helvetica Neue"/>
                <a:cs typeface="Helvetica Neue"/>
              </a:rPr>
              <a:t>Hip-Hop/Rap, Pop, and Latin</a:t>
            </a:r>
          </a:p>
        </p:txBody>
      </p:sp>
      <p:sp>
        <p:nvSpPr>
          <p:cNvPr id="5" name="">
            <a:extLst xmlns:a="http://schemas.openxmlformats.org/drawingml/2006/main">
              <a:ext uri="{FF2B5EF4-FFF2-40B4-BE49-F238E27FC236}">
                <a16:creationId xmlns:a16="http://schemas.microsoft.com/office/drawing/2014/main" id="{EB79EEAE-49A4-4319-BB29-D049F6627BBA}"/>
              </a:ext>
            </a:extLst>
          </p:cNvPr>
          <p:cNvSpPr>
            <a:spLocks xmlns:a="http://schemas.openxmlformats.org/drawingml/2006/main" noGrp="1"/>
          </p:cNvSpPr>
          <p:nvPr/>
        </p:nvSpPr>
        <p:spPr>
          <a:xfrm xmlns:a="http://schemas.openxmlformats.org/drawingml/2006/main">
            <a:off x="609600" y="6057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158"/>
                </a:solidFill>
                <a:latin typeface="Helvetica Neue"/>
                <a:ea typeface="Helvetica Neue"/>
                <a:cs typeface="Helvetica Neue"/>
              </a:defRPr>
            </a:defPPr>
          </a:lstStyle>
          <a:p xmlns:a="http://schemas.openxmlformats.org/drawingml/2006/main">
            <a:pPr>
              <a:defRPr sz="1575" b="0">
                <a:solidFill>
                  <a:srgbClr val="526158"/>
                </a:solidFill>
                <a:latin typeface="Helvetica Neue"/>
                <a:ea typeface="Helvetica Neue"/>
                <a:cs typeface="Helvetica Neue"/>
              </a:defRPr>
            </a:pPr>
            <a:r>
              <a:rPr sz="1575" b="0">
                <a:solidFill>
                  <a:srgbClr val="526158"/>
                </a:solidFill>
                <a:latin typeface="Helvetica Neue"/>
                <a:ea typeface="Helvetica Neue"/>
                <a:cs typeface="Helvetica Neue"/>
              </a:rPr>
              <a:t>Final Slides v1</a:t>
            </a:r>
          </a:p>
        </p:txBody>
      </p:sp>
    </p:spTree>
    <p:extLst>
      <p:ext uri="{BB962C8B-B14F-4D97-AF65-F5344CB8AC3E}">
        <p14:creationId xmlns:p14="http://schemas.microsoft.com/office/powerpoint/2010/main" val="11813794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8A4D847-1CB4-47FF-9544-E6898D2EB33E}"/>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2820"/>
                </a:solidFill>
                <a:latin typeface="Helvetica Neue"/>
                <a:ea typeface="Helvetica Neue"/>
                <a:cs typeface="Helvetica Neue"/>
              </a:defRPr>
            </a:defPPr>
          </a:lstStyle>
          <a:p xmlns:a="http://schemas.openxmlformats.org/drawingml/2006/main">
            <a:pPr>
              <a:defRPr sz="3300" b="1">
                <a:solidFill>
                  <a:srgbClr val="182820"/>
                </a:solidFill>
                <a:latin typeface="Helvetica Neue"/>
                <a:ea typeface="Helvetica Neue"/>
                <a:cs typeface="Helvetica Neue"/>
              </a:defRPr>
            </a:pPr>
            <a:r>
              <a:rPr sz="3300" b="1">
                <a:solidFill>
                  <a:srgbClr val="182820"/>
                </a:solidFill>
                <a:latin typeface="Helvetica Neue"/>
                <a:ea typeface="Helvetica Neue"/>
                <a:cs typeface="Helvetica Neue"/>
              </a:rPr>
              <a:t>Mission</a:t>
            </a:r>
          </a:p>
        </p:txBody>
      </p:sp>
      <p:sp>
        <p:nvSpPr>
          <p:cNvPr id="2" name="">
            <a:extLst xmlns:a="http://schemas.openxmlformats.org/drawingml/2006/main">
              <a:ext uri="{FF2B5EF4-FFF2-40B4-BE49-F238E27FC236}">
                <a16:creationId xmlns:a16="http://schemas.microsoft.com/office/drawing/2014/main" id="{79FF5145-5978-4D69-A4DE-0780B4E4E70F}"/>
              </a:ext>
            </a:extLst>
          </p:cNvPr>
          <p:cNvSpPr>
            <a:spLocks xmlns:a="http://schemas.openxmlformats.org/drawingml/2006/main" noGrp="1"/>
          </p:cNvSpPr>
          <p:nvPr/>
        </p:nvSpPr>
        <p:spPr>
          <a:xfrm xmlns:a="http://schemas.openxmlformats.org/drawingml/2006/main">
            <a:off x="1116330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158"/>
                </a:solidFill>
                <a:latin typeface="Helvetica Neue"/>
                <a:ea typeface="Helvetica Neue"/>
                <a:cs typeface="Helvetica Neue"/>
              </a:defRPr>
            </a:defPPr>
          </a:lstStyle>
          <a:p xmlns:a="http://schemas.openxmlformats.org/drawingml/2006/main">
            <a:pPr>
              <a:defRPr sz="1275" b="0">
                <a:solidFill>
                  <a:srgbClr val="526158"/>
                </a:solidFill>
                <a:latin typeface="Helvetica Neue"/>
                <a:ea typeface="Helvetica Neue"/>
                <a:cs typeface="Helvetica Neue"/>
              </a:defRPr>
            </a:pPr>
            <a:r>
              <a:rPr sz="1275" b="0">
                <a:solidFill>
                  <a:srgbClr val="526158"/>
                </a:solidFill>
                <a:latin typeface="Helvetica Neue"/>
                <a:ea typeface="Helvetica Neue"/>
                <a:cs typeface="Helvetica Neue"/>
              </a:rPr>
              <a:t>2</a:t>
            </a:r>
          </a:p>
        </p:txBody>
      </p:sp>
      <p:sp>
        <p:nvSpPr>
          <p:cNvPr id="3" name="">
            <a:extLst xmlns:a="http://schemas.openxmlformats.org/drawingml/2006/main">
              <a:ext uri="{FF2B5EF4-FFF2-40B4-BE49-F238E27FC236}">
                <a16:creationId xmlns:a16="http://schemas.microsoft.com/office/drawing/2014/main" id="{62C51E3B-BC73-4C3E-A526-33D9DD8E8AC8}"/>
              </a:ext>
            </a:extLst>
          </p:cNvPr>
          <p:cNvSpPr>
            <a:spLocks xmlns:a="http://schemas.openxmlformats.org/drawingml/2006/main" noGrp="1"/>
          </p:cNvSpPr>
          <p:nvPr/>
        </p:nvSpPr>
        <p:spPr>
          <a:xfrm xmlns:a="http://schemas.openxmlformats.org/drawingml/2006/main">
            <a:off x="609600" y="1609725"/>
            <a:ext cx="1066800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82820"/>
                </a:solidFill>
                <a:latin typeface="Helvetica Neue"/>
                <a:ea typeface="Helvetica Neue"/>
                <a:cs typeface="Helvetica Neue"/>
              </a:defRPr>
            </a:defPPr>
          </a:lstStyle>
          <a:p xmlns:a="http://schemas.openxmlformats.org/drawingml/2006/main">
            <a:pPr>
              <a:defRPr sz="3075" b="1">
                <a:solidFill>
                  <a:srgbClr val="182820"/>
                </a:solidFill>
                <a:latin typeface="Helvetica Neue"/>
                <a:ea typeface="Helvetica Neue"/>
                <a:cs typeface="Helvetica Neue"/>
              </a:defRPr>
            </a:pPr>
            <a:r>
              <a:rPr sz="3075" b="1">
                <a:solidFill>
                  <a:srgbClr val="182820"/>
                </a:solidFill>
                <a:latin typeface="Helvetica Neue"/>
                <a:ea typeface="Helvetica Neue"/>
                <a:cs typeface="Helvetica Neue"/>
              </a:rPr>
              <a:t>Recommend strategies UMG can test to increase digital streams and grow revenue from its music catalog.</a:t>
            </a:r>
          </a:p>
        </p:txBody>
      </p:sp>
      <p:sp>
        <p:nvSpPr>
          <p:cNvPr id="4" name="">
            <a:extLst xmlns:a="http://schemas.openxmlformats.org/drawingml/2006/main">
              <a:ext uri="{FF2B5EF4-FFF2-40B4-BE49-F238E27FC236}">
                <a16:creationId xmlns:a16="http://schemas.microsoft.com/office/drawing/2014/main" id="{48B19600-2401-4A8E-82B7-011DCFC03241}"/>
              </a:ext>
            </a:extLst>
          </p:cNvPr>
          <p:cNvSpPr>
            <a:spLocks xmlns:a="http://schemas.openxmlformats.org/drawingml/2006/main" noGrp="1"/>
          </p:cNvSpPr>
          <p:nvPr/>
        </p:nvSpPr>
        <p:spPr>
          <a:xfrm xmlns:a="http://schemas.openxmlformats.org/drawingml/2006/main">
            <a:off x="609600" y="3609975"/>
            <a:ext cx="381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100" b="1">
                <a:solidFill>
                  <a:srgbClr val="147448"/>
                </a:solidFill>
                <a:latin typeface="Helvetica Neue"/>
                <a:ea typeface="Helvetica Neue"/>
                <a:cs typeface="Helvetica Neue"/>
              </a:defRPr>
            </a:defPPr>
          </a:lstStyle>
          <a:p xmlns:a="http://schemas.openxmlformats.org/drawingml/2006/main">
            <a:pPr>
              <a:defRPr sz="5100" b="1">
                <a:solidFill>
                  <a:srgbClr val="147448"/>
                </a:solidFill>
                <a:latin typeface="Helvetica Neue"/>
                <a:ea typeface="Helvetica Neue"/>
                <a:cs typeface="Helvetica Neue"/>
              </a:defRPr>
            </a:pPr>
            <a:r>
              <a:rPr sz="5100" b="1">
                <a:solidFill>
                  <a:srgbClr val="147448"/>
                </a:solidFill>
                <a:latin typeface="Helvetica Neue"/>
                <a:ea typeface="Helvetica Neue"/>
                <a:cs typeface="Helvetica Neue"/>
              </a:rPr>
              <a:t>76%</a:t>
            </a:r>
          </a:p>
        </p:txBody>
      </p:sp>
      <p:sp>
        <p:nvSpPr>
          <p:cNvPr id="5" name="">
            <a:extLst xmlns:a="http://schemas.openxmlformats.org/drawingml/2006/main">
              <a:ext uri="{FF2B5EF4-FFF2-40B4-BE49-F238E27FC236}">
                <a16:creationId xmlns:a16="http://schemas.microsoft.com/office/drawing/2014/main" id="{AEA90229-BAF4-4D6C-98D2-AFC1DFCC2B24}"/>
              </a:ext>
            </a:extLst>
          </p:cNvPr>
          <p:cNvSpPr>
            <a:spLocks xmlns:a="http://schemas.openxmlformats.org/drawingml/2006/main" noGrp="1"/>
          </p:cNvSpPr>
          <p:nvPr/>
        </p:nvSpPr>
        <p:spPr>
          <a:xfrm xmlns:a="http://schemas.openxmlformats.org/drawingml/2006/main">
            <a:off x="609600" y="4533900"/>
            <a:ext cx="47053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82820"/>
                </a:solidFill>
                <a:latin typeface="Helvetica Neue"/>
                <a:ea typeface="Helvetica Neue"/>
                <a:cs typeface="Helvetica Neue"/>
              </a:defRPr>
            </a:defPPr>
          </a:lstStyle>
          <a:p xmlns:a="http://schemas.openxmlformats.org/drawingml/2006/main">
            <a:pPr>
              <a:defRPr sz="2100" b="0">
                <a:solidFill>
                  <a:srgbClr val="182820"/>
                </a:solidFill>
                <a:latin typeface="Helvetica Neue"/>
                <a:ea typeface="Helvetica Neue"/>
                <a:cs typeface="Helvetica Neue"/>
              </a:defRPr>
            </a:pPr>
            <a:r>
              <a:rPr sz="2100" b="0">
                <a:solidFill>
                  <a:srgbClr val="182820"/>
                </a:solidFill>
                <a:latin typeface="Helvetica Neue"/>
                <a:ea typeface="Helvetica Neue"/>
                <a:cs typeface="Helvetica Neue"/>
              </a:rPr>
              <a:t>of UMG revenue came from</a:t>
            </a:r>
          </a:p>
          <a:p xmlns:a="http://schemas.openxmlformats.org/drawingml/2006/main">
            <a:pPr>
              <a:defRPr sz="2100" b="0">
                <a:solidFill>
                  <a:srgbClr val="182820"/>
                </a:solidFill>
                <a:latin typeface="Helvetica Neue"/>
                <a:ea typeface="Helvetica Neue"/>
                <a:cs typeface="Helvetica Neue"/>
              </a:defRPr>
            </a:pPr>
            <a:r>
              <a:rPr sz="2100" b="0">
                <a:solidFill>
                  <a:srgbClr val="182820"/>
                </a:solidFill>
                <a:latin typeface="Helvetica Neue"/>
                <a:ea typeface="Helvetica Neue"/>
                <a:cs typeface="Helvetica Neue"/>
              </a:rPr>
              <a:t>recorded music in 2025</a:t>
            </a:r>
          </a:p>
        </p:txBody>
      </p:sp>
      <p:sp>
        <p:nvSpPr>
          <p:cNvPr id="6" name="">
            <a:extLst xmlns:a="http://schemas.openxmlformats.org/drawingml/2006/main">
              <a:ext uri="{FF2B5EF4-FFF2-40B4-BE49-F238E27FC236}">
                <a16:creationId xmlns:a16="http://schemas.microsoft.com/office/drawing/2014/main" id="{0F525355-5D10-40E6-80A4-D3B58F40E659}"/>
              </a:ext>
            </a:extLst>
          </p:cNvPr>
          <p:cNvSpPr>
            <a:spLocks xmlns:a="http://schemas.openxmlformats.org/drawingml/2006/main" noGrp="1"/>
          </p:cNvSpPr>
          <p:nvPr/>
        </p:nvSpPr>
        <p:spPr>
          <a:xfrm xmlns:a="http://schemas.openxmlformats.org/drawingml/2006/main">
            <a:off x="6381750" y="3609975"/>
            <a:ext cx="381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100" b="1">
                <a:solidFill>
                  <a:srgbClr val="147448"/>
                </a:solidFill>
                <a:latin typeface="Helvetica Neue"/>
                <a:ea typeface="Helvetica Neue"/>
                <a:cs typeface="Helvetica Neue"/>
              </a:defRPr>
            </a:defPPr>
          </a:lstStyle>
          <a:p xmlns:a="http://schemas.openxmlformats.org/drawingml/2006/main">
            <a:pPr>
              <a:defRPr sz="5100" b="1">
                <a:solidFill>
                  <a:srgbClr val="147448"/>
                </a:solidFill>
                <a:latin typeface="Helvetica Neue"/>
                <a:ea typeface="Helvetica Neue"/>
                <a:cs typeface="Helvetica Neue"/>
              </a:defRPr>
            </a:pPr>
            <a:r>
              <a:rPr sz="5100" b="1">
                <a:solidFill>
                  <a:srgbClr val="147448"/>
                </a:solidFill>
                <a:latin typeface="Helvetica Neue"/>
                <a:ea typeface="Helvetica Neue"/>
                <a:cs typeface="Helvetica Neue"/>
              </a:rPr>
              <a:t>67%</a:t>
            </a:r>
          </a:p>
        </p:txBody>
      </p:sp>
      <p:sp>
        <p:nvSpPr>
          <p:cNvPr id="7" name="">
            <a:extLst xmlns:a="http://schemas.openxmlformats.org/drawingml/2006/main">
              <a:ext uri="{FF2B5EF4-FFF2-40B4-BE49-F238E27FC236}">
                <a16:creationId xmlns:a16="http://schemas.microsoft.com/office/drawing/2014/main" id="{9D0BFBAE-7502-4DDC-B5C4-0418EDC91262}"/>
              </a:ext>
            </a:extLst>
          </p:cNvPr>
          <p:cNvSpPr>
            <a:spLocks xmlns:a="http://schemas.openxmlformats.org/drawingml/2006/main" noGrp="1"/>
          </p:cNvSpPr>
          <p:nvPr/>
        </p:nvSpPr>
        <p:spPr>
          <a:xfrm xmlns:a="http://schemas.openxmlformats.org/drawingml/2006/main">
            <a:off x="6381750" y="4533900"/>
            <a:ext cx="50958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82820"/>
                </a:solidFill>
                <a:latin typeface="Helvetica Neue"/>
                <a:ea typeface="Helvetica Neue"/>
                <a:cs typeface="Helvetica Neue"/>
              </a:defRPr>
            </a:defPPr>
          </a:lstStyle>
          <a:p xmlns:a="http://schemas.openxmlformats.org/drawingml/2006/main">
            <a:pPr>
              <a:defRPr sz="2100" b="0">
                <a:solidFill>
                  <a:srgbClr val="182820"/>
                </a:solidFill>
                <a:latin typeface="Helvetica Neue"/>
                <a:ea typeface="Helvetica Neue"/>
                <a:cs typeface="Helvetica Neue"/>
              </a:defRPr>
            </a:pPr>
            <a:r>
              <a:rPr sz="2100" b="0">
                <a:solidFill>
                  <a:srgbClr val="182820"/>
                </a:solidFill>
                <a:latin typeface="Helvetica Neue"/>
                <a:ea typeface="Helvetica Neue"/>
                <a:cs typeface="Helvetica Neue"/>
              </a:rPr>
              <a:t>of recorded music revenue came</a:t>
            </a:r>
          </a:p>
          <a:p xmlns:a="http://schemas.openxmlformats.org/drawingml/2006/main">
            <a:pPr>
              <a:defRPr sz="2100" b="0">
                <a:solidFill>
                  <a:srgbClr val="182820"/>
                </a:solidFill>
                <a:latin typeface="Helvetica Neue"/>
                <a:ea typeface="Helvetica Neue"/>
                <a:cs typeface="Helvetica Neue"/>
              </a:defRPr>
            </a:pPr>
            <a:r>
              <a:rPr sz="2100" b="0">
                <a:solidFill>
                  <a:srgbClr val="182820"/>
                </a:solidFill>
                <a:latin typeface="Helvetica Neue"/>
                <a:ea typeface="Helvetica Neue"/>
                <a:cs typeface="Helvetica Neue"/>
              </a:rPr>
              <a:t>from subscriptions and streaming</a:t>
            </a:r>
          </a:p>
        </p:txBody>
      </p:sp>
      <p:sp>
        <p:nvSpPr>
          <p:cNvPr id="8" name="">
            <a:extLst xmlns:a="http://schemas.openxmlformats.org/drawingml/2006/main">
              <a:ext uri="{FF2B5EF4-FFF2-40B4-BE49-F238E27FC236}">
                <a16:creationId xmlns:a16="http://schemas.microsoft.com/office/drawing/2014/main" id="{10F98CCC-7FFF-4B22-AEDF-21439E0935D6}"/>
              </a:ext>
            </a:extLst>
          </p:cNvPr>
          <p:cNvSpPr>
            <a:spLocks xmlns:a="http://schemas.openxmlformats.org/drawingml/2006/main" noGrp="1"/>
          </p:cNvSpPr>
          <p:nvPr/>
        </p:nvSpPr>
        <p:spPr>
          <a:xfrm xmlns:a="http://schemas.openxmlformats.org/drawingml/2006/main">
            <a:off x="609600" y="5934075"/>
            <a:ext cx="1090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158"/>
                </a:solidFill>
                <a:latin typeface="Helvetica Neue"/>
                <a:ea typeface="Helvetica Neue"/>
                <a:cs typeface="Helvetica Neue"/>
              </a:defRPr>
            </a:defPPr>
          </a:lstStyle>
          <a:p xmlns:a="http://schemas.openxmlformats.org/drawingml/2006/main">
            <a:pPr>
              <a:defRPr sz="1575" b="0">
                <a:solidFill>
                  <a:srgbClr val="526158"/>
                </a:solidFill>
                <a:latin typeface="Helvetica Neue"/>
                <a:ea typeface="Helvetica Neue"/>
                <a:cs typeface="Helvetica Neue"/>
              </a:defRPr>
            </a:pPr>
            <a:r>
              <a:rPr sz="1575" b="0">
                <a:solidFill>
                  <a:srgbClr val="526158"/>
                </a:solidFill>
                <a:latin typeface="Helvetica Neue"/>
                <a:ea typeface="Helvetica Neue"/>
                <a:cs typeface="Helvetica Neue"/>
              </a:rPr>
              <a:t>Streaming growth is central to the business. Royalty income also depends on streamshare and contracts.</a:t>
            </a:r>
          </a:p>
        </p:txBody>
      </p:sp>
    </p:spTree>
    <p:extLst>
      <p:ext uri="{BB962C8B-B14F-4D97-AF65-F5344CB8AC3E}">
        <p14:creationId xmlns:p14="http://schemas.microsoft.com/office/powerpoint/2010/main" val="18022424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9B7FC46-2EFE-4C42-AB69-0D2F053E7E45}"/>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2820"/>
                </a:solidFill>
                <a:latin typeface="Helvetica Neue"/>
                <a:ea typeface="Helvetica Neue"/>
                <a:cs typeface="Helvetica Neue"/>
              </a:defRPr>
            </a:defPPr>
          </a:lstStyle>
          <a:p xmlns:a="http://schemas.openxmlformats.org/drawingml/2006/main">
            <a:pPr>
              <a:defRPr sz="3300" b="1">
                <a:solidFill>
                  <a:srgbClr val="182820"/>
                </a:solidFill>
                <a:latin typeface="Helvetica Neue"/>
                <a:ea typeface="Helvetica Neue"/>
                <a:cs typeface="Helvetica Neue"/>
              </a:defRPr>
            </a:pPr>
            <a:r>
              <a:rPr sz="3300" b="1">
                <a:solidFill>
                  <a:srgbClr val="182820"/>
                </a:solidFill>
                <a:latin typeface="Helvetica Neue"/>
                <a:ea typeface="Helvetica Neue"/>
                <a:cs typeface="Helvetica Neue"/>
              </a:rPr>
              <a:t>Evaluation metrics and goals</a:t>
            </a:r>
          </a:p>
        </p:txBody>
      </p:sp>
      <p:sp>
        <p:nvSpPr>
          <p:cNvPr id="2" name="">
            <a:extLst xmlns:a="http://schemas.openxmlformats.org/drawingml/2006/main">
              <a:ext uri="{FF2B5EF4-FFF2-40B4-BE49-F238E27FC236}">
                <a16:creationId xmlns:a16="http://schemas.microsoft.com/office/drawing/2014/main" id="{B32043E0-ED90-4DC6-BC83-6F470CED6447}"/>
              </a:ext>
            </a:extLst>
          </p:cNvPr>
          <p:cNvSpPr>
            <a:spLocks xmlns:a="http://schemas.openxmlformats.org/drawingml/2006/main" noGrp="1"/>
          </p:cNvSpPr>
          <p:nvPr/>
        </p:nvSpPr>
        <p:spPr>
          <a:xfrm xmlns:a="http://schemas.openxmlformats.org/drawingml/2006/main">
            <a:off x="1116330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158"/>
                </a:solidFill>
                <a:latin typeface="Helvetica Neue"/>
                <a:ea typeface="Helvetica Neue"/>
                <a:cs typeface="Helvetica Neue"/>
              </a:defRPr>
            </a:defPPr>
          </a:lstStyle>
          <a:p xmlns:a="http://schemas.openxmlformats.org/drawingml/2006/main">
            <a:pPr>
              <a:defRPr sz="1275" b="0">
                <a:solidFill>
                  <a:srgbClr val="526158"/>
                </a:solidFill>
                <a:latin typeface="Helvetica Neue"/>
                <a:ea typeface="Helvetica Neue"/>
                <a:cs typeface="Helvetica Neue"/>
              </a:defRPr>
            </a:pPr>
            <a:r>
              <a:rPr sz="1275" b="0">
                <a:solidFill>
                  <a:srgbClr val="526158"/>
                </a:solidFill>
                <a:latin typeface="Helvetica Neue"/>
                <a:ea typeface="Helvetica Neue"/>
                <a:cs typeface="Helvetica Neue"/>
              </a:rPr>
              <a:t>3</a:t>
            </a:r>
          </a:p>
        </p:txBody>
      </p:sp>
      <p:sp>
        <p:nvSpPr>
          <p:cNvPr id="3" name="">
            <a:extLst xmlns:a="http://schemas.openxmlformats.org/drawingml/2006/main">
              <a:ext uri="{FF2B5EF4-FFF2-40B4-BE49-F238E27FC236}">
                <a16:creationId xmlns:a16="http://schemas.microsoft.com/office/drawing/2014/main" id="{5889749F-06F6-4C93-B59C-821028798F16}"/>
              </a:ext>
            </a:extLst>
          </p:cNvPr>
          <p:cNvSpPr>
            <a:spLocks xmlns:a="http://schemas.openxmlformats.org/drawingml/2006/main" noGrp="1"/>
          </p:cNvSpPr>
          <p:nvPr/>
        </p:nvSpPr>
        <p:spPr>
          <a:xfrm xmlns:a="http://schemas.openxmlformats.org/drawingml/2006/main">
            <a:off x="609600" y="1657350"/>
            <a:ext cx="500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47448"/>
                </a:solidFill>
                <a:latin typeface="Helvetica Neue"/>
                <a:ea typeface="Helvetica Neue"/>
                <a:cs typeface="Helvetica Neue"/>
              </a:defRPr>
            </a:defPPr>
          </a:lstStyle>
          <a:p xmlns:a="http://schemas.openxmlformats.org/drawingml/2006/main">
            <a:pPr>
              <a:defRPr sz="2325" b="1">
                <a:solidFill>
                  <a:srgbClr val="147448"/>
                </a:solidFill>
                <a:latin typeface="Helvetica Neue"/>
                <a:ea typeface="Helvetica Neue"/>
                <a:cs typeface="Helvetica Neue"/>
              </a:defRPr>
            </a:pPr>
            <a:r>
              <a:rPr sz="2325" b="1">
                <a:solidFill>
                  <a:srgbClr val="147448"/>
                </a:solidFill>
                <a:latin typeface="Helvetica Neue"/>
                <a:ea typeface="Helvetica Neue"/>
                <a:cs typeface="Helvetica Neue"/>
              </a:rPr>
              <a:t>Evidence from the analysis</a:t>
            </a:r>
          </a:p>
        </p:txBody>
      </p:sp>
      <p:sp>
        <p:nvSpPr>
          <p:cNvPr id="4" name="">
            <a:extLst xmlns:a="http://schemas.openxmlformats.org/drawingml/2006/main">
              <a:ext uri="{FF2B5EF4-FFF2-40B4-BE49-F238E27FC236}">
                <a16:creationId xmlns:a16="http://schemas.microsoft.com/office/drawing/2014/main" id="{C076D060-3F9E-48E7-950F-B428E3221CBA}"/>
              </a:ext>
            </a:extLst>
          </p:cNvPr>
          <p:cNvSpPr>
            <a:spLocks xmlns:a="http://schemas.openxmlformats.org/drawingml/2006/main" noGrp="1"/>
          </p:cNvSpPr>
          <p:nvPr/>
        </p:nvSpPr>
        <p:spPr>
          <a:xfrm xmlns:a="http://schemas.openxmlformats.org/drawingml/2006/main">
            <a:off x="609600" y="2333625"/>
            <a:ext cx="49530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82820"/>
                </a:solidFill>
                <a:latin typeface="Helvetica Neue"/>
                <a:ea typeface="Helvetica Neue"/>
                <a:cs typeface="Helvetica Neue"/>
              </a:defRPr>
            </a:defPPr>
          </a:lstStyle>
          <a:p xmlns:a="http://schemas.openxmlformats.org/drawingml/2006/main">
            <a:pPr marL="266700" indent="-127000">
              <a:spcAft>
                <a:spcPts val="1700"/>
              </a:spcAft>
              <a:buChar char="•"/>
              <a:defRPr sz="2175" b="0">
                <a:solidFill>
                  <a:srgbClr val="182820"/>
                </a:solidFill>
                <a:latin typeface="Helvetica Neue"/>
                <a:ea typeface="Helvetica Neue"/>
                <a:cs typeface="Helvetica Neue"/>
              </a:defRPr>
            </a:pPr>
            <a:r>
              <a:rPr sz="2175" b="0">
                <a:solidFill>
                  <a:srgbClr val="182820"/>
                </a:solidFill>
                <a:latin typeface="Helvetica Neue"/>
                <a:ea typeface="Helvetica Neue"/>
                <a:cs typeface="Helvetica Neue"/>
              </a:rPr>
              <a:t>Estimated percentage differences</a:t>
            </a:r>
          </a:p>
          <a:p xmlns:a="http://schemas.openxmlformats.org/drawingml/2006/main">
            <a:pPr marL="266700" indent="-127000">
              <a:spcAft>
                <a:spcPts val="1700"/>
              </a:spcAft>
              <a:buChar char="•"/>
              <a:defRPr sz="2175" b="0">
                <a:solidFill>
                  <a:srgbClr val="182820"/>
                </a:solidFill>
                <a:latin typeface="Helvetica Neue"/>
                <a:ea typeface="Helvetica Neue"/>
                <a:cs typeface="Helvetica Neue"/>
              </a:defRPr>
            </a:pPr>
            <a:r>
              <a:rPr sz="2175" b="0">
                <a:solidFill>
                  <a:srgbClr val="182820"/>
                </a:solidFill>
                <a:latin typeface="Helvetica Neue"/>
                <a:ea typeface="Helvetica Neue"/>
                <a:cs typeface="Helvetica Neue"/>
              </a:rPr>
              <a:t>95% confidence intervals</a:t>
            </a:r>
          </a:p>
          <a:p xmlns:a="http://schemas.openxmlformats.org/drawingml/2006/main">
            <a:pPr marL="266700" indent="-127000">
              <a:spcAft>
                <a:spcPts val="1700"/>
              </a:spcAft>
              <a:buChar char="•"/>
              <a:defRPr sz="2175" b="0">
                <a:solidFill>
                  <a:srgbClr val="182820"/>
                </a:solidFill>
                <a:latin typeface="Helvetica Neue"/>
                <a:ea typeface="Helvetica Neue"/>
                <a:cs typeface="Helvetica Neue"/>
              </a:defRPr>
            </a:pPr>
            <a:r>
              <a:rPr sz="2175" b="0">
                <a:solidFill>
                  <a:srgbClr val="182820"/>
                </a:solidFill>
                <a:latin typeface="Helvetica Neue"/>
                <a:ea typeface="Helvetica Neue"/>
                <a:cs typeface="Helvetica Neue"/>
              </a:rPr>
              <a:t>Held-out R² for prediction</a:t>
            </a:r>
          </a:p>
        </p:txBody>
      </p:sp>
      <p:sp>
        <p:nvSpPr>
          <p:cNvPr id="5" name="">
            <a:extLst xmlns:a="http://schemas.openxmlformats.org/drawingml/2006/main">
              <a:ext uri="{FF2B5EF4-FFF2-40B4-BE49-F238E27FC236}">
                <a16:creationId xmlns:a16="http://schemas.microsoft.com/office/drawing/2014/main" id="{82E19BD9-1CD8-4A87-A157-EF17969751AC}"/>
              </a:ext>
            </a:extLst>
          </p:cNvPr>
          <p:cNvSpPr>
            <a:spLocks xmlns:a="http://schemas.openxmlformats.org/drawingml/2006/main" noGrp="1"/>
          </p:cNvSpPr>
          <p:nvPr/>
        </p:nvSpPr>
        <p:spPr>
          <a:xfrm xmlns:a="http://schemas.openxmlformats.org/drawingml/2006/main">
            <a:off x="6419850" y="1657350"/>
            <a:ext cx="500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47448"/>
                </a:solidFill>
                <a:latin typeface="Helvetica Neue"/>
                <a:ea typeface="Helvetica Neue"/>
                <a:cs typeface="Helvetica Neue"/>
              </a:defRPr>
            </a:defPPr>
          </a:lstStyle>
          <a:p xmlns:a="http://schemas.openxmlformats.org/drawingml/2006/main">
            <a:pPr>
              <a:defRPr sz="2325" b="1">
                <a:solidFill>
                  <a:srgbClr val="147448"/>
                </a:solidFill>
                <a:latin typeface="Helvetica Neue"/>
                <a:ea typeface="Helvetica Neue"/>
                <a:cs typeface="Helvetica Neue"/>
              </a:defRPr>
            </a:pPr>
            <a:r>
              <a:rPr sz="2325" b="1">
                <a:solidFill>
                  <a:srgbClr val="147448"/>
                </a:solidFill>
                <a:latin typeface="Helvetica Neue"/>
                <a:ea typeface="Helvetica Neue"/>
                <a:cs typeface="Helvetica Neue"/>
              </a:rPr>
              <a:t>Success in a pilot</a:t>
            </a:r>
          </a:p>
        </p:txBody>
      </p:sp>
      <p:sp>
        <p:nvSpPr>
          <p:cNvPr id="6" name="">
            <a:extLst xmlns:a="http://schemas.openxmlformats.org/drawingml/2006/main">
              <a:ext uri="{FF2B5EF4-FFF2-40B4-BE49-F238E27FC236}">
                <a16:creationId xmlns:a16="http://schemas.microsoft.com/office/drawing/2014/main" id="{DE827B2A-A6F2-44B4-BF5D-074674A1F3D6}"/>
              </a:ext>
            </a:extLst>
          </p:cNvPr>
          <p:cNvSpPr>
            <a:spLocks xmlns:a="http://schemas.openxmlformats.org/drawingml/2006/main" noGrp="1"/>
          </p:cNvSpPr>
          <p:nvPr/>
        </p:nvSpPr>
        <p:spPr>
          <a:xfrm xmlns:a="http://schemas.openxmlformats.org/drawingml/2006/main">
            <a:off x="6419850" y="2343150"/>
            <a:ext cx="4191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250" b="1">
                <a:solidFill>
                  <a:srgbClr val="147448"/>
                </a:solidFill>
                <a:latin typeface="Helvetica Neue"/>
                <a:ea typeface="Helvetica Neue"/>
                <a:cs typeface="Helvetica Neue"/>
              </a:defRPr>
            </a:defPPr>
          </a:lstStyle>
          <a:p xmlns:a="http://schemas.openxmlformats.org/drawingml/2006/main">
            <a:pPr>
              <a:defRPr sz="5250" b="1">
                <a:solidFill>
                  <a:srgbClr val="147448"/>
                </a:solidFill>
                <a:latin typeface="Helvetica Neue"/>
                <a:ea typeface="Helvetica Neue"/>
                <a:cs typeface="Helvetica Neue"/>
              </a:defRPr>
            </a:pPr>
            <a:r>
              <a:rPr sz="5250" b="1">
                <a:solidFill>
                  <a:srgbClr val="147448"/>
                </a:solidFill>
                <a:latin typeface="Helvetica Neue"/>
                <a:ea typeface="Helvetica Neue"/>
                <a:cs typeface="Helvetica Neue"/>
              </a:rPr>
              <a:t>10%</a:t>
            </a:r>
          </a:p>
        </p:txBody>
      </p:sp>
      <p:sp>
        <p:nvSpPr>
          <p:cNvPr id="7" name="">
            <a:extLst xmlns:a="http://schemas.openxmlformats.org/drawingml/2006/main">
              <a:ext uri="{FF2B5EF4-FFF2-40B4-BE49-F238E27FC236}">
                <a16:creationId xmlns:a16="http://schemas.microsoft.com/office/drawing/2014/main" id="{986184A4-1D4D-4042-876F-38FB2D4B73F7}"/>
              </a:ext>
            </a:extLst>
          </p:cNvPr>
          <p:cNvSpPr>
            <a:spLocks xmlns:a="http://schemas.openxmlformats.org/drawingml/2006/main" noGrp="1"/>
          </p:cNvSpPr>
          <p:nvPr/>
        </p:nvSpPr>
        <p:spPr>
          <a:xfrm xmlns:a="http://schemas.openxmlformats.org/drawingml/2006/main">
            <a:off x="6419850" y="3333750"/>
            <a:ext cx="50482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82820"/>
                </a:solidFill>
                <a:latin typeface="Helvetica Neue"/>
                <a:ea typeface="Helvetica Neue"/>
                <a:cs typeface="Helvetica Neue"/>
              </a:defRPr>
            </a:defPPr>
          </a:lstStyle>
          <a:p xmlns:a="http://schemas.openxmlformats.org/drawingml/2006/main">
            <a:pPr>
              <a:defRPr sz="2175" b="0">
                <a:solidFill>
                  <a:srgbClr val="182820"/>
                </a:solidFill>
                <a:latin typeface="Helvetica Neue"/>
                <a:ea typeface="Helvetica Neue"/>
                <a:cs typeface="Helvetica Neue"/>
              </a:defRPr>
            </a:pPr>
            <a:r>
              <a:rPr sz="2175" b="0">
                <a:solidFill>
                  <a:srgbClr val="182820"/>
                </a:solidFill>
                <a:latin typeface="Helvetica Neue"/>
                <a:ea typeface="Helvetica Neue"/>
                <a:cs typeface="Helvetica Neue"/>
              </a:rPr>
              <a:t>more streams per promotional dollar</a:t>
            </a:r>
          </a:p>
          <a:p xmlns:a="http://schemas.openxmlformats.org/drawingml/2006/main">
            <a:pPr>
              <a:defRPr sz="2175" b="0">
                <a:solidFill>
                  <a:srgbClr val="182820"/>
                </a:solidFill>
                <a:latin typeface="Helvetica Neue"/>
                <a:ea typeface="Helvetica Neue"/>
                <a:cs typeface="Helvetica Neue"/>
              </a:defRPr>
            </a:pPr>
            <a:r>
              <a:rPr sz="2175" b="0">
                <a:solidFill>
                  <a:srgbClr val="182820"/>
                </a:solidFill>
                <a:latin typeface="Helvetica Neue"/>
                <a:ea typeface="Helvetica Neue"/>
                <a:cs typeface="Helvetica Neue"/>
              </a:rPr>
              <a:t>than a comparable control</a:t>
            </a:r>
          </a:p>
        </p:txBody>
      </p:sp>
      <p:sp>
        <p:nvSpPr>
          <p:cNvPr id="8" name="">
            <a:extLst xmlns:a="http://schemas.openxmlformats.org/drawingml/2006/main">
              <a:ext uri="{FF2B5EF4-FFF2-40B4-BE49-F238E27FC236}">
                <a16:creationId xmlns:a16="http://schemas.microsoft.com/office/drawing/2014/main" id="{BE1928C4-996C-4479-AF61-3723E63DAF9A}"/>
              </a:ext>
            </a:extLst>
          </p:cNvPr>
          <p:cNvSpPr>
            <a:spLocks xmlns:a="http://schemas.openxmlformats.org/drawingml/2006/main" noGrp="1"/>
          </p:cNvSpPr>
          <p:nvPr/>
        </p:nvSpPr>
        <p:spPr>
          <a:xfrm xmlns:a="http://schemas.openxmlformats.org/drawingml/2006/main">
            <a:off x="6419850" y="4552950"/>
            <a:ext cx="5048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82820"/>
                </a:solidFill>
                <a:latin typeface="Helvetica Neue"/>
                <a:ea typeface="Helvetica Neue"/>
                <a:cs typeface="Helvetica Neue"/>
              </a:defRPr>
            </a:defPPr>
          </a:lstStyle>
          <a:p xmlns:a="http://schemas.openxmlformats.org/drawingml/2006/main">
            <a:pPr>
              <a:defRPr sz="2100" b="0">
                <a:solidFill>
                  <a:srgbClr val="182820"/>
                </a:solidFill>
                <a:latin typeface="Helvetica Neue"/>
                <a:ea typeface="Helvetica Neue"/>
                <a:cs typeface="Helvetica Neue"/>
              </a:defRPr>
            </a:pPr>
            <a:r>
              <a:rPr sz="2100" b="0">
                <a:solidFill>
                  <a:srgbClr val="182820"/>
                </a:solidFill>
                <a:latin typeface="Helvetica Neue"/>
                <a:ea typeface="Helvetica Neue"/>
                <a:cs typeface="Helvetica Neue"/>
              </a:rPr>
              <a:t>Additional royalties exceed</a:t>
            </a:r>
          </a:p>
          <a:p xmlns:a="http://schemas.openxmlformats.org/drawingml/2006/main">
            <a:pPr>
              <a:defRPr sz="2100" b="0">
                <a:solidFill>
                  <a:srgbClr val="182820"/>
                </a:solidFill>
                <a:latin typeface="Helvetica Neue"/>
                <a:ea typeface="Helvetica Neue"/>
                <a:cs typeface="Helvetica Neue"/>
              </a:defRPr>
            </a:pPr>
            <a:r>
              <a:rPr sz="2100" b="0">
                <a:solidFill>
                  <a:srgbClr val="182820"/>
                </a:solidFill>
                <a:latin typeface="Helvetica Neue"/>
                <a:ea typeface="Helvetica Neue"/>
                <a:cs typeface="Helvetica Neue"/>
              </a:rPr>
              <a:t>additional campaign costs.</a:t>
            </a:r>
          </a:p>
        </p:txBody>
      </p:sp>
      <p:sp>
        <p:nvSpPr>
          <p:cNvPr id="9" name="">
            <a:extLst xmlns:a="http://schemas.openxmlformats.org/drawingml/2006/main">
              <a:ext uri="{FF2B5EF4-FFF2-40B4-BE49-F238E27FC236}">
                <a16:creationId xmlns:a16="http://schemas.microsoft.com/office/drawing/2014/main" id="{BDC230A6-4B33-4F93-8F87-6D5D7E71AB51}"/>
              </a:ext>
            </a:extLst>
          </p:cNvPr>
          <p:cNvSpPr>
            <a:spLocks xmlns:a="http://schemas.openxmlformats.org/drawingml/2006/main" noGrp="1"/>
          </p:cNvSpPr>
          <p:nvPr/>
        </p:nvSpPr>
        <p:spPr>
          <a:xfrm xmlns:a="http://schemas.openxmlformats.org/drawingml/2006/main">
            <a:off x="609600" y="5934075"/>
            <a:ext cx="1090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158"/>
                </a:solidFill>
                <a:latin typeface="Helvetica Neue"/>
                <a:ea typeface="Helvetica Neue"/>
                <a:cs typeface="Helvetica Neue"/>
              </a:defRPr>
            </a:defPPr>
          </a:lstStyle>
          <a:p xmlns:a="http://schemas.openxmlformats.org/drawingml/2006/main">
            <a:pPr>
              <a:defRPr sz="1575" b="0">
                <a:solidFill>
                  <a:srgbClr val="526158"/>
                </a:solidFill>
                <a:latin typeface="Helvetica Neue"/>
                <a:ea typeface="Helvetica Neue"/>
                <a:cs typeface="Helvetica Neue"/>
              </a:defRPr>
            </a:pPr>
            <a:r>
              <a:rPr sz="1575" b="0">
                <a:solidFill>
                  <a:srgbClr val="526158"/>
                </a:solidFill>
                <a:latin typeface="Helvetica Neue"/>
                <a:ea typeface="Helvetica Neue"/>
                <a:cs typeface="Helvetica Neue"/>
              </a:rPr>
              <a:t>The 10% benchmark is a proposed business goal. Our models do not guarantee it.</a:t>
            </a:r>
          </a:p>
        </p:txBody>
      </p:sp>
    </p:spTree>
    <p:extLst>
      <p:ext uri="{BB962C8B-B14F-4D97-AF65-F5344CB8AC3E}">
        <p14:creationId xmlns:p14="http://schemas.microsoft.com/office/powerpoint/2010/main" val="16037408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2D05618-11E0-4AE9-98AA-B583FCA8FEA3}"/>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2820"/>
                </a:solidFill>
                <a:latin typeface="Helvetica Neue"/>
                <a:ea typeface="Helvetica Neue"/>
                <a:cs typeface="Helvetica Neue"/>
              </a:defRPr>
            </a:defPPr>
          </a:lstStyle>
          <a:p xmlns:a="http://schemas.openxmlformats.org/drawingml/2006/main">
            <a:pPr>
              <a:defRPr sz="3300" b="1">
                <a:solidFill>
                  <a:srgbClr val="182820"/>
                </a:solidFill>
                <a:latin typeface="Helvetica Neue"/>
                <a:ea typeface="Helvetica Neue"/>
                <a:cs typeface="Helvetica Neue"/>
              </a:defRPr>
            </a:pPr>
            <a:r>
              <a:rPr sz="3300" b="1">
                <a:solidFill>
                  <a:srgbClr val="182820"/>
                </a:solidFill>
                <a:latin typeface="Helvetica Neue"/>
                <a:ea typeface="Helvetica Neue"/>
                <a:cs typeface="Helvetica Neue"/>
              </a:rPr>
              <a:t>Data cleaning and outliers</a:t>
            </a:r>
          </a:p>
        </p:txBody>
      </p:sp>
      <p:sp>
        <p:nvSpPr>
          <p:cNvPr id="2" name="">
            <a:extLst xmlns:a="http://schemas.openxmlformats.org/drawingml/2006/main">
              <a:ext uri="{FF2B5EF4-FFF2-40B4-BE49-F238E27FC236}">
                <a16:creationId xmlns:a16="http://schemas.microsoft.com/office/drawing/2014/main" id="{32BF86BC-7801-49DD-A2FF-1D748EB6D92E}"/>
              </a:ext>
            </a:extLst>
          </p:cNvPr>
          <p:cNvSpPr>
            <a:spLocks xmlns:a="http://schemas.openxmlformats.org/drawingml/2006/main" noGrp="1"/>
          </p:cNvSpPr>
          <p:nvPr/>
        </p:nvSpPr>
        <p:spPr>
          <a:xfrm xmlns:a="http://schemas.openxmlformats.org/drawingml/2006/main">
            <a:off x="1116330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158"/>
                </a:solidFill>
                <a:latin typeface="Helvetica Neue"/>
                <a:ea typeface="Helvetica Neue"/>
                <a:cs typeface="Helvetica Neue"/>
              </a:defRPr>
            </a:defPPr>
          </a:lstStyle>
          <a:p xmlns:a="http://schemas.openxmlformats.org/drawingml/2006/main">
            <a:pPr>
              <a:defRPr sz="1275" b="0">
                <a:solidFill>
                  <a:srgbClr val="526158"/>
                </a:solidFill>
                <a:latin typeface="Helvetica Neue"/>
                <a:ea typeface="Helvetica Neue"/>
                <a:cs typeface="Helvetica Neue"/>
              </a:defRPr>
            </a:pPr>
            <a:r>
              <a:rPr sz="1275" b="0">
                <a:solidFill>
                  <a:srgbClr val="526158"/>
                </a:solidFill>
                <a:latin typeface="Helvetica Neue"/>
                <a:ea typeface="Helvetica Neue"/>
                <a:cs typeface="Helvetica Neue"/>
              </a:rPr>
              <a:t>4</a:t>
            </a:r>
          </a:p>
        </p:txBody>
      </p:sp>
      <p:sp>
        <p:nvSpPr>
          <p:cNvPr id="3" name="">
            <a:extLst xmlns:a="http://schemas.openxmlformats.org/drawingml/2006/main">
              <a:ext uri="{FF2B5EF4-FFF2-40B4-BE49-F238E27FC236}">
                <a16:creationId xmlns:a16="http://schemas.microsoft.com/office/drawing/2014/main" id="{E57204E6-7623-4994-B249-FCEB524C8D1F}"/>
              </a:ext>
            </a:extLst>
          </p:cNvPr>
          <p:cNvSpPr>
            <a:spLocks xmlns:a="http://schemas.openxmlformats.org/drawingml/2006/main" noGrp="1"/>
          </p:cNvSpPr>
          <p:nvPr/>
        </p:nvSpPr>
        <p:spPr>
          <a:xfrm xmlns:a="http://schemas.openxmlformats.org/drawingml/2006/main">
            <a:off x="609600" y="1581150"/>
            <a:ext cx="342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147448"/>
                </a:solidFill>
                <a:latin typeface="Helvetica Neue"/>
                <a:ea typeface="Helvetica Neue"/>
                <a:cs typeface="Helvetica Neue"/>
              </a:defRPr>
            </a:defPPr>
          </a:lstStyle>
          <a:p xmlns:a="http://schemas.openxmlformats.org/drawingml/2006/main">
            <a:pPr>
              <a:defRPr sz="4800" b="1">
                <a:solidFill>
                  <a:srgbClr val="147448"/>
                </a:solidFill>
                <a:latin typeface="Helvetica Neue"/>
                <a:ea typeface="Helvetica Neue"/>
                <a:cs typeface="Helvetica Neue"/>
              </a:defRPr>
            </a:pPr>
            <a:r>
              <a:rPr sz="4800" b="1">
                <a:solidFill>
                  <a:srgbClr val="147448"/>
                </a:solidFill>
                <a:latin typeface="Helvetica Neue"/>
                <a:ea typeface="Helvetica Neue"/>
                <a:cs typeface="Helvetica Neue"/>
              </a:rPr>
              <a:t>5,870</a:t>
            </a:r>
          </a:p>
        </p:txBody>
      </p:sp>
      <p:sp>
        <p:nvSpPr>
          <p:cNvPr id="4" name="">
            <a:extLst xmlns:a="http://schemas.openxmlformats.org/drawingml/2006/main">
              <a:ext uri="{FF2B5EF4-FFF2-40B4-BE49-F238E27FC236}">
                <a16:creationId xmlns:a16="http://schemas.microsoft.com/office/drawing/2014/main" id="{8431EE89-CC59-4979-8E1B-B94FB87010C2}"/>
              </a:ext>
            </a:extLst>
          </p:cNvPr>
          <p:cNvSpPr>
            <a:spLocks xmlns:a="http://schemas.openxmlformats.org/drawingml/2006/main" noGrp="1"/>
          </p:cNvSpPr>
          <p:nvPr/>
        </p:nvSpPr>
        <p:spPr>
          <a:xfrm xmlns:a="http://schemas.openxmlformats.org/drawingml/2006/main">
            <a:off x="609600" y="25050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2820"/>
                </a:solidFill>
                <a:latin typeface="Helvetica Neue"/>
                <a:ea typeface="Helvetica Neue"/>
                <a:cs typeface="Helvetica Neue"/>
              </a:defRPr>
            </a:defPPr>
          </a:lstStyle>
          <a:p xmlns:a="http://schemas.openxmlformats.org/drawingml/2006/main">
            <a:pPr>
              <a:defRPr sz="2025" b="0">
                <a:solidFill>
                  <a:srgbClr val="182820"/>
                </a:solidFill>
                <a:latin typeface="Helvetica Neue"/>
                <a:ea typeface="Helvetica Neue"/>
                <a:cs typeface="Helvetica Neue"/>
              </a:defRPr>
            </a:pPr>
            <a:r>
              <a:rPr sz="2025" b="0">
                <a:solidFill>
                  <a:srgbClr val="182820"/>
                </a:solidFill>
                <a:latin typeface="Helvetica Neue"/>
                <a:ea typeface="Helvetica Neue"/>
                <a:cs typeface="Helvetica Neue"/>
              </a:rPr>
              <a:t>Original tracks</a:t>
            </a:r>
          </a:p>
        </p:txBody>
      </p:sp>
      <p:sp>
        <p:nvSpPr>
          <p:cNvPr id="5" name="">
            <a:extLst xmlns:a="http://schemas.openxmlformats.org/drawingml/2006/main">
              <a:ext uri="{FF2B5EF4-FFF2-40B4-BE49-F238E27FC236}">
                <a16:creationId xmlns:a16="http://schemas.microsoft.com/office/drawing/2014/main" id="{86036124-5A1B-4869-99A7-4742C1839556}"/>
              </a:ext>
            </a:extLst>
          </p:cNvPr>
          <p:cNvSpPr>
            <a:spLocks xmlns:a="http://schemas.openxmlformats.org/drawingml/2006/main" noGrp="1"/>
          </p:cNvSpPr>
          <p:nvPr/>
        </p:nvSpPr>
        <p:spPr>
          <a:xfrm xmlns:a="http://schemas.openxmlformats.org/drawingml/2006/main">
            <a:off x="4495800" y="1581150"/>
            <a:ext cx="342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147448"/>
                </a:solidFill>
                <a:latin typeface="Helvetica Neue"/>
                <a:ea typeface="Helvetica Neue"/>
                <a:cs typeface="Helvetica Neue"/>
              </a:defRPr>
            </a:defPPr>
          </a:lstStyle>
          <a:p xmlns:a="http://schemas.openxmlformats.org/drawingml/2006/main">
            <a:pPr>
              <a:defRPr sz="4800" b="1">
                <a:solidFill>
                  <a:srgbClr val="147448"/>
                </a:solidFill>
                <a:latin typeface="Helvetica Neue"/>
                <a:ea typeface="Helvetica Neue"/>
                <a:cs typeface="Helvetica Neue"/>
              </a:defRPr>
            </a:pPr>
            <a:r>
              <a:rPr sz="4800" b="1">
                <a:solidFill>
                  <a:srgbClr val="147448"/>
                </a:solidFill>
                <a:latin typeface="Helvetica Neue"/>
                <a:ea typeface="Helvetica Neue"/>
                <a:cs typeface="Helvetica Neue"/>
              </a:rPr>
              <a:t>5,824</a:t>
            </a:r>
          </a:p>
        </p:txBody>
      </p:sp>
      <p:sp>
        <p:nvSpPr>
          <p:cNvPr id="6" name="">
            <a:extLst xmlns:a="http://schemas.openxmlformats.org/drawingml/2006/main">
              <a:ext uri="{FF2B5EF4-FFF2-40B4-BE49-F238E27FC236}">
                <a16:creationId xmlns:a16="http://schemas.microsoft.com/office/drawing/2014/main" id="{179C84B3-3FDE-41C8-8B45-40D1D8E1A8D5}"/>
              </a:ext>
            </a:extLst>
          </p:cNvPr>
          <p:cNvSpPr>
            <a:spLocks xmlns:a="http://schemas.openxmlformats.org/drawingml/2006/main" noGrp="1"/>
          </p:cNvSpPr>
          <p:nvPr/>
        </p:nvSpPr>
        <p:spPr>
          <a:xfrm xmlns:a="http://schemas.openxmlformats.org/drawingml/2006/main">
            <a:off x="4495800" y="25050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2820"/>
                </a:solidFill>
                <a:latin typeface="Helvetica Neue"/>
                <a:ea typeface="Helvetica Neue"/>
                <a:cs typeface="Helvetica Neue"/>
              </a:defRPr>
            </a:defPPr>
          </a:lstStyle>
          <a:p xmlns:a="http://schemas.openxmlformats.org/drawingml/2006/main">
            <a:pPr>
              <a:defRPr sz="2025" b="0">
                <a:solidFill>
                  <a:srgbClr val="182820"/>
                </a:solidFill>
                <a:latin typeface="Helvetica Neue"/>
                <a:ea typeface="Helvetica Neue"/>
                <a:cs typeface="Helvetica Neue"/>
              </a:defRPr>
            </a:pPr>
            <a:r>
              <a:rPr sz="2025" b="0">
                <a:solidFill>
                  <a:srgbClr val="182820"/>
                </a:solidFill>
                <a:latin typeface="Helvetica Neue"/>
                <a:ea typeface="Helvetica Neue"/>
                <a:cs typeface="Helvetica Neue"/>
              </a:rPr>
              <a:t>Usable tracks</a:t>
            </a:r>
          </a:p>
        </p:txBody>
      </p:sp>
      <p:sp>
        <p:nvSpPr>
          <p:cNvPr id="7" name="">
            <a:extLst xmlns:a="http://schemas.openxmlformats.org/drawingml/2006/main">
              <a:ext uri="{FF2B5EF4-FFF2-40B4-BE49-F238E27FC236}">
                <a16:creationId xmlns:a16="http://schemas.microsoft.com/office/drawing/2014/main" id="{31363CFA-D193-440E-8812-937CA7AAB254}"/>
              </a:ext>
            </a:extLst>
          </p:cNvPr>
          <p:cNvSpPr>
            <a:spLocks xmlns:a="http://schemas.openxmlformats.org/drawingml/2006/main" noGrp="1"/>
          </p:cNvSpPr>
          <p:nvPr/>
        </p:nvSpPr>
        <p:spPr>
          <a:xfrm xmlns:a="http://schemas.openxmlformats.org/drawingml/2006/main">
            <a:off x="8420100" y="1581150"/>
            <a:ext cx="31623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147448"/>
                </a:solidFill>
                <a:latin typeface="Helvetica Neue"/>
                <a:ea typeface="Helvetica Neue"/>
                <a:cs typeface="Helvetica Neue"/>
              </a:defRPr>
            </a:defPPr>
          </a:lstStyle>
          <a:p xmlns:a="http://schemas.openxmlformats.org/drawingml/2006/main">
            <a:pPr>
              <a:defRPr sz="4800" b="1">
                <a:solidFill>
                  <a:srgbClr val="147448"/>
                </a:solidFill>
                <a:latin typeface="Helvetica Neue"/>
                <a:ea typeface="Helvetica Neue"/>
                <a:cs typeface="Helvetica Neue"/>
              </a:defRPr>
            </a:pPr>
            <a:r>
              <a:rPr sz="4800" b="1">
                <a:solidFill>
                  <a:srgbClr val="147448"/>
                </a:solidFill>
                <a:latin typeface="Helvetica Neue"/>
                <a:ea typeface="Helvetica Neue"/>
                <a:cs typeface="Helvetica Neue"/>
              </a:rPr>
              <a:t>3,199</a:t>
            </a:r>
          </a:p>
        </p:txBody>
      </p:sp>
      <p:sp>
        <p:nvSpPr>
          <p:cNvPr id="8" name="">
            <a:extLst xmlns:a="http://schemas.openxmlformats.org/drawingml/2006/main">
              <a:ext uri="{FF2B5EF4-FFF2-40B4-BE49-F238E27FC236}">
                <a16:creationId xmlns:a16="http://schemas.microsoft.com/office/drawing/2014/main" id="{E43C9469-741E-4301-A0E0-2417D0F174C4}"/>
              </a:ext>
            </a:extLst>
          </p:cNvPr>
          <p:cNvSpPr>
            <a:spLocks xmlns:a="http://schemas.openxmlformats.org/drawingml/2006/main" noGrp="1"/>
          </p:cNvSpPr>
          <p:nvPr/>
        </p:nvSpPr>
        <p:spPr>
          <a:xfrm xmlns:a="http://schemas.openxmlformats.org/drawingml/2006/main">
            <a:off x="8420100" y="2505075"/>
            <a:ext cx="3162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2820"/>
                </a:solidFill>
                <a:latin typeface="Helvetica Neue"/>
                <a:ea typeface="Helvetica Neue"/>
                <a:cs typeface="Helvetica Neue"/>
              </a:defRPr>
            </a:defPPr>
          </a:lstStyle>
          <a:p xmlns:a="http://schemas.openxmlformats.org/drawingml/2006/main">
            <a:pPr>
              <a:defRPr sz="2025" b="0">
                <a:solidFill>
                  <a:srgbClr val="182820"/>
                </a:solidFill>
                <a:latin typeface="Helvetica Neue"/>
                <a:ea typeface="Helvetica Neue"/>
                <a:cs typeface="Helvetica Neue"/>
              </a:defRPr>
            </a:pPr>
            <a:r>
              <a:rPr sz="2025" b="0">
                <a:solidFill>
                  <a:srgbClr val="182820"/>
                </a:solidFill>
                <a:latin typeface="Helvetica Neue"/>
                <a:ea typeface="Helvetica Neue"/>
                <a:cs typeface="Helvetica Neue"/>
              </a:rPr>
              <a:t>Three focus genres</a:t>
            </a:r>
          </a:p>
        </p:txBody>
      </p:sp>
      <p:sp>
        <p:nvSpPr>
          <p:cNvPr id="9" name="">
            <a:extLst xmlns:a="http://schemas.openxmlformats.org/drawingml/2006/main">
              <a:ext uri="{FF2B5EF4-FFF2-40B4-BE49-F238E27FC236}">
                <a16:creationId xmlns:a16="http://schemas.microsoft.com/office/drawing/2014/main" id="{9B97C030-9379-4FA8-860E-5DB4F6CBA53F}"/>
              </a:ext>
            </a:extLst>
          </p:cNvPr>
          <p:cNvSpPr>
            <a:spLocks xmlns:a="http://schemas.openxmlformats.org/drawingml/2006/main" noGrp="1"/>
          </p:cNvSpPr>
          <p:nvPr/>
        </p:nvSpPr>
        <p:spPr>
          <a:xfrm xmlns:a="http://schemas.openxmlformats.org/drawingml/2006/main">
            <a:off x="609600" y="3476625"/>
            <a:ext cx="10858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2820"/>
                </a:solidFill>
                <a:latin typeface="Helvetica Neue"/>
                <a:ea typeface="Helvetica Neue"/>
                <a:cs typeface="Helvetica Neue"/>
              </a:defRPr>
            </a:defPPr>
          </a:lstStyle>
          <a:p xmlns:a="http://schemas.openxmlformats.org/drawingml/2006/main">
            <a:pPr marL="266700" indent="-127000">
              <a:spcAft>
                <a:spcPts val="1700"/>
              </a:spcAft>
              <a:buChar char="•"/>
              <a:defRPr sz="2025" b="0">
                <a:solidFill>
                  <a:srgbClr val="182820"/>
                </a:solidFill>
                <a:latin typeface="Helvetica Neue"/>
                <a:ea typeface="Helvetica Neue"/>
                <a:cs typeface="Helvetica Neue"/>
              </a:defRPr>
            </a:pPr>
            <a:r>
              <a:rPr sz="2025" b="0">
                <a:solidFill>
                  <a:srgbClr val="182820"/>
                </a:solidFill>
                <a:latin typeface="Helvetica Neue"/>
                <a:ea typeface="Helvetica Neue"/>
                <a:cs typeface="Helvetica Neue"/>
              </a:rPr>
              <a:t>Removed 17 invalid-duration records and 29 with missing required artist data.</a:t>
            </a:r>
          </a:p>
          <a:p xmlns:a="http://schemas.openxmlformats.org/drawingml/2006/main">
            <a:pPr marL="266700" indent="-127000">
              <a:spcAft>
                <a:spcPts val="1700"/>
              </a:spcAft>
              <a:buChar char="•"/>
              <a:defRPr sz="2025" b="0">
                <a:solidFill>
                  <a:srgbClr val="182820"/>
                </a:solidFill>
                <a:latin typeface="Helvetica Neue"/>
                <a:ea typeface="Helvetica Neue"/>
                <a:cs typeface="Helvetica Neue"/>
              </a:defRPr>
            </a:pPr>
            <a:r>
              <a:rPr sz="2025" b="0">
                <a:solidFill>
                  <a:srgbClr val="182820"/>
                </a:solidFill>
                <a:latin typeface="Helvetica Neue"/>
                <a:ea typeface="Helvetica Neue"/>
                <a:cs typeface="Helvetica Neue"/>
              </a:rPr>
              <a:t>Standardized release years and duration. Logged streams and followers.</a:t>
            </a:r>
          </a:p>
          <a:p xmlns:a="http://schemas.openxmlformats.org/drawingml/2006/main">
            <a:pPr marL="266700" indent="-127000">
              <a:spcAft>
                <a:spcPts val="1700"/>
              </a:spcAft>
              <a:buChar char="•"/>
              <a:defRPr sz="2025" b="0">
                <a:solidFill>
                  <a:srgbClr val="182820"/>
                </a:solidFill>
                <a:latin typeface="Helvetica Neue"/>
                <a:ea typeface="Helvetica Neue"/>
                <a:cs typeface="Helvetica Neue"/>
              </a:defRPr>
            </a:pPr>
            <a:r>
              <a:rPr sz="2025" b="0">
                <a:solidFill>
                  <a:srgbClr val="182820"/>
                </a:solidFill>
                <a:latin typeface="Helvetica Neue"/>
                <a:ea typeface="Helvetica Neue"/>
                <a:cs typeface="Helvetica Neue"/>
              </a:rPr>
              <a:t>Retained valid extremes and checked their influence separately.</a:t>
            </a:r>
          </a:p>
        </p:txBody>
      </p:sp>
      <p:sp>
        <p:nvSpPr>
          <p:cNvPr id="10" name="">
            <a:extLst xmlns:a="http://schemas.openxmlformats.org/drawingml/2006/main">
              <a:ext uri="{FF2B5EF4-FFF2-40B4-BE49-F238E27FC236}">
                <a16:creationId xmlns:a16="http://schemas.microsoft.com/office/drawing/2014/main" id="{8D7858CD-AFFC-4498-8A68-9405070513D3}"/>
              </a:ext>
            </a:extLst>
          </p:cNvPr>
          <p:cNvSpPr>
            <a:spLocks xmlns:a="http://schemas.openxmlformats.org/drawingml/2006/main" noGrp="1"/>
          </p:cNvSpPr>
          <p:nvPr/>
        </p:nvSpPr>
        <p:spPr>
          <a:xfrm xmlns:a="http://schemas.openxmlformats.org/drawingml/2006/main">
            <a:off x="609600" y="5934075"/>
            <a:ext cx="1090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158"/>
                </a:solidFill>
                <a:latin typeface="Helvetica Neue"/>
                <a:ea typeface="Helvetica Neue"/>
                <a:cs typeface="Helvetica Neue"/>
              </a:defRPr>
            </a:defPPr>
          </a:lstStyle>
          <a:p xmlns:a="http://schemas.openxmlformats.org/drawingml/2006/main">
            <a:pPr>
              <a:defRPr sz="1575" b="0">
                <a:solidFill>
                  <a:srgbClr val="526158"/>
                </a:solidFill>
                <a:latin typeface="Helvetica Neue"/>
                <a:ea typeface="Helvetica Neue"/>
                <a:cs typeface="Helvetica Neue"/>
              </a:defRPr>
            </a:pPr>
            <a:r>
              <a:rPr sz="1575" b="0">
                <a:solidFill>
                  <a:srgbClr val="526158"/>
                </a:solidFill>
                <a:latin typeface="Helvetica Neue"/>
                <a:ea typeface="Helvetica Neue"/>
                <a:cs typeface="Helvetica Neue"/>
              </a:rPr>
              <a:t>One Hip-Hop/Rap residual outlier had little effect on the follower comparison when excluded.</a:t>
            </a:r>
          </a:p>
        </p:txBody>
      </p:sp>
    </p:spTree>
    <p:extLst>
      <p:ext uri="{BB962C8B-B14F-4D97-AF65-F5344CB8AC3E}">
        <p14:creationId xmlns:p14="http://schemas.microsoft.com/office/powerpoint/2010/main" val="13170025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97BF9F4-77E9-4733-A9F9-E3A7BB57907C}"/>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2820"/>
                </a:solidFill>
                <a:latin typeface="Helvetica Neue"/>
                <a:ea typeface="Helvetica Neue"/>
                <a:cs typeface="Helvetica Neue"/>
              </a:defRPr>
            </a:defPPr>
          </a:lstStyle>
          <a:p xmlns:a="http://schemas.openxmlformats.org/drawingml/2006/main">
            <a:pPr>
              <a:defRPr sz="3300" b="1">
                <a:solidFill>
                  <a:srgbClr val="182820"/>
                </a:solidFill>
                <a:latin typeface="Helvetica Neue"/>
                <a:ea typeface="Helvetica Neue"/>
                <a:cs typeface="Helvetica Neue"/>
              </a:defRPr>
            </a:pPr>
            <a:r>
              <a:rPr sz="3300" b="1">
                <a:solidFill>
                  <a:srgbClr val="182820"/>
                </a:solidFill>
                <a:latin typeface="Helvetica Neue"/>
                <a:ea typeface="Helvetica Neue"/>
                <a:cs typeface="Helvetica Neue"/>
              </a:rPr>
              <a:t>Overall findings and model reliability</a:t>
            </a:r>
          </a:p>
        </p:txBody>
      </p:sp>
      <p:sp>
        <p:nvSpPr>
          <p:cNvPr id="2" name="">
            <a:extLst xmlns:a="http://schemas.openxmlformats.org/drawingml/2006/main">
              <a:ext uri="{FF2B5EF4-FFF2-40B4-BE49-F238E27FC236}">
                <a16:creationId xmlns:a16="http://schemas.microsoft.com/office/drawing/2014/main" id="{4DAA33B0-A0D1-4D89-9F89-1A30BB616FFE}"/>
              </a:ext>
            </a:extLst>
          </p:cNvPr>
          <p:cNvSpPr>
            <a:spLocks xmlns:a="http://schemas.openxmlformats.org/drawingml/2006/main" noGrp="1"/>
          </p:cNvSpPr>
          <p:nvPr/>
        </p:nvSpPr>
        <p:spPr>
          <a:xfrm xmlns:a="http://schemas.openxmlformats.org/drawingml/2006/main">
            <a:off x="1116330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158"/>
                </a:solidFill>
                <a:latin typeface="Helvetica Neue"/>
                <a:ea typeface="Helvetica Neue"/>
                <a:cs typeface="Helvetica Neue"/>
              </a:defRPr>
            </a:defPPr>
          </a:lstStyle>
          <a:p xmlns:a="http://schemas.openxmlformats.org/drawingml/2006/main">
            <a:pPr>
              <a:defRPr sz="1275" b="0">
                <a:solidFill>
                  <a:srgbClr val="526158"/>
                </a:solidFill>
                <a:latin typeface="Helvetica Neue"/>
                <a:ea typeface="Helvetica Neue"/>
                <a:cs typeface="Helvetica Neue"/>
              </a:defRPr>
            </a:pPr>
            <a:r>
              <a:rPr sz="1275" b="0">
                <a:solidFill>
                  <a:srgbClr val="526158"/>
                </a:solidFill>
                <a:latin typeface="Helvetica Neue"/>
                <a:ea typeface="Helvetica Neue"/>
                <a:cs typeface="Helvetica Neue"/>
              </a:rPr>
              <a:t>5</a:t>
            </a:r>
          </a:p>
        </p:txBody>
      </p:sp>
      <p:graphicFrame>
        <p:nvGraphicFramePr>
          <p:cNvPr id="3" name="">
            <a:extLst xmlns:a="http://schemas.openxmlformats.org/drawingml/2006/main">
              <a:ext uri="{FF2B5EF4-FFF2-40B4-BE49-F238E27FC236}">
                <a16:creationId xmlns:a16="http://schemas.microsoft.com/office/drawing/2014/main" id="{3553720C-2482-4FB7-80EF-6D08FDF06524}"/>
              </a:ext>
            </a:extLst>
          </p:cNvPr>
          <p:cNvGraphicFramePr/>
          <p:nvPr/>
        </p:nvGraphicFramePr>
        <p:xfrm>
          <a:off xmlns:a="http://schemas.openxmlformats.org/drawingml/2006/main" x="609600" y="1581150"/>
          <a:ext xmlns:a="http://schemas.openxmlformats.org/drawingml/2006/main" cx="10972800" cy="2590800"/>
        </p:xfrm>
        <a:graphic xmlns:a="http://schemas.openxmlformats.org/drawingml/2006/main">
          <a:graphicData uri="http://schemas.openxmlformats.org/drawingml/2006/table">
            <a:tbl>
              <a:tblPr/>
              <a:tblGrid>
                <a:gridCol w="2762250"/>
                <a:gridCol w="3333750"/>
                <a:gridCol w="2438400"/>
                <a:gridCol w="2438400"/>
              </a:tblGrid>
              <a:tr h="647700">
                <a:tc>
                  <a:txBody>
                    <a:bodyPr lIns="114300" tIns="114300" rIns="114300" bIns="114300"/>
                    <a:lstStyle/>
                    <a:p>
                      <a:r>
                        <a:rPr sz="2025" b="1">
                          <a:solidFill>
                            <a:srgbClr val="FFFFFF"/>
                          </a:solidFill>
                          <a:latin typeface="Helvetica Neue"/>
                          <a:ea typeface="Helvetica Neue"/>
                          <a:cs typeface="Helvetica Neue"/>
                        </a:rPr>
                        <a:t>Genre</a:t>
                      </a:r>
                    </a:p>
                  </a:txBody>
                  <a:tcPr marL="91440" marR="91440" marT="45720" marB="45720" anchor="ctr">
                    <a:solidFill>
                      <a:srgbClr val="147448"/>
                    </a:solidFill>
                  </a:tcPr>
                </a:tc>
                <a:tc>
                  <a:txBody>
                    <a:bodyPr lIns="114300" tIns="114300" rIns="114300" bIns="114300"/>
                    <a:lstStyle/>
                    <a:p>
                      <a:r>
                        <a:rPr sz="2025" b="1">
                          <a:solidFill>
                            <a:srgbClr val="FFFFFF"/>
                          </a:solidFill>
                          <a:latin typeface="Helvetica Neue"/>
                          <a:ea typeface="Helvetica Neue"/>
                          <a:cs typeface="Helvetica Neue"/>
                        </a:rPr>
                        <a:t>Focus variable</a:t>
                      </a:r>
                    </a:p>
                  </a:txBody>
                  <a:tcPr marL="91440" marR="91440" marT="45720" marB="45720" anchor="ctr">
                    <a:solidFill>
                      <a:srgbClr val="147448"/>
                    </a:solidFill>
                  </a:tcPr>
                </a:tc>
                <a:tc>
                  <a:txBody>
                    <a:bodyPr lIns="114300" tIns="114300" rIns="114300" bIns="114300"/>
                    <a:lstStyle/>
                    <a:p>
                      <a:r>
                        <a:rPr sz="2025" b="1">
                          <a:solidFill>
                            <a:srgbClr val="FFFFFF"/>
                          </a:solidFill>
                          <a:latin typeface="Helvetica Neue"/>
                          <a:ea typeface="Helvetica Neue"/>
                          <a:cs typeface="Helvetica Neue"/>
                        </a:rPr>
                        <a:t>Adjusted R²</a:t>
                      </a:r>
                    </a:p>
                  </a:txBody>
                  <a:tcPr marL="91440" marR="91440" marT="45720" marB="45720" anchor="ctr">
                    <a:solidFill>
                      <a:srgbClr val="147448"/>
                    </a:solidFill>
                  </a:tcPr>
                </a:tc>
                <a:tc>
                  <a:txBody>
                    <a:bodyPr lIns="114300" tIns="114300" rIns="114300" bIns="114300"/>
                    <a:lstStyle/>
                    <a:p>
                      <a:r>
                        <a:rPr sz="2025" b="1">
                          <a:solidFill>
                            <a:srgbClr val="FFFFFF"/>
                          </a:solidFill>
                          <a:latin typeface="Helvetica Neue"/>
                          <a:ea typeface="Helvetica Neue"/>
                          <a:cs typeface="Helvetica Neue"/>
                        </a:rPr>
                        <a:t>Held-out R²</a:t>
                      </a:r>
                    </a:p>
                  </a:txBody>
                  <a:tcPr marL="91440" marR="91440" marT="45720" marB="45720" anchor="ctr">
                    <a:solidFill>
                      <a:srgbClr val="147448"/>
                    </a:solidFill>
                  </a:tcPr>
                </a:tc>
              </a:tr>
              <a:tr h="647700">
                <a:tc>
                  <a:txBody>
                    <a:bodyPr lIns="114300" tIns="114300" rIns="114300" bIns="114300"/>
                    <a:lstStyle/>
                    <a:p>
                      <a:r>
                        <a:rPr sz="2025" b="0">
                          <a:solidFill>
                            <a:srgbClr val="182820"/>
                          </a:solidFill>
                          <a:latin typeface="Helvetica Neue"/>
                          <a:ea typeface="Helvetica Neue"/>
                          <a:cs typeface="Helvetica Neue"/>
                        </a:rPr>
                        <a:t>Hip-Hop/Rap</a:t>
                      </a:r>
                    </a:p>
                  </a:txBody>
                  <a:tcPr marL="91440" marR="91440" marT="45720" marB="45720" anchor="ctr">
                    <a:solidFill>
                      <a:srgbClr val="FFFFFF"/>
                    </a:solidFill>
                  </a:tcPr>
                </a:tc>
                <a:tc>
                  <a:txBody>
                    <a:bodyPr lIns="114300" tIns="114300" rIns="114300" bIns="114300"/>
                    <a:lstStyle/>
                    <a:p>
                      <a:r>
                        <a:rPr sz="2025" b="0">
                          <a:solidFill>
                            <a:srgbClr val="182820"/>
                          </a:solidFill>
                          <a:latin typeface="Helvetica Neue"/>
                          <a:ea typeface="Helvetica Neue"/>
                          <a:cs typeface="Helvetica Neue"/>
                        </a:rPr>
                        <a:t>Artist followers</a:t>
                      </a:r>
                    </a:p>
                  </a:txBody>
                  <a:tcPr marL="91440" marR="91440" marT="45720" marB="45720" anchor="ctr">
                    <a:solidFill>
                      <a:srgbClr val="FFFFFF"/>
                    </a:solidFill>
                  </a:tcPr>
                </a:tc>
                <a:tc>
                  <a:txBody>
                    <a:bodyPr lIns="114300" tIns="114300" rIns="114300" bIns="114300"/>
                    <a:lstStyle/>
                    <a:p>
                      <a:r>
                        <a:rPr sz="2025" b="0">
                          <a:solidFill>
                            <a:srgbClr val="182820"/>
                          </a:solidFill>
                          <a:latin typeface="Helvetica Neue"/>
                          <a:ea typeface="Helvetica Neue"/>
                          <a:cs typeface="Helvetica Neue"/>
                        </a:rPr>
                        <a:t>5.7%</a:t>
                      </a:r>
                    </a:p>
                  </a:txBody>
                  <a:tcPr marL="91440" marR="91440" marT="45720" marB="45720" anchor="ctr">
                    <a:solidFill>
                      <a:srgbClr val="FFFFFF"/>
                    </a:solidFill>
                  </a:tcPr>
                </a:tc>
                <a:tc>
                  <a:txBody>
                    <a:bodyPr lIns="114300" tIns="114300" rIns="114300" bIns="114300"/>
                    <a:lstStyle/>
                    <a:p>
                      <a:r>
                        <a:rPr sz="2025" b="0">
                          <a:solidFill>
                            <a:srgbClr val="182820"/>
                          </a:solidFill>
                          <a:latin typeface="Helvetica Neue"/>
                          <a:ea typeface="Helvetica Neue"/>
                          <a:cs typeface="Helvetica Neue"/>
                        </a:rPr>
                        <a:t>4.7%</a:t>
                      </a:r>
                    </a:p>
                  </a:txBody>
                  <a:tcPr marL="91440" marR="91440" marT="45720" marB="45720" anchor="ctr">
                    <a:solidFill>
                      <a:srgbClr val="FFFFFF"/>
                    </a:solidFill>
                  </a:tcPr>
                </a:tc>
              </a:tr>
              <a:tr h="647700">
                <a:tc>
                  <a:txBody>
                    <a:bodyPr lIns="114300" tIns="114300" rIns="114300" bIns="114300"/>
                    <a:lstStyle/>
                    <a:p>
                      <a:r>
                        <a:rPr sz="2025" b="0">
                          <a:solidFill>
                            <a:srgbClr val="182820"/>
                          </a:solidFill>
                          <a:latin typeface="Helvetica Neue"/>
                          <a:ea typeface="Helvetica Neue"/>
                          <a:cs typeface="Helvetica Neue"/>
                        </a:rPr>
                        <a:t>Pop</a:t>
                      </a:r>
                    </a:p>
                  </a:txBody>
                  <a:tcPr marL="91440" marR="91440" marT="45720" marB="45720" anchor="ctr">
                    <a:solidFill>
                      <a:srgbClr val="F0F5F2"/>
                    </a:solidFill>
                  </a:tcPr>
                </a:tc>
                <a:tc>
                  <a:txBody>
                    <a:bodyPr lIns="114300" tIns="114300" rIns="114300" bIns="114300"/>
                    <a:lstStyle/>
                    <a:p>
                      <a:r>
                        <a:rPr sz="2025" b="0">
                          <a:solidFill>
                            <a:srgbClr val="182820"/>
                          </a:solidFill>
                          <a:latin typeface="Helvetica Neue"/>
                          <a:ea typeface="Helvetica Neue"/>
                          <a:cs typeface="Helvetica Neue"/>
                        </a:rPr>
                        <a:t>Release size</a:t>
                      </a:r>
                    </a:p>
                  </a:txBody>
                  <a:tcPr marL="91440" marR="91440" marT="45720" marB="45720" anchor="ctr">
                    <a:solidFill>
                      <a:srgbClr val="F0F5F2"/>
                    </a:solidFill>
                  </a:tcPr>
                </a:tc>
                <a:tc>
                  <a:txBody>
                    <a:bodyPr lIns="114300" tIns="114300" rIns="114300" bIns="114300"/>
                    <a:lstStyle/>
                    <a:p>
                      <a:r>
                        <a:rPr sz="2025" b="0">
                          <a:solidFill>
                            <a:srgbClr val="182820"/>
                          </a:solidFill>
                          <a:latin typeface="Helvetica Neue"/>
                          <a:ea typeface="Helvetica Neue"/>
                          <a:cs typeface="Helvetica Neue"/>
                        </a:rPr>
                        <a:t>3.6%</a:t>
                      </a:r>
                    </a:p>
                  </a:txBody>
                  <a:tcPr marL="91440" marR="91440" marT="45720" marB="45720" anchor="ctr">
                    <a:solidFill>
                      <a:srgbClr val="F0F5F2"/>
                    </a:solidFill>
                  </a:tcPr>
                </a:tc>
                <a:tc>
                  <a:txBody>
                    <a:bodyPr lIns="114300" tIns="114300" rIns="114300" bIns="114300"/>
                    <a:lstStyle/>
                    <a:p>
                      <a:r>
                        <a:rPr sz="2025" b="0">
                          <a:solidFill>
                            <a:srgbClr val="182820"/>
                          </a:solidFill>
                          <a:latin typeface="Helvetica Neue"/>
                          <a:ea typeface="Helvetica Neue"/>
                          <a:cs typeface="Helvetica Neue"/>
                        </a:rPr>
                        <a:t>3.0%</a:t>
                      </a:r>
                    </a:p>
                  </a:txBody>
                  <a:tcPr marL="91440" marR="91440" marT="45720" marB="45720" anchor="ctr">
                    <a:solidFill>
                      <a:srgbClr val="F0F5F2"/>
                    </a:solidFill>
                  </a:tcPr>
                </a:tc>
              </a:tr>
              <a:tr h="647700">
                <a:tc>
                  <a:txBody>
                    <a:bodyPr lIns="114300" tIns="114300" rIns="114300" bIns="114300"/>
                    <a:lstStyle/>
                    <a:p>
                      <a:r>
                        <a:rPr sz="2025" b="0">
                          <a:solidFill>
                            <a:srgbClr val="182820"/>
                          </a:solidFill>
                          <a:latin typeface="Helvetica Neue"/>
                          <a:ea typeface="Helvetica Neue"/>
                          <a:cs typeface="Helvetica Neue"/>
                        </a:rPr>
                        <a:t>Latin</a:t>
                      </a:r>
                    </a:p>
                  </a:txBody>
                  <a:tcPr marL="91440" marR="91440" marT="45720" marB="45720" anchor="ctr">
                    <a:solidFill>
                      <a:srgbClr val="FFFFFF"/>
                    </a:solidFill>
                  </a:tcPr>
                </a:tc>
                <a:tc>
                  <a:txBody>
                    <a:bodyPr lIns="114300" tIns="114300" rIns="114300" bIns="114300"/>
                    <a:lstStyle/>
                    <a:p>
                      <a:r>
                        <a:rPr sz="2025" b="0">
                          <a:solidFill>
                            <a:srgbClr val="182820"/>
                          </a:solidFill>
                          <a:latin typeface="Helvetica Neue"/>
                          <a:ea typeface="Helvetica Neue"/>
                          <a:cs typeface="Helvetica Neue"/>
                        </a:rPr>
                        <a:t>Track duration</a:t>
                      </a:r>
                    </a:p>
                  </a:txBody>
                  <a:tcPr marL="91440" marR="91440" marT="45720" marB="45720" anchor="ctr">
                    <a:solidFill>
                      <a:srgbClr val="FFFFFF"/>
                    </a:solidFill>
                  </a:tcPr>
                </a:tc>
                <a:tc>
                  <a:txBody>
                    <a:bodyPr lIns="114300" tIns="114300" rIns="114300" bIns="114300"/>
                    <a:lstStyle/>
                    <a:p>
                      <a:r>
                        <a:rPr sz="2025" b="0">
                          <a:solidFill>
                            <a:srgbClr val="182820"/>
                          </a:solidFill>
                          <a:latin typeface="Helvetica Neue"/>
                          <a:ea typeface="Helvetica Neue"/>
                          <a:cs typeface="Helvetica Neue"/>
                        </a:rPr>
                        <a:t>12.6%</a:t>
                      </a:r>
                    </a:p>
                  </a:txBody>
                  <a:tcPr marL="91440" marR="91440" marT="45720" marB="45720" anchor="ctr">
                    <a:solidFill>
                      <a:srgbClr val="FFFFFF"/>
                    </a:solidFill>
                  </a:tcPr>
                </a:tc>
                <a:tc>
                  <a:txBody>
                    <a:bodyPr lIns="114300" tIns="114300" rIns="114300" bIns="114300"/>
                    <a:lstStyle/>
                    <a:p>
                      <a:r>
                        <a:rPr sz="2025" b="0">
                          <a:solidFill>
                            <a:srgbClr val="182820"/>
                          </a:solidFill>
                          <a:latin typeface="Helvetica Neue"/>
                          <a:ea typeface="Helvetica Neue"/>
                          <a:cs typeface="Helvetica Neue"/>
                        </a:rPr>
                        <a:t>9.3%</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4DEF221-9035-42CD-AD74-0186880B63FC}"/>
              </a:ext>
            </a:extLst>
          </p:cNvPr>
          <p:cNvSpPr>
            <a:spLocks xmlns:a="http://schemas.openxmlformats.org/drawingml/2006/main" noGrp="1"/>
          </p:cNvSpPr>
          <p:nvPr/>
        </p:nvSpPr>
        <p:spPr>
          <a:xfrm xmlns:a="http://schemas.openxmlformats.org/drawingml/2006/main">
            <a:off x="609600" y="457200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2820"/>
                </a:solidFill>
                <a:latin typeface="Helvetica Neue"/>
                <a:ea typeface="Helvetica Neue"/>
                <a:cs typeface="Helvetica Neue"/>
              </a:defRPr>
            </a:defPPr>
          </a:lstStyle>
          <a:p xmlns:a="http://schemas.openxmlformats.org/drawingml/2006/main">
            <a:pPr>
              <a:defRPr sz="2175" b="1">
                <a:solidFill>
                  <a:srgbClr val="182820"/>
                </a:solidFill>
                <a:latin typeface="Helvetica Neue"/>
                <a:ea typeface="Helvetica Neue"/>
                <a:cs typeface="Helvetica Neue"/>
              </a:defRPr>
            </a:pPr>
            <a:r>
              <a:rPr sz="2175" b="1">
                <a:solidFill>
                  <a:srgbClr val="182820"/>
                </a:solidFill>
                <a:latin typeface="Helvetica Neue"/>
                <a:ea typeface="Helvetica Neue"/>
                <a:cs typeface="Helvetica Neue"/>
              </a:rPr>
              <a:t>The models adjust for other artist and track characteristics.</a:t>
            </a:r>
          </a:p>
        </p:txBody>
      </p:sp>
      <p:sp>
        <p:nvSpPr>
          <p:cNvPr id="5" name="">
            <a:extLst xmlns:a="http://schemas.openxmlformats.org/drawingml/2006/main">
              <a:ext uri="{FF2B5EF4-FFF2-40B4-BE49-F238E27FC236}">
                <a16:creationId xmlns:a16="http://schemas.microsoft.com/office/drawing/2014/main" id="{B772B23A-B0F2-4BD5-BF48-4E3C2F8A634C}"/>
              </a:ext>
            </a:extLst>
          </p:cNvPr>
          <p:cNvSpPr>
            <a:spLocks xmlns:a="http://schemas.openxmlformats.org/drawingml/2006/main" noGrp="1"/>
          </p:cNvSpPr>
          <p:nvPr/>
        </p:nvSpPr>
        <p:spPr>
          <a:xfrm xmlns:a="http://schemas.openxmlformats.org/drawingml/2006/main">
            <a:off x="609600" y="514350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82820"/>
                </a:solidFill>
                <a:latin typeface="Helvetica Neue"/>
                <a:ea typeface="Helvetica Neue"/>
                <a:cs typeface="Helvetica Neue"/>
              </a:defRPr>
            </a:defPPr>
          </a:lstStyle>
          <a:p xmlns:a="http://schemas.openxmlformats.org/drawingml/2006/main">
            <a:pPr>
              <a:defRPr sz="2175" b="0">
                <a:solidFill>
                  <a:srgbClr val="182820"/>
                </a:solidFill>
                <a:latin typeface="Helvetica Neue"/>
                <a:ea typeface="Helvetica Neue"/>
                <a:cs typeface="Helvetica Neue"/>
              </a:defRPr>
            </a:pPr>
            <a:r>
              <a:rPr sz="2175" b="0">
                <a:solidFill>
                  <a:srgbClr val="182820"/>
                </a:solidFill>
                <a:latin typeface="Helvetica Neue"/>
                <a:ea typeface="Helvetica Neue"/>
                <a:cs typeface="Helvetica Neue"/>
              </a:rPr>
              <a:t>The patterns support targeted tests. Most streaming variation remains unexplained.</a:t>
            </a:r>
          </a:p>
        </p:txBody>
      </p:sp>
      <p:sp>
        <p:nvSpPr>
          <p:cNvPr id="6" name="">
            <a:extLst xmlns:a="http://schemas.openxmlformats.org/drawingml/2006/main">
              <a:ext uri="{FF2B5EF4-FFF2-40B4-BE49-F238E27FC236}">
                <a16:creationId xmlns:a16="http://schemas.microsoft.com/office/drawing/2014/main" id="{71D1378E-9A1D-4D2F-88D9-2D70E8C13FDF}"/>
              </a:ext>
            </a:extLst>
          </p:cNvPr>
          <p:cNvSpPr>
            <a:spLocks xmlns:a="http://schemas.openxmlformats.org/drawingml/2006/main" noGrp="1"/>
          </p:cNvSpPr>
          <p:nvPr/>
        </p:nvSpPr>
        <p:spPr>
          <a:xfrm xmlns:a="http://schemas.openxmlformats.org/drawingml/2006/main">
            <a:off x="609600" y="5934075"/>
            <a:ext cx="1090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158"/>
                </a:solidFill>
                <a:latin typeface="Helvetica Neue"/>
                <a:ea typeface="Helvetica Neue"/>
                <a:cs typeface="Helvetica Neue"/>
              </a:defRPr>
            </a:defPPr>
          </a:lstStyle>
          <a:p xmlns:a="http://schemas.openxmlformats.org/drawingml/2006/main">
            <a:pPr>
              <a:defRPr sz="1575" b="0">
                <a:solidFill>
                  <a:srgbClr val="526158"/>
                </a:solidFill>
                <a:latin typeface="Helvetica Neue"/>
                <a:ea typeface="Helvetica Neue"/>
                <a:cs typeface="Helvetica Neue"/>
              </a:defRPr>
            </a:pPr>
            <a:r>
              <a:rPr sz="1575" b="0">
                <a:solidFill>
                  <a:srgbClr val="526158"/>
                </a:solidFill>
                <a:latin typeface="Helvetica Neue"/>
                <a:ea typeface="Helvetica Neue"/>
                <a:cs typeface="Helvetica Neue"/>
              </a:rPr>
              <a:t>Held-out R² measures explained variation on held-out tracks, not percentage prediction accuracy.</a:t>
            </a:r>
          </a:p>
        </p:txBody>
      </p:sp>
    </p:spTree>
    <p:extLst>
      <p:ext uri="{BB962C8B-B14F-4D97-AF65-F5344CB8AC3E}">
        <p14:creationId xmlns:p14="http://schemas.microsoft.com/office/powerpoint/2010/main" val="171325625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126BE53-24A6-4C66-B3DD-5D15F1427D13}"/>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2820"/>
                </a:solidFill>
                <a:latin typeface="Helvetica Neue"/>
                <a:ea typeface="Helvetica Neue"/>
                <a:cs typeface="Helvetica Neue"/>
              </a:defRPr>
            </a:defPPr>
          </a:lstStyle>
          <a:p xmlns:a="http://schemas.openxmlformats.org/drawingml/2006/main">
            <a:pPr>
              <a:defRPr sz="3300" b="1">
                <a:solidFill>
                  <a:srgbClr val="182820"/>
                </a:solidFill>
                <a:latin typeface="Helvetica Neue"/>
                <a:ea typeface="Helvetica Neue"/>
                <a:cs typeface="Helvetica Neue"/>
              </a:defRPr>
            </a:pPr>
            <a:r>
              <a:rPr sz="3300" b="1">
                <a:solidFill>
                  <a:srgbClr val="182820"/>
                </a:solidFill>
                <a:latin typeface="Helvetica Neue"/>
                <a:ea typeface="Helvetica Neue"/>
                <a:cs typeface="Helvetica Neue"/>
              </a:rPr>
              <a:t>Hip-Hop/Rap: audience size</a:t>
            </a:r>
          </a:p>
        </p:txBody>
      </p:sp>
      <p:sp>
        <p:nvSpPr>
          <p:cNvPr id="2" name="">
            <a:extLst xmlns:a="http://schemas.openxmlformats.org/drawingml/2006/main">
              <a:ext uri="{FF2B5EF4-FFF2-40B4-BE49-F238E27FC236}">
                <a16:creationId xmlns:a16="http://schemas.microsoft.com/office/drawing/2014/main" id="{9E6DB909-1D73-4F4D-8126-7A51EA5F4ADF}"/>
              </a:ext>
            </a:extLst>
          </p:cNvPr>
          <p:cNvSpPr>
            <a:spLocks xmlns:a="http://schemas.openxmlformats.org/drawingml/2006/main" noGrp="1"/>
          </p:cNvSpPr>
          <p:nvPr/>
        </p:nvSpPr>
        <p:spPr>
          <a:xfrm xmlns:a="http://schemas.openxmlformats.org/drawingml/2006/main">
            <a:off x="1116330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158"/>
                </a:solidFill>
                <a:latin typeface="Helvetica Neue"/>
                <a:ea typeface="Helvetica Neue"/>
                <a:cs typeface="Helvetica Neue"/>
              </a:defRPr>
            </a:defPPr>
          </a:lstStyle>
          <a:p xmlns:a="http://schemas.openxmlformats.org/drawingml/2006/main">
            <a:pPr>
              <a:defRPr sz="1275" b="0">
                <a:solidFill>
                  <a:srgbClr val="526158"/>
                </a:solidFill>
                <a:latin typeface="Helvetica Neue"/>
                <a:ea typeface="Helvetica Neue"/>
                <a:cs typeface="Helvetica Neue"/>
              </a:defRPr>
            </a:pPr>
            <a:r>
              <a:rPr sz="1275" b="0">
                <a:solidFill>
                  <a:srgbClr val="526158"/>
                </a:solidFill>
                <a:latin typeface="Helvetica Neue"/>
                <a:ea typeface="Helvetica Neue"/>
                <a:cs typeface="Helvetica Neue"/>
              </a:rPr>
              <a:t>6</a:t>
            </a:r>
          </a:p>
        </p:txBody>
      </p:sp>
      <p:sp>
        <p:nvSpPr>
          <p:cNvPr id="3" name="">
            <a:extLst xmlns:a="http://schemas.openxmlformats.org/drawingml/2006/main">
              <a:ext uri="{FF2B5EF4-FFF2-40B4-BE49-F238E27FC236}">
                <a16:creationId xmlns:a16="http://schemas.microsoft.com/office/drawing/2014/main" id="{BA1F4811-8A28-4EC5-AD99-0230C71841BA}"/>
              </a:ext>
            </a:extLst>
          </p:cNvPr>
          <p:cNvSpPr>
            <a:spLocks xmlns:a="http://schemas.openxmlformats.org/drawingml/2006/main" noGrp="1"/>
          </p:cNvSpPr>
          <p:nvPr/>
        </p:nvSpPr>
        <p:spPr>
          <a:xfrm xmlns:a="http://schemas.openxmlformats.org/drawingml/2006/main">
            <a:off x="609600" y="1343025"/>
            <a:ext cx="10953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82820"/>
                </a:solidFill>
                <a:latin typeface="Helvetica Neue"/>
                <a:ea typeface="Helvetica Neue"/>
                <a:cs typeface="Helvetica Neue"/>
              </a:defRPr>
            </a:defPPr>
          </a:lstStyle>
          <a:p xmlns:a="http://schemas.openxmlformats.org/drawingml/2006/main">
            <a:pPr>
              <a:defRPr sz="2250" b="1">
                <a:solidFill>
                  <a:srgbClr val="182820"/>
                </a:solidFill>
                <a:latin typeface="Helvetica Neue"/>
                <a:ea typeface="Helvetica Neue"/>
                <a:cs typeface="Helvetica Neue"/>
              </a:defRPr>
            </a:pPr>
            <a:r>
              <a:rPr sz="2250" b="1">
                <a:solidFill>
                  <a:srgbClr val="182820"/>
                </a:solidFill>
                <a:latin typeface="Helvetica Neue"/>
                <a:ea typeface="Helvetica Neue"/>
                <a:cs typeface="Helvetica Neue"/>
              </a:rPr>
              <a:t>Larger artist audiences show a modest streaming advantage.</a:t>
            </a:r>
          </a:p>
        </p:txBody>
      </p:sp>
      <p:graphicFrame>
        <p:nvGraphicFramePr>
          <p:cNvPr id="4" name="Chart">
            <a:extLst xmlns:a="http://schemas.openxmlformats.org/drawingml/2006/main">
              <a:ext uri="{FF2B5EF4-FFF2-40B4-BE49-F238E27FC236}">
                <a16:creationId xmlns:a16="http://schemas.microsoft.com/office/drawing/2014/main" id="{FD3C6CB8-5EB7-4C2B-89CD-43B6F433E168}"/>
              </a:ext>
            </a:extLst>
          </p:cNvPr>
          <p:cNvGraphicFramePr/>
          <p:nvPr/>
        </p:nvGraphicFramePr>
        <p:xfrm>
          <a:off xmlns:a="http://schemas.openxmlformats.org/drawingml/2006/main" x="609600" y="2324100"/>
          <a:ext xmlns:a="http://schemas.openxmlformats.org/drawingml/2006/main" cx="6715125" cy="3067050"/>
        </p:xfrm>
        <a:graphic xmlns:a="http://schemas.openxmlformats.org/drawingml/2006/main">
          <a:graphicData uri="http://schemas.openxmlformats.org/drawingml/2006/chart">
            <c:chart xmlns:r="http://schemas.openxmlformats.org/officeDocument/2006/relationships" xmlns:c="http://schemas.openxmlformats.org/drawingml/2006/chart" r:id="R2b6f5824bef740c6"/>
          </a:graphicData>
        </a:graphic>
      </p:graphicFrame>
      <p:sp>
        <p:nvSpPr>
          <p:cNvPr id="5" name="">
            <a:extLst xmlns:a="http://schemas.openxmlformats.org/drawingml/2006/main">
              <a:ext uri="{FF2B5EF4-FFF2-40B4-BE49-F238E27FC236}">
                <a16:creationId xmlns:a16="http://schemas.microsoft.com/office/drawing/2014/main" id="{0EA1888B-95FD-4523-A459-09E3C11B7994}"/>
              </a:ext>
            </a:extLst>
          </p:cNvPr>
          <p:cNvSpPr>
            <a:spLocks xmlns:a="http://schemas.openxmlformats.org/drawingml/2006/main" noGrp="1"/>
          </p:cNvSpPr>
          <p:nvPr/>
        </p:nvSpPr>
        <p:spPr>
          <a:xfrm xmlns:a="http://schemas.openxmlformats.org/drawingml/2006/main">
            <a:off x="609600" y="2000250"/>
            <a:ext cx="676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158"/>
                </a:solidFill>
                <a:latin typeface="Helvetica Neue"/>
                <a:ea typeface="Helvetica Neue"/>
                <a:cs typeface="Helvetica Neue"/>
              </a:defRPr>
            </a:defPPr>
          </a:lstStyle>
          <a:p xmlns:a="http://schemas.openxmlformats.org/drawingml/2006/main">
            <a:pPr>
              <a:defRPr sz="1650" b="0">
                <a:solidFill>
                  <a:srgbClr val="526158"/>
                </a:solidFill>
                <a:latin typeface="Helvetica Neue"/>
                <a:ea typeface="Helvetica Neue"/>
                <a:cs typeface="Helvetica Neue"/>
              </a:defRPr>
            </a:pPr>
            <a:r>
              <a:rPr sz="1650" b="0">
                <a:solidFill>
                  <a:srgbClr val="526158"/>
                </a:solidFill>
                <a:latin typeface="Helvetica Neue"/>
                <a:ea typeface="Helvetica Neue"/>
                <a:cs typeface="Helvetica Neue"/>
              </a:rPr>
              <a:t>Fitted geometric-mean streams</a:t>
            </a:r>
          </a:p>
        </p:txBody>
      </p:sp>
      <p:sp>
        <p:nvSpPr>
          <p:cNvPr id="6" name="">
            <a:extLst xmlns:a="http://schemas.openxmlformats.org/drawingml/2006/main">
              <a:ext uri="{FF2B5EF4-FFF2-40B4-BE49-F238E27FC236}">
                <a16:creationId xmlns:a16="http://schemas.microsoft.com/office/drawing/2014/main" id="{2CF38B3F-9723-4E86-BD2F-AA59F4595E61}"/>
              </a:ext>
            </a:extLst>
          </p:cNvPr>
          <p:cNvSpPr>
            <a:spLocks xmlns:a="http://schemas.openxmlformats.org/drawingml/2006/main" noGrp="1"/>
          </p:cNvSpPr>
          <p:nvPr/>
        </p:nvSpPr>
        <p:spPr>
          <a:xfrm xmlns:a="http://schemas.openxmlformats.org/drawingml/2006/main">
            <a:off x="7905750" y="2228850"/>
            <a:ext cx="35623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250" b="1">
                <a:solidFill>
                  <a:srgbClr val="147448"/>
                </a:solidFill>
                <a:latin typeface="Helvetica Neue"/>
                <a:ea typeface="Helvetica Neue"/>
                <a:cs typeface="Helvetica Neue"/>
              </a:defRPr>
            </a:defPPr>
          </a:lstStyle>
          <a:p xmlns:a="http://schemas.openxmlformats.org/drawingml/2006/main">
            <a:pPr>
              <a:defRPr sz="5250" b="1">
                <a:solidFill>
                  <a:srgbClr val="147448"/>
                </a:solidFill>
                <a:latin typeface="Helvetica Neue"/>
                <a:ea typeface="Helvetica Neue"/>
                <a:cs typeface="Helvetica Neue"/>
              </a:defRPr>
            </a:pPr>
            <a:r>
              <a:rPr sz="5250" b="1">
                <a:solidFill>
                  <a:srgbClr val="147448"/>
                </a:solidFill>
                <a:latin typeface="Helvetica Neue"/>
                <a:ea typeface="Helvetica Neue"/>
                <a:cs typeface="Helvetica Neue"/>
              </a:rPr>
              <a:t>+7.7%</a:t>
            </a:r>
          </a:p>
        </p:txBody>
      </p:sp>
      <p:sp>
        <p:nvSpPr>
          <p:cNvPr id="7" name="">
            <a:extLst xmlns:a="http://schemas.openxmlformats.org/drawingml/2006/main">
              <a:ext uri="{FF2B5EF4-FFF2-40B4-BE49-F238E27FC236}">
                <a16:creationId xmlns:a16="http://schemas.microsoft.com/office/drawing/2014/main" id="{FF279D4E-E6D7-485C-A7C2-4B2A9CEE80B3}"/>
              </a:ext>
            </a:extLst>
          </p:cNvPr>
          <p:cNvSpPr>
            <a:spLocks xmlns:a="http://schemas.openxmlformats.org/drawingml/2006/main" noGrp="1"/>
          </p:cNvSpPr>
          <p:nvPr/>
        </p:nvSpPr>
        <p:spPr>
          <a:xfrm xmlns:a="http://schemas.openxmlformats.org/drawingml/2006/main">
            <a:off x="7905750" y="3352800"/>
            <a:ext cx="3562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158"/>
                </a:solidFill>
                <a:latin typeface="Helvetica Neue"/>
                <a:ea typeface="Helvetica Neue"/>
                <a:cs typeface="Helvetica Neue"/>
              </a:defRPr>
            </a:defPPr>
          </a:lstStyle>
          <a:p xmlns:a="http://schemas.openxmlformats.org/drawingml/2006/main">
            <a:pPr>
              <a:defRPr sz="1950" b="0">
                <a:solidFill>
                  <a:srgbClr val="526158"/>
                </a:solidFill>
                <a:latin typeface="Helvetica Neue"/>
                <a:ea typeface="Helvetica Neue"/>
                <a:cs typeface="Helvetica Neue"/>
              </a:defRPr>
            </a:pPr>
            <a:r>
              <a:rPr sz="1950" b="0">
                <a:solidFill>
                  <a:srgbClr val="526158"/>
                </a:solidFill>
                <a:latin typeface="Helvetica Neue"/>
                <a:ea typeface="Helvetica Neue"/>
                <a:cs typeface="Helvetica Neue"/>
              </a:rPr>
              <a:t>95% robust interval</a:t>
            </a:r>
          </a:p>
        </p:txBody>
      </p:sp>
      <p:sp>
        <p:nvSpPr>
          <p:cNvPr id="8" name="">
            <a:extLst xmlns:a="http://schemas.openxmlformats.org/drawingml/2006/main">
              <a:ext uri="{FF2B5EF4-FFF2-40B4-BE49-F238E27FC236}">
                <a16:creationId xmlns:a16="http://schemas.microsoft.com/office/drawing/2014/main" id="{A3D76946-D917-47BF-97AE-11BFB68202DC}"/>
              </a:ext>
            </a:extLst>
          </p:cNvPr>
          <p:cNvSpPr>
            <a:spLocks xmlns:a="http://schemas.openxmlformats.org/drawingml/2006/main" noGrp="1"/>
          </p:cNvSpPr>
          <p:nvPr/>
        </p:nvSpPr>
        <p:spPr>
          <a:xfrm xmlns:a="http://schemas.openxmlformats.org/drawingml/2006/main">
            <a:off x="7905750" y="3781425"/>
            <a:ext cx="3562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82820"/>
                </a:solidFill>
                <a:latin typeface="Helvetica Neue"/>
                <a:ea typeface="Helvetica Neue"/>
                <a:cs typeface="Helvetica Neue"/>
              </a:defRPr>
            </a:defPPr>
          </a:lstStyle>
          <a:p xmlns:a="http://schemas.openxmlformats.org/drawingml/2006/main">
            <a:pPr>
              <a:defRPr sz="2325" b="1">
                <a:solidFill>
                  <a:srgbClr val="182820"/>
                </a:solidFill>
                <a:latin typeface="Helvetica Neue"/>
                <a:ea typeface="Helvetica Neue"/>
                <a:cs typeface="Helvetica Neue"/>
              </a:defRPr>
            </a:pPr>
            <a:r>
              <a:rPr sz="2325" b="1">
                <a:solidFill>
                  <a:srgbClr val="182820"/>
                </a:solidFill>
                <a:latin typeface="Helvetica Neue"/>
                <a:ea typeface="Helvetica Neue"/>
                <a:cs typeface="Helvetica Neue"/>
              </a:rPr>
              <a:t>+5.0% to +10.5%</a:t>
            </a:r>
          </a:p>
        </p:txBody>
      </p:sp>
      <p:sp>
        <p:nvSpPr>
          <p:cNvPr id="9" name="">
            <a:extLst xmlns:a="http://schemas.openxmlformats.org/drawingml/2006/main">
              <a:ext uri="{FF2B5EF4-FFF2-40B4-BE49-F238E27FC236}">
                <a16:creationId xmlns:a16="http://schemas.microsoft.com/office/drawing/2014/main" id="{DE43E9BF-8B7D-415A-A77E-40B5365E2C4B}"/>
              </a:ext>
            </a:extLst>
          </p:cNvPr>
          <p:cNvSpPr>
            <a:spLocks xmlns:a="http://schemas.openxmlformats.org/drawingml/2006/main" noGrp="1"/>
          </p:cNvSpPr>
          <p:nvPr/>
        </p:nvSpPr>
        <p:spPr>
          <a:xfrm xmlns:a="http://schemas.openxmlformats.org/drawingml/2006/main">
            <a:off x="7905750" y="4533900"/>
            <a:ext cx="35623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2820"/>
                </a:solidFill>
                <a:latin typeface="Helvetica Neue"/>
                <a:ea typeface="Helvetica Neue"/>
                <a:cs typeface="Helvetica Neue"/>
              </a:defRPr>
            </a:defPPr>
          </a:lstStyle>
          <a:p xmlns:a="http://schemas.openxmlformats.org/drawingml/2006/main">
            <a:pPr>
              <a:defRPr sz="2025" b="0">
                <a:solidFill>
                  <a:srgbClr val="182820"/>
                </a:solidFill>
                <a:latin typeface="Helvetica Neue"/>
                <a:ea typeface="Helvetica Neue"/>
                <a:cs typeface="Helvetica Neue"/>
              </a:defRPr>
            </a:pPr>
            <a:r>
              <a:rPr sz="2025" b="0">
                <a:solidFill>
                  <a:srgbClr val="182820"/>
                </a:solidFill>
                <a:latin typeface="Helvetica Neue"/>
                <a:ea typeface="Helvetica Neue"/>
                <a:cs typeface="Helvetica Neue"/>
              </a:rPr>
              <a:t>n = 1,224</a:t>
            </a:r>
          </a:p>
          <a:p xmlns:a="http://schemas.openxmlformats.org/drawingml/2006/main">
            <a:pPr>
              <a:defRPr sz="2025" b="0">
                <a:solidFill>
                  <a:srgbClr val="182820"/>
                </a:solidFill>
                <a:latin typeface="Helvetica Neue"/>
                <a:ea typeface="Helvetica Neue"/>
                <a:cs typeface="Helvetica Neue"/>
              </a:defRPr>
            </a:pPr>
            <a:r>
              <a:rPr sz="2025" b="0">
                <a:solidFill>
                  <a:srgbClr val="182820"/>
                </a:solidFill>
                <a:latin typeface="Helvetica Neue"/>
                <a:ea typeface="Helvetica Neue"/>
                <a:cs typeface="Helvetica Neue"/>
              </a:rPr>
              <a:t>Held-out R² = 4.7%</a:t>
            </a:r>
          </a:p>
        </p:txBody>
      </p:sp>
      <p:sp>
        <p:nvSpPr>
          <p:cNvPr id="10" name="">
            <a:extLst xmlns:a="http://schemas.openxmlformats.org/drawingml/2006/main">
              <a:ext uri="{FF2B5EF4-FFF2-40B4-BE49-F238E27FC236}">
                <a16:creationId xmlns:a16="http://schemas.microsoft.com/office/drawing/2014/main" id="{55FC5F23-7EAC-4243-A113-7185AF525553}"/>
              </a:ext>
            </a:extLst>
          </p:cNvPr>
          <p:cNvSpPr>
            <a:spLocks xmlns:a="http://schemas.openxmlformats.org/drawingml/2006/main" noGrp="1"/>
          </p:cNvSpPr>
          <p:nvPr/>
        </p:nvSpPr>
        <p:spPr>
          <a:xfrm xmlns:a="http://schemas.openxmlformats.org/drawingml/2006/main">
            <a:off x="609600" y="551497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7448"/>
                </a:solidFill>
                <a:latin typeface="Helvetica Neue"/>
                <a:ea typeface="Helvetica Neue"/>
                <a:cs typeface="Helvetica Neue"/>
              </a:defRPr>
            </a:defPPr>
          </a:lstStyle>
          <a:p xmlns:a="http://schemas.openxmlformats.org/drawingml/2006/main">
            <a:pPr>
              <a:defRPr sz="2100" b="1">
                <a:solidFill>
                  <a:srgbClr val="147448"/>
                </a:solidFill>
                <a:latin typeface="Helvetica Neue"/>
                <a:ea typeface="Helvetica Neue"/>
                <a:cs typeface="Helvetica Neue"/>
              </a:defRPr>
            </a:pPr>
            <a:r>
              <a:rPr sz="2100" b="1">
                <a:solidFill>
                  <a:srgbClr val="147448"/>
                </a:solidFill>
                <a:latin typeface="Helvetica Neue"/>
                <a:ea typeface="Helvetica Neue"/>
                <a:cs typeface="Helvetica Neue"/>
              </a:rPr>
              <a:t>Proposed test: activate existing fans around a release.</a:t>
            </a:r>
          </a:p>
        </p:txBody>
      </p:sp>
      <p:sp>
        <p:nvSpPr>
          <p:cNvPr id="11" name="">
            <a:extLst xmlns:a="http://schemas.openxmlformats.org/drawingml/2006/main">
              <a:ext uri="{FF2B5EF4-FFF2-40B4-BE49-F238E27FC236}">
                <a16:creationId xmlns:a16="http://schemas.microsoft.com/office/drawing/2014/main" id="{5A72BF3B-4EB1-4FB9-9EE3-E3CE4947E9E4}"/>
              </a:ext>
            </a:extLst>
          </p:cNvPr>
          <p:cNvSpPr>
            <a:spLocks xmlns:a="http://schemas.openxmlformats.org/drawingml/2006/main" noGrp="1"/>
          </p:cNvSpPr>
          <p:nvPr/>
        </p:nvSpPr>
        <p:spPr>
          <a:xfrm xmlns:a="http://schemas.openxmlformats.org/drawingml/2006/main">
            <a:off x="609600" y="5934075"/>
            <a:ext cx="1090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158"/>
                </a:solidFill>
                <a:latin typeface="Helvetica Neue"/>
                <a:ea typeface="Helvetica Neue"/>
                <a:cs typeface="Helvetica Neue"/>
              </a:defRPr>
            </a:defPPr>
          </a:lstStyle>
          <a:p xmlns:a="http://schemas.openxmlformats.org/drawingml/2006/main">
            <a:pPr>
              <a:defRPr sz="1575" b="0">
                <a:solidFill>
                  <a:srgbClr val="526158"/>
                </a:solidFill>
                <a:latin typeface="Helvetica Neue"/>
                <a:ea typeface="Helvetica Neue"/>
                <a:cs typeface="Helvetica Neue"/>
              </a:defRPr>
            </a:pPr>
            <a:r>
              <a:rPr sz="1575" b="0">
                <a:solidFill>
                  <a:srgbClr val="526158"/>
                </a:solidFill>
                <a:latin typeface="Helvetica Neue"/>
                <a:ea typeface="Helvetica Neue"/>
                <a:cs typeface="Helvetica Neue"/>
              </a:rPr>
              <a:t>The comparison holds other modeled variables constant. It does not measure campaign effectiveness.</a:t>
            </a:r>
          </a:p>
        </p:txBody>
      </p:sp>
    </p:spTree>
    <p:extLst>
      <p:ext uri="{BB962C8B-B14F-4D97-AF65-F5344CB8AC3E}">
        <p14:creationId xmlns:p14="http://schemas.microsoft.com/office/powerpoint/2010/main" val="169394805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3A718FD-242E-439F-8ED8-3EA64F052DFC}"/>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2820"/>
                </a:solidFill>
                <a:latin typeface="Helvetica Neue"/>
                <a:ea typeface="Helvetica Neue"/>
                <a:cs typeface="Helvetica Neue"/>
              </a:defRPr>
            </a:defPPr>
          </a:lstStyle>
          <a:p xmlns:a="http://schemas.openxmlformats.org/drawingml/2006/main">
            <a:pPr>
              <a:defRPr sz="3300" b="1">
                <a:solidFill>
                  <a:srgbClr val="182820"/>
                </a:solidFill>
                <a:latin typeface="Helvetica Neue"/>
                <a:ea typeface="Helvetica Neue"/>
                <a:cs typeface="Helvetica Neue"/>
              </a:defRPr>
            </a:pPr>
            <a:r>
              <a:rPr sz="3300" b="1">
                <a:solidFill>
                  <a:srgbClr val="182820"/>
                </a:solidFill>
                <a:latin typeface="Helvetica Neue"/>
                <a:ea typeface="Helvetica Neue"/>
                <a:cs typeface="Helvetica Neue"/>
              </a:rPr>
              <a:t>Pop: release size</a:t>
            </a:r>
          </a:p>
        </p:txBody>
      </p:sp>
      <p:sp>
        <p:nvSpPr>
          <p:cNvPr id="2" name="">
            <a:extLst xmlns:a="http://schemas.openxmlformats.org/drawingml/2006/main">
              <a:ext uri="{FF2B5EF4-FFF2-40B4-BE49-F238E27FC236}">
                <a16:creationId xmlns:a16="http://schemas.microsoft.com/office/drawing/2014/main" id="{8E00CA27-D7C5-4C13-937D-5091FC6D61C6}"/>
              </a:ext>
            </a:extLst>
          </p:cNvPr>
          <p:cNvSpPr>
            <a:spLocks xmlns:a="http://schemas.openxmlformats.org/drawingml/2006/main" noGrp="1"/>
          </p:cNvSpPr>
          <p:nvPr/>
        </p:nvSpPr>
        <p:spPr>
          <a:xfrm xmlns:a="http://schemas.openxmlformats.org/drawingml/2006/main">
            <a:off x="1116330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158"/>
                </a:solidFill>
                <a:latin typeface="Helvetica Neue"/>
                <a:ea typeface="Helvetica Neue"/>
                <a:cs typeface="Helvetica Neue"/>
              </a:defRPr>
            </a:defPPr>
          </a:lstStyle>
          <a:p xmlns:a="http://schemas.openxmlformats.org/drawingml/2006/main">
            <a:pPr>
              <a:defRPr sz="1275" b="0">
                <a:solidFill>
                  <a:srgbClr val="526158"/>
                </a:solidFill>
                <a:latin typeface="Helvetica Neue"/>
                <a:ea typeface="Helvetica Neue"/>
                <a:cs typeface="Helvetica Neue"/>
              </a:defRPr>
            </a:pPr>
            <a:r>
              <a:rPr sz="1275" b="0">
                <a:solidFill>
                  <a:srgbClr val="526158"/>
                </a:solidFill>
                <a:latin typeface="Helvetica Neue"/>
                <a:ea typeface="Helvetica Neue"/>
                <a:cs typeface="Helvetica Neue"/>
              </a:rPr>
              <a:t>7</a:t>
            </a:r>
          </a:p>
        </p:txBody>
      </p:sp>
      <p:sp>
        <p:nvSpPr>
          <p:cNvPr id="3" name="">
            <a:extLst xmlns:a="http://schemas.openxmlformats.org/drawingml/2006/main">
              <a:ext uri="{FF2B5EF4-FFF2-40B4-BE49-F238E27FC236}">
                <a16:creationId xmlns:a16="http://schemas.microsoft.com/office/drawing/2014/main" id="{E3B0EE00-3F80-40F4-8FA9-BBEA260C10D7}"/>
              </a:ext>
            </a:extLst>
          </p:cNvPr>
          <p:cNvSpPr>
            <a:spLocks xmlns:a="http://schemas.openxmlformats.org/drawingml/2006/main" noGrp="1"/>
          </p:cNvSpPr>
          <p:nvPr/>
        </p:nvSpPr>
        <p:spPr>
          <a:xfrm xmlns:a="http://schemas.openxmlformats.org/drawingml/2006/main">
            <a:off x="609600" y="1343025"/>
            <a:ext cx="10953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82820"/>
                </a:solidFill>
                <a:latin typeface="Helvetica Neue"/>
                <a:ea typeface="Helvetica Neue"/>
                <a:cs typeface="Helvetica Neue"/>
              </a:defRPr>
            </a:defPPr>
          </a:lstStyle>
          <a:p xmlns:a="http://schemas.openxmlformats.org/drawingml/2006/main">
            <a:pPr>
              <a:defRPr sz="2250" b="1">
                <a:solidFill>
                  <a:srgbClr val="182820"/>
                </a:solidFill>
                <a:latin typeface="Helvetica Neue"/>
                <a:ea typeface="Helvetica Neue"/>
                <a:cs typeface="Helvetica Neue"/>
              </a:defRPr>
            </a:pPr>
            <a:r>
              <a:rPr sz="2250" b="1">
                <a:solidFill>
                  <a:srgbClr val="182820"/>
                </a:solidFill>
                <a:latin typeface="Helvetica Neue"/>
                <a:ea typeface="Helvetica Neue"/>
                <a:cs typeface="Helvetica Neue"/>
              </a:rPr>
              <a:t>Tracks on one-track releases have higher modeled streaming levels.</a:t>
            </a:r>
          </a:p>
        </p:txBody>
      </p:sp>
      <p:graphicFrame>
        <p:nvGraphicFramePr>
          <p:cNvPr id="4" name="Chart">
            <a:extLst xmlns:a="http://schemas.openxmlformats.org/drawingml/2006/main">
              <a:ext uri="{FF2B5EF4-FFF2-40B4-BE49-F238E27FC236}">
                <a16:creationId xmlns:a16="http://schemas.microsoft.com/office/drawing/2014/main" id="{C44D3500-98AC-4C14-822A-B9B9D18691EF}"/>
              </a:ext>
            </a:extLst>
          </p:cNvPr>
          <p:cNvGraphicFramePr/>
          <p:nvPr/>
        </p:nvGraphicFramePr>
        <p:xfrm>
          <a:off xmlns:a="http://schemas.openxmlformats.org/drawingml/2006/main" x="609600" y="2324100"/>
          <a:ext xmlns:a="http://schemas.openxmlformats.org/drawingml/2006/main" cx="6715125" cy="3067050"/>
        </p:xfrm>
        <a:graphic xmlns:a="http://schemas.openxmlformats.org/drawingml/2006/main">
          <a:graphicData uri="http://schemas.openxmlformats.org/drawingml/2006/chart">
            <c:chart xmlns:r="http://schemas.openxmlformats.org/officeDocument/2006/relationships" xmlns:c="http://schemas.openxmlformats.org/drawingml/2006/chart" r:id="R0665fd8bd0c4451d"/>
          </a:graphicData>
        </a:graphic>
      </p:graphicFrame>
      <p:sp>
        <p:nvSpPr>
          <p:cNvPr id="5" name="">
            <a:extLst xmlns:a="http://schemas.openxmlformats.org/drawingml/2006/main">
              <a:ext uri="{FF2B5EF4-FFF2-40B4-BE49-F238E27FC236}">
                <a16:creationId xmlns:a16="http://schemas.microsoft.com/office/drawing/2014/main" id="{482CD294-CC25-4ABF-819D-E86342D6C697}"/>
              </a:ext>
            </a:extLst>
          </p:cNvPr>
          <p:cNvSpPr>
            <a:spLocks xmlns:a="http://schemas.openxmlformats.org/drawingml/2006/main" noGrp="1"/>
          </p:cNvSpPr>
          <p:nvPr/>
        </p:nvSpPr>
        <p:spPr>
          <a:xfrm xmlns:a="http://schemas.openxmlformats.org/drawingml/2006/main">
            <a:off x="609600" y="2000250"/>
            <a:ext cx="676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158"/>
                </a:solidFill>
                <a:latin typeface="Helvetica Neue"/>
                <a:ea typeface="Helvetica Neue"/>
                <a:cs typeface="Helvetica Neue"/>
              </a:defRPr>
            </a:defPPr>
          </a:lstStyle>
          <a:p xmlns:a="http://schemas.openxmlformats.org/drawingml/2006/main">
            <a:pPr>
              <a:defRPr sz="1650" b="0">
                <a:solidFill>
                  <a:srgbClr val="526158"/>
                </a:solidFill>
                <a:latin typeface="Helvetica Neue"/>
                <a:ea typeface="Helvetica Neue"/>
                <a:cs typeface="Helvetica Neue"/>
              </a:defRPr>
            </a:pPr>
            <a:r>
              <a:rPr sz="1650" b="0">
                <a:solidFill>
                  <a:srgbClr val="526158"/>
                </a:solidFill>
                <a:latin typeface="Helvetica Neue"/>
                <a:ea typeface="Helvetica Neue"/>
                <a:cs typeface="Helvetica Neue"/>
              </a:rPr>
              <a:t>Fitted geometric-mean streams</a:t>
            </a:r>
          </a:p>
        </p:txBody>
      </p:sp>
      <p:sp>
        <p:nvSpPr>
          <p:cNvPr id="6" name="">
            <a:extLst xmlns:a="http://schemas.openxmlformats.org/drawingml/2006/main">
              <a:ext uri="{FF2B5EF4-FFF2-40B4-BE49-F238E27FC236}">
                <a16:creationId xmlns:a16="http://schemas.microsoft.com/office/drawing/2014/main" id="{8453B336-39EC-471A-B8A7-3F68FF2DEEF0}"/>
              </a:ext>
            </a:extLst>
          </p:cNvPr>
          <p:cNvSpPr>
            <a:spLocks xmlns:a="http://schemas.openxmlformats.org/drawingml/2006/main" noGrp="1"/>
          </p:cNvSpPr>
          <p:nvPr/>
        </p:nvSpPr>
        <p:spPr>
          <a:xfrm xmlns:a="http://schemas.openxmlformats.org/drawingml/2006/main">
            <a:off x="7905750" y="2228850"/>
            <a:ext cx="35623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250" b="1">
                <a:solidFill>
                  <a:srgbClr val="147448"/>
                </a:solidFill>
                <a:latin typeface="Helvetica Neue"/>
                <a:ea typeface="Helvetica Neue"/>
                <a:cs typeface="Helvetica Neue"/>
              </a:defRPr>
            </a:defPPr>
          </a:lstStyle>
          <a:p xmlns:a="http://schemas.openxmlformats.org/drawingml/2006/main">
            <a:pPr>
              <a:defRPr sz="5250" b="1">
                <a:solidFill>
                  <a:srgbClr val="147448"/>
                </a:solidFill>
                <a:latin typeface="Helvetica Neue"/>
                <a:ea typeface="Helvetica Neue"/>
                <a:cs typeface="Helvetica Neue"/>
              </a:defRPr>
            </a:pPr>
            <a:r>
              <a:rPr sz="5250" b="1">
                <a:solidFill>
                  <a:srgbClr val="147448"/>
                </a:solidFill>
                <a:latin typeface="Helvetica Neue"/>
                <a:ea typeface="Helvetica Neue"/>
                <a:cs typeface="Helvetica Neue"/>
              </a:rPr>
              <a:t>+31.5%</a:t>
            </a:r>
          </a:p>
        </p:txBody>
      </p:sp>
      <p:sp>
        <p:nvSpPr>
          <p:cNvPr id="7" name="">
            <a:extLst xmlns:a="http://schemas.openxmlformats.org/drawingml/2006/main">
              <a:ext uri="{FF2B5EF4-FFF2-40B4-BE49-F238E27FC236}">
                <a16:creationId xmlns:a16="http://schemas.microsoft.com/office/drawing/2014/main" id="{9FB77C2F-2866-4E95-A7BB-452F64A0CF19}"/>
              </a:ext>
            </a:extLst>
          </p:cNvPr>
          <p:cNvSpPr>
            <a:spLocks xmlns:a="http://schemas.openxmlformats.org/drawingml/2006/main" noGrp="1"/>
          </p:cNvSpPr>
          <p:nvPr/>
        </p:nvSpPr>
        <p:spPr>
          <a:xfrm xmlns:a="http://schemas.openxmlformats.org/drawingml/2006/main">
            <a:off x="7905750" y="3352800"/>
            <a:ext cx="3562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158"/>
                </a:solidFill>
                <a:latin typeface="Helvetica Neue"/>
                <a:ea typeface="Helvetica Neue"/>
                <a:cs typeface="Helvetica Neue"/>
              </a:defRPr>
            </a:defPPr>
          </a:lstStyle>
          <a:p xmlns:a="http://schemas.openxmlformats.org/drawingml/2006/main">
            <a:pPr>
              <a:defRPr sz="1950" b="0">
                <a:solidFill>
                  <a:srgbClr val="526158"/>
                </a:solidFill>
                <a:latin typeface="Helvetica Neue"/>
                <a:ea typeface="Helvetica Neue"/>
                <a:cs typeface="Helvetica Neue"/>
              </a:defRPr>
            </a:pPr>
            <a:r>
              <a:rPr sz="1950" b="0">
                <a:solidFill>
                  <a:srgbClr val="526158"/>
                </a:solidFill>
                <a:latin typeface="Helvetica Neue"/>
                <a:ea typeface="Helvetica Neue"/>
                <a:cs typeface="Helvetica Neue"/>
              </a:rPr>
              <a:t>95% robust interval</a:t>
            </a:r>
          </a:p>
        </p:txBody>
      </p:sp>
      <p:sp>
        <p:nvSpPr>
          <p:cNvPr id="8" name="">
            <a:extLst xmlns:a="http://schemas.openxmlformats.org/drawingml/2006/main">
              <a:ext uri="{FF2B5EF4-FFF2-40B4-BE49-F238E27FC236}">
                <a16:creationId xmlns:a16="http://schemas.microsoft.com/office/drawing/2014/main" id="{E82D55D6-F772-4BE6-91FA-17455C3BEE95}"/>
              </a:ext>
            </a:extLst>
          </p:cNvPr>
          <p:cNvSpPr>
            <a:spLocks xmlns:a="http://schemas.openxmlformats.org/drawingml/2006/main" noGrp="1"/>
          </p:cNvSpPr>
          <p:nvPr/>
        </p:nvSpPr>
        <p:spPr>
          <a:xfrm xmlns:a="http://schemas.openxmlformats.org/drawingml/2006/main">
            <a:off x="7905750" y="3781425"/>
            <a:ext cx="3562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82820"/>
                </a:solidFill>
                <a:latin typeface="Helvetica Neue"/>
                <a:ea typeface="Helvetica Neue"/>
                <a:cs typeface="Helvetica Neue"/>
              </a:defRPr>
            </a:defPPr>
          </a:lstStyle>
          <a:p xmlns:a="http://schemas.openxmlformats.org/drawingml/2006/main">
            <a:pPr>
              <a:defRPr sz="2325" b="1">
                <a:solidFill>
                  <a:srgbClr val="182820"/>
                </a:solidFill>
                <a:latin typeface="Helvetica Neue"/>
                <a:ea typeface="Helvetica Neue"/>
                <a:cs typeface="Helvetica Neue"/>
              </a:defRPr>
            </a:pPr>
            <a:r>
              <a:rPr sz="2325" b="1">
                <a:solidFill>
                  <a:srgbClr val="182820"/>
                </a:solidFill>
                <a:latin typeface="Helvetica Neue"/>
                <a:ea typeface="Helvetica Neue"/>
                <a:cs typeface="Helvetica Neue"/>
              </a:rPr>
              <a:t>+13.2% to +52.7%</a:t>
            </a:r>
          </a:p>
        </p:txBody>
      </p:sp>
      <p:sp>
        <p:nvSpPr>
          <p:cNvPr id="9" name="">
            <a:extLst xmlns:a="http://schemas.openxmlformats.org/drawingml/2006/main">
              <a:ext uri="{FF2B5EF4-FFF2-40B4-BE49-F238E27FC236}">
                <a16:creationId xmlns:a16="http://schemas.microsoft.com/office/drawing/2014/main" id="{F74AC2FE-60FE-49D5-B1B6-2B8130FED0CD}"/>
              </a:ext>
            </a:extLst>
          </p:cNvPr>
          <p:cNvSpPr>
            <a:spLocks xmlns:a="http://schemas.openxmlformats.org/drawingml/2006/main" noGrp="1"/>
          </p:cNvSpPr>
          <p:nvPr/>
        </p:nvSpPr>
        <p:spPr>
          <a:xfrm xmlns:a="http://schemas.openxmlformats.org/drawingml/2006/main">
            <a:off x="7905750" y="4533900"/>
            <a:ext cx="35623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2820"/>
                </a:solidFill>
                <a:latin typeface="Helvetica Neue"/>
                <a:ea typeface="Helvetica Neue"/>
                <a:cs typeface="Helvetica Neue"/>
              </a:defRPr>
            </a:defPPr>
          </a:lstStyle>
          <a:p xmlns:a="http://schemas.openxmlformats.org/drawingml/2006/main">
            <a:pPr>
              <a:defRPr sz="2025" b="0">
                <a:solidFill>
                  <a:srgbClr val="182820"/>
                </a:solidFill>
                <a:latin typeface="Helvetica Neue"/>
                <a:ea typeface="Helvetica Neue"/>
                <a:cs typeface="Helvetica Neue"/>
              </a:defRPr>
            </a:pPr>
            <a:r>
              <a:rPr sz="2025" b="0">
                <a:solidFill>
                  <a:srgbClr val="182820"/>
                </a:solidFill>
                <a:latin typeface="Helvetica Neue"/>
                <a:ea typeface="Helvetica Neue"/>
                <a:cs typeface="Helvetica Neue"/>
              </a:rPr>
              <a:t>n = 1,633</a:t>
            </a:r>
          </a:p>
          <a:p xmlns:a="http://schemas.openxmlformats.org/drawingml/2006/main">
            <a:pPr>
              <a:defRPr sz="2025" b="0">
                <a:solidFill>
                  <a:srgbClr val="182820"/>
                </a:solidFill>
                <a:latin typeface="Helvetica Neue"/>
                <a:ea typeface="Helvetica Neue"/>
                <a:cs typeface="Helvetica Neue"/>
              </a:defRPr>
            </a:pPr>
            <a:r>
              <a:rPr sz="2025" b="0">
                <a:solidFill>
                  <a:srgbClr val="182820"/>
                </a:solidFill>
                <a:latin typeface="Helvetica Neue"/>
                <a:ea typeface="Helvetica Neue"/>
                <a:cs typeface="Helvetica Neue"/>
              </a:rPr>
              <a:t>Held-out R² = 3.0%</a:t>
            </a:r>
          </a:p>
        </p:txBody>
      </p:sp>
      <p:sp>
        <p:nvSpPr>
          <p:cNvPr id="10" name="">
            <a:extLst xmlns:a="http://schemas.openxmlformats.org/drawingml/2006/main">
              <a:ext uri="{FF2B5EF4-FFF2-40B4-BE49-F238E27FC236}">
                <a16:creationId xmlns:a16="http://schemas.microsoft.com/office/drawing/2014/main" id="{393E3F21-5254-4754-8CD6-E06674395F6F}"/>
              </a:ext>
            </a:extLst>
          </p:cNvPr>
          <p:cNvSpPr>
            <a:spLocks xmlns:a="http://schemas.openxmlformats.org/drawingml/2006/main" noGrp="1"/>
          </p:cNvSpPr>
          <p:nvPr/>
        </p:nvSpPr>
        <p:spPr>
          <a:xfrm xmlns:a="http://schemas.openxmlformats.org/drawingml/2006/main">
            <a:off x="609600" y="551497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7448"/>
                </a:solidFill>
                <a:latin typeface="Helvetica Neue"/>
                <a:ea typeface="Helvetica Neue"/>
                <a:cs typeface="Helvetica Neue"/>
              </a:defRPr>
            </a:defPPr>
          </a:lstStyle>
          <a:p xmlns:a="http://schemas.openxmlformats.org/drawingml/2006/main">
            <a:pPr>
              <a:defRPr sz="2100" b="1">
                <a:solidFill>
                  <a:srgbClr val="147448"/>
                </a:solidFill>
                <a:latin typeface="Helvetica Neue"/>
                <a:ea typeface="Helvetica Neue"/>
                <a:cs typeface="Helvetica Neue"/>
              </a:defRPr>
            </a:pPr>
            <a:r>
              <a:rPr sz="2100" b="1">
                <a:solidFill>
                  <a:srgbClr val="147448"/>
                </a:solidFill>
                <a:latin typeface="Helvetica Neue"/>
                <a:ea typeface="Helvetica Neue"/>
                <a:cs typeface="Helvetica Neue"/>
              </a:rPr>
              <a:t>Proposed test: release a lead track before the larger project.</a:t>
            </a:r>
          </a:p>
        </p:txBody>
      </p:sp>
      <p:sp>
        <p:nvSpPr>
          <p:cNvPr id="11" name="">
            <a:extLst xmlns:a="http://schemas.openxmlformats.org/drawingml/2006/main">
              <a:ext uri="{FF2B5EF4-FFF2-40B4-BE49-F238E27FC236}">
                <a16:creationId xmlns:a16="http://schemas.microsoft.com/office/drawing/2014/main" id="{C1298468-7EEE-46C8-80A8-2B4C264F2BB4}"/>
              </a:ext>
            </a:extLst>
          </p:cNvPr>
          <p:cNvSpPr>
            <a:spLocks xmlns:a="http://schemas.openxmlformats.org/drawingml/2006/main" noGrp="1"/>
          </p:cNvSpPr>
          <p:nvPr/>
        </p:nvSpPr>
        <p:spPr>
          <a:xfrm xmlns:a="http://schemas.openxmlformats.org/drawingml/2006/main">
            <a:off x="609600" y="5934075"/>
            <a:ext cx="1090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158"/>
                </a:solidFill>
                <a:latin typeface="Helvetica Neue"/>
                <a:ea typeface="Helvetica Neue"/>
                <a:cs typeface="Helvetica Neue"/>
              </a:defRPr>
            </a:defPPr>
          </a:lstStyle>
          <a:p xmlns:a="http://schemas.openxmlformats.org/drawingml/2006/main">
            <a:pPr>
              <a:defRPr sz="1575" b="0">
                <a:solidFill>
                  <a:srgbClr val="526158"/>
                </a:solidFill>
                <a:latin typeface="Helvetica Neue"/>
                <a:ea typeface="Helvetica Neue"/>
                <a:cs typeface="Helvetica Neue"/>
              </a:defRPr>
            </a:pPr>
            <a:r>
              <a:rPr sz="1575" b="0">
                <a:solidFill>
                  <a:srgbClr val="526158"/>
                </a:solidFill>
                <a:latin typeface="Helvetica Neue"/>
                <a:ea typeface="Helvetica Neue"/>
                <a:cs typeface="Helvetica Neue"/>
              </a:rPr>
              <a:t>Release size does not directly identify rollout strategy. Measure total project streams in the pilot.</a:t>
            </a:r>
          </a:p>
        </p:txBody>
      </p:sp>
    </p:spTree>
    <p:extLst>
      <p:ext uri="{BB962C8B-B14F-4D97-AF65-F5344CB8AC3E}">
        <p14:creationId xmlns:p14="http://schemas.microsoft.com/office/powerpoint/2010/main" val="98735780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B4555E1-0A65-4A98-929E-2FC0077A6FBC}"/>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2820"/>
                </a:solidFill>
                <a:latin typeface="Helvetica Neue"/>
                <a:ea typeface="Helvetica Neue"/>
                <a:cs typeface="Helvetica Neue"/>
              </a:defRPr>
            </a:defPPr>
          </a:lstStyle>
          <a:p xmlns:a="http://schemas.openxmlformats.org/drawingml/2006/main">
            <a:pPr>
              <a:defRPr sz="3300" b="1">
                <a:solidFill>
                  <a:srgbClr val="182820"/>
                </a:solidFill>
                <a:latin typeface="Helvetica Neue"/>
                <a:ea typeface="Helvetica Neue"/>
                <a:cs typeface="Helvetica Neue"/>
              </a:defRPr>
            </a:pPr>
            <a:r>
              <a:rPr sz="3300" b="1">
                <a:solidFill>
                  <a:srgbClr val="182820"/>
                </a:solidFill>
                <a:latin typeface="Helvetica Neue"/>
                <a:ea typeface="Helvetica Neue"/>
                <a:cs typeface="Helvetica Neue"/>
              </a:rPr>
              <a:t>Latin: track duration</a:t>
            </a:r>
          </a:p>
        </p:txBody>
      </p:sp>
      <p:sp>
        <p:nvSpPr>
          <p:cNvPr id="2" name="">
            <a:extLst xmlns:a="http://schemas.openxmlformats.org/drawingml/2006/main">
              <a:ext uri="{FF2B5EF4-FFF2-40B4-BE49-F238E27FC236}">
                <a16:creationId xmlns:a16="http://schemas.microsoft.com/office/drawing/2014/main" id="{D4C8FC76-ED60-4980-A3F3-5A0D6E200DB8}"/>
              </a:ext>
            </a:extLst>
          </p:cNvPr>
          <p:cNvSpPr>
            <a:spLocks xmlns:a="http://schemas.openxmlformats.org/drawingml/2006/main" noGrp="1"/>
          </p:cNvSpPr>
          <p:nvPr/>
        </p:nvSpPr>
        <p:spPr>
          <a:xfrm xmlns:a="http://schemas.openxmlformats.org/drawingml/2006/main">
            <a:off x="1116330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158"/>
                </a:solidFill>
                <a:latin typeface="Helvetica Neue"/>
                <a:ea typeface="Helvetica Neue"/>
                <a:cs typeface="Helvetica Neue"/>
              </a:defRPr>
            </a:defPPr>
          </a:lstStyle>
          <a:p xmlns:a="http://schemas.openxmlformats.org/drawingml/2006/main">
            <a:pPr>
              <a:defRPr sz="1275" b="0">
                <a:solidFill>
                  <a:srgbClr val="526158"/>
                </a:solidFill>
                <a:latin typeface="Helvetica Neue"/>
                <a:ea typeface="Helvetica Neue"/>
                <a:cs typeface="Helvetica Neue"/>
              </a:defRPr>
            </a:pPr>
            <a:r>
              <a:rPr sz="1275" b="0">
                <a:solidFill>
                  <a:srgbClr val="526158"/>
                </a:solidFill>
                <a:latin typeface="Helvetica Neue"/>
                <a:ea typeface="Helvetica Neue"/>
                <a:cs typeface="Helvetica Neue"/>
              </a:rPr>
              <a:t>8</a:t>
            </a:r>
          </a:p>
        </p:txBody>
      </p:sp>
      <p:sp>
        <p:nvSpPr>
          <p:cNvPr id="3" name="">
            <a:extLst xmlns:a="http://schemas.openxmlformats.org/drawingml/2006/main">
              <a:ext uri="{FF2B5EF4-FFF2-40B4-BE49-F238E27FC236}">
                <a16:creationId xmlns:a16="http://schemas.microsoft.com/office/drawing/2014/main" id="{646E38C1-5013-442F-8680-852171B19F9D}"/>
              </a:ext>
            </a:extLst>
          </p:cNvPr>
          <p:cNvSpPr>
            <a:spLocks xmlns:a="http://schemas.openxmlformats.org/drawingml/2006/main" noGrp="1"/>
          </p:cNvSpPr>
          <p:nvPr/>
        </p:nvSpPr>
        <p:spPr>
          <a:xfrm xmlns:a="http://schemas.openxmlformats.org/drawingml/2006/main">
            <a:off x="609600" y="1343025"/>
            <a:ext cx="10953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82820"/>
                </a:solidFill>
                <a:latin typeface="Helvetica Neue"/>
                <a:ea typeface="Helvetica Neue"/>
                <a:cs typeface="Helvetica Neue"/>
              </a:defRPr>
            </a:defPPr>
          </a:lstStyle>
          <a:p xmlns:a="http://schemas.openxmlformats.org/drawingml/2006/main">
            <a:pPr>
              <a:defRPr sz="2250" b="1">
                <a:solidFill>
                  <a:srgbClr val="182820"/>
                </a:solidFill>
                <a:latin typeface="Helvetica Neue"/>
                <a:ea typeface="Helvetica Neue"/>
                <a:cs typeface="Helvetica Neue"/>
              </a:defRPr>
            </a:pPr>
            <a:r>
              <a:rPr sz="2250" b="1">
                <a:solidFill>
                  <a:srgbClr val="182820"/>
                </a:solidFill>
                <a:latin typeface="Helvetica Neue"/>
                <a:ea typeface="Helvetica Neue"/>
                <a:cs typeface="Helvetica Neue"/>
              </a:rPr>
              <a:t>Shorter tracks show a streaming advantage worth testing.</a:t>
            </a:r>
          </a:p>
        </p:txBody>
      </p:sp>
      <p:graphicFrame>
        <p:nvGraphicFramePr>
          <p:cNvPr id="4" name="Chart">
            <a:extLst xmlns:a="http://schemas.openxmlformats.org/drawingml/2006/main">
              <a:ext uri="{FF2B5EF4-FFF2-40B4-BE49-F238E27FC236}">
                <a16:creationId xmlns:a16="http://schemas.microsoft.com/office/drawing/2014/main" id="{40264697-3DAA-404C-8652-009FFC9B3FE5}"/>
              </a:ext>
            </a:extLst>
          </p:cNvPr>
          <p:cNvGraphicFramePr/>
          <p:nvPr/>
        </p:nvGraphicFramePr>
        <p:xfrm>
          <a:off xmlns:a="http://schemas.openxmlformats.org/drawingml/2006/main" x="609600" y="2324100"/>
          <a:ext xmlns:a="http://schemas.openxmlformats.org/drawingml/2006/main" cx="6715125" cy="3067050"/>
        </p:xfrm>
        <a:graphic xmlns:a="http://schemas.openxmlformats.org/drawingml/2006/main">
          <a:graphicData uri="http://schemas.openxmlformats.org/drawingml/2006/chart">
            <c:chart xmlns:r="http://schemas.openxmlformats.org/officeDocument/2006/relationships" xmlns:c="http://schemas.openxmlformats.org/drawingml/2006/chart" r:id="R70e921c54674437b"/>
          </a:graphicData>
        </a:graphic>
      </p:graphicFrame>
      <p:sp>
        <p:nvSpPr>
          <p:cNvPr id="5" name="">
            <a:extLst xmlns:a="http://schemas.openxmlformats.org/drawingml/2006/main">
              <a:ext uri="{FF2B5EF4-FFF2-40B4-BE49-F238E27FC236}">
                <a16:creationId xmlns:a16="http://schemas.microsoft.com/office/drawing/2014/main" id="{E8498B04-903C-4D64-91F8-ADA0228CB47B}"/>
              </a:ext>
            </a:extLst>
          </p:cNvPr>
          <p:cNvSpPr>
            <a:spLocks xmlns:a="http://schemas.openxmlformats.org/drawingml/2006/main" noGrp="1"/>
          </p:cNvSpPr>
          <p:nvPr/>
        </p:nvSpPr>
        <p:spPr>
          <a:xfrm xmlns:a="http://schemas.openxmlformats.org/drawingml/2006/main">
            <a:off x="609600" y="2000250"/>
            <a:ext cx="676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158"/>
                </a:solidFill>
                <a:latin typeface="Helvetica Neue"/>
                <a:ea typeface="Helvetica Neue"/>
                <a:cs typeface="Helvetica Neue"/>
              </a:defRPr>
            </a:defPPr>
          </a:lstStyle>
          <a:p xmlns:a="http://schemas.openxmlformats.org/drawingml/2006/main">
            <a:pPr>
              <a:defRPr sz="1650" b="0">
                <a:solidFill>
                  <a:srgbClr val="526158"/>
                </a:solidFill>
                <a:latin typeface="Helvetica Neue"/>
                <a:ea typeface="Helvetica Neue"/>
                <a:cs typeface="Helvetica Neue"/>
              </a:defRPr>
            </a:pPr>
            <a:r>
              <a:rPr sz="1650" b="0">
                <a:solidFill>
                  <a:srgbClr val="526158"/>
                </a:solidFill>
                <a:latin typeface="Helvetica Neue"/>
                <a:ea typeface="Helvetica Neue"/>
                <a:cs typeface="Helvetica Neue"/>
              </a:rPr>
              <a:t>Fitted geometric-mean streams</a:t>
            </a:r>
          </a:p>
        </p:txBody>
      </p:sp>
      <p:sp>
        <p:nvSpPr>
          <p:cNvPr id="6" name="">
            <a:extLst xmlns:a="http://schemas.openxmlformats.org/drawingml/2006/main">
              <a:ext uri="{FF2B5EF4-FFF2-40B4-BE49-F238E27FC236}">
                <a16:creationId xmlns:a16="http://schemas.microsoft.com/office/drawing/2014/main" id="{3951ACD8-3F29-4806-A28E-90FE40075F2C}"/>
              </a:ext>
            </a:extLst>
          </p:cNvPr>
          <p:cNvSpPr>
            <a:spLocks xmlns:a="http://schemas.openxmlformats.org/drawingml/2006/main" noGrp="1"/>
          </p:cNvSpPr>
          <p:nvPr/>
        </p:nvSpPr>
        <p:spPr>
          <a:xfrm xmlns:a="http://schemas.openxmlformats.org/drawingml/2006/main">
            <a:off x="7905750" y="2228850"/>
            <a:ext cx="35623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250" b="1">
                <a:solidFill>
                  <a:srgbClr val="147448"/>
                </a:solidFill>
                <a:latin typeface="Helvetica Neue"/>
                <a:ea typeface="Helvetica Neue"/>
                <a:cs typeface="Helvetica Neue"/>
              </a:defRPr>
            </a:defPPr>
          </a:lstStyle>
          <a:p xmlns:a="http://schemas.openxmlformats.org/drawingml/2006/main">
            <a:pPr>
              <a:defRPr sz="5250" b="1">
                <a:solidFill>
                  <a:srgbClr val="147448"/>
                </a:solidFill>
                <a:latin typeface="Helvetica Neue"/>
                <a:ea typeface="Helvetica Neue"/>
                <a:cs typeface="Helvetica Neue"/>
              </a:defRPr>
            </a:pPr>
            <a:r>
              <a:rPr sz="5250" b="1">
                <a:solidFill>
                  <a:srgbClr val="147448"/>
                </a:solidFill>
                <a:latin typeface="Helvetica Neue"/>
                <a:ea typeface="Helvetica Neue"/>
                <a:cs typeface="Helvetica Neue"/>
              </a:rPr>
              <a:t>+22.4%</a:t>
            </a:r>
          </a:p>
        </p:txBody>
      </p:sp>
      <p:sp>
        <p:nvSpPr>
          <p:cNvPr id="7" name="">
            <a:extLst xmlns:a="http://schemas.openxmlformats.org/drawingml/2006/main">
              <a:ext uri="{FF2B5EF4-FFF2-40B4-BE49-F238E27FC236}">
                <a16:creationId xmlns:a16="http://schemas.microsoft.com/office/drawing/2014/main" id="{A57D3C70-D0B7-42E6-B0C4-98A205251903}"/>
              </a:ext>
            </a:extLst>
          </p:cNvPr>
          <p:cNvSpPr>
            <a:spLocks xmlns:a="http://schemas.openxmlformats.org/drawingml/2006/main" noGrp="1"/>
          </p:cNvSpPr>
          <p:nvPr/>
        </p:nvSpPr>
        <p:spPr>
          <a:xfrm xmlns:a="http://schemas.openxmlformats.org/drawingml/2006/main">
            <a:off x="7905750" y="3352800"/>
            <a:ext cx="3562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158"/>
                </a:solidFill>
                <a:latin typeface="Helvetica Neue"/>
                <a:ea typeface="Helvetica Neue"/>
                <a:cs typeface="Helvetica Neue"/>
              </a:defRPr>
            </a:defPPr>
          </a:lstStyle>
          <a:p xmlns:a="http://schemas.openxmlformats.org/drawingml/2006/main">
            <a:pPr>
              <a:defRPr sz="1950" b="0">
                <a:solidFill>
                  <a:srgbClr val="526158"/>
                </a:solidFill>
                <a:latin typeface="Helvetica Neue"/>
                <a:ea typeface="Helvetica Neue"/>
                <a:cs typeface="Helvetica Neue"/>
              </a:defRPr>
            </a:pPr>
            <a:r>
              <a:rPr sz="1950" b="0">
                <a:solidFill>
                  <a:srgbClr val="526158"/>
                </a:solidFill>
                <a:latin typeface="Helvetica Neue"/>
                <a:ea typeface="Helvetica Neue"/>
                <a:cs typeface="Helvetica Neue"/>
              </a:rPr>
              <a:t>95% robust interval</a:t>
            </a:r>
          </a:p>
        </p:txBody>
      </p:sp>
      <p:sp>
        <p:nvSpPr>
          <p:cNvPr id="8" name="">
            <a:extLst xmlns:a="http://schemas.openxmlformats.org/drawingml/2006/main">
              <a:ext uri="{FF2B5EF4-FFF2-40B4-BE49-F238E27FC236}">
                <a16:creationId xmlns:a16="http://schemas.microsoft.com/office/drawing/2014/main" id="{71D49C42-0F67-4AD8-BA8A-CE2050999A36}"/>
              </a:ext>
            </a:extLst>
          </p:cNvPr>
          <p:cNvSpPr>
            <a:spLocks xmlns:a="http://schemas.openxmlformats.org/drawingml/2006/main" noGrp="1"/>
          </p:cNvSpPr>
          <p:nvPr/>
        </p:nvSpPr>
        <p:spPr>
          <a:xfrm xmlns:a="http://schemas.openxmlformats.org/drawingml/2006/main">
            <a:off x="7905750" y="3781425"/>
            <a:ext cx="3562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82820"/>
                </a:solidFill>
                <a:latin typeface="Helvetica Neue"/>
                <a:ea typeface="Helvetica Neue"/>
                <a:cs typeface="Helvetica Neue"/>
              </a:defRPr>
            </a:defPPr>
          </a:lstStyle>
          <a:p xmlns:a="http://schemas.openxmlformats.org/drawingml/2006/main">
            <a:pPr>
              <a:defRPr sz="2325" b="1">
                <a:solidFill>
                  <a:srgbClr val="182820"/>
                </a:solidFill>
                <a:latin typeface="Helvetica Neue"/>
                <a:ea typeface="Helvetica Neue"/>
                <a:cs typeface="Helvetica Neue"/>
              </a:defRPr>
            </a:pPr>
            <a:r>
              <a:rPr sz="2325" b="1">
                <a:solidFill>
                  <a:srgbClr val="182820"/>
                </a:solidFill>
                <a:latin typeface="Helvetica Neue"/>
                <a:ea typeface="Helvetica Neue"/>
                <a:cs typeface="Helvetica Neue"/>
              </a:rPr>
              <a:t>+9.7% to +36.6%</a:t>
            </a:r>
          </a:p>
        </p:txBody>
      </p:sp>
      <p:sp>
        <p:nvSpPr>
          <p:cNvPr id="9" name="">
            <a:extLst xmlns:a="http://schemas.openxmlformats.org/drawingml/2006/main">
              <a:ext uri="{FF2B5EF4-FFF2-40B4-BE49-F238E27FC236}">
                <a16:creationId xmlns:a16="http://schemas.microsoft.com/office/drawing/2014/main" id="{889B1272-783F-4066-AD93-AE282B1A9128}"/>
              </a:ext>
            </a:extLst>
          </p:cNvPr>
          <p:cNvSpPr>
            <a:spLocks xmlns:a="http://schemas.openxmlformats.org/drawingml/2006/main" noGrp="1"/>
          </p:cNvSpPr>
          <p:nvPr/>
        </p:nvSpPr>
        <p:spPr>
          <a:xfrm xmlns:a="http://schemas.openxmlformats.org/drawingml/2006/main">
            <a:off x="7905750" y="4533900"/>
            <a:ext cx="35623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2820"/>
                </a:solidFill>
                <a:latin typeface="Helvetica Neue"/>
                <a:ea typeface="Helvetica Neue"/>
                <a:cs typeface="Helvetica Neue"/>
              </a:defRPr>
            </a:defPPr>
          </a:lstStyle>
          <a:p xmlns:a="http://schemas.openxmlformats.org/drawingml/2006/main">
            <a:pPr>
              <a:defRPr sz="2025" b="0">
                <a:solidFill>
                  <a:srgbClr val="182820"/>
                </a:solidFill>
                <a:latin typeface="Helvetica Neue"/>
                <a:ea typeface="Helvetica Neue"/>
                <a:cs typeface="Helvetica Neue"/>
              </a:defRPr>
            </a:pPr>
            <a:r>
              <a:rPr sz="2025" b="0">
                <a:solidFill>
                  <a:srgbClr val="182820"/>
                </a:solidFill>
                <a:latin typeface="Helvetica Neue"/>
                <a:ea typeface="Helvetica Neue"/>
                <a:cs typeface="Helvetica Neue"/>
              </a:rPr>
              <a:t>n = 342</a:t>
            </a:r>
          </a:p>
          <a:p xmlns:a="http://schemas.openxmlformats.org/drawingml/2006/main">
            <a:pPr>
              <a:defRPr sz="2025" b="0">
                <a:solidFill>
                  <a:srgbClr val="182820"/>
                </a:solidFill>
                <a:latin typeface="Helvetica Neue"/>
                <a:ea typeface="Helvetica Neue"/>
                <a:cs typeface="Helvetica Neue"/>
              </a:defRPr>
            </a:pPr>
            <a:r>
              <a:rPr sz="2025" b="0">
                <a:solidFill>
                  <a:srgbClr val="182820"/>
                </a:solidFill>
                <a:latin typeface="Helvetica Neue"/>
                <a:ea typeface="Helvetica Neue"/>
                <a:cs typeface="Helvetica Neue"/>
              </a:rPr>
              <a:t>Held-out R² = 9.3%</a:t>
            </a:r>
          </a:p>
        </p:txBody>
      </p:sp>
      <p:sp>
        <p:nvSpPr>
          <p:cNvPr id="10" name="">
            <a:extLst xmlns:a="http://schemas.openxmlformats.org/drawingml/2006/main">
              <a:ext uri="{FF2B5EF4-FFF2-40B4-BE49-F238E27FC236}">
                <a16:creationId xmlns:a16="http://schemas.microsoft.com/office/drawing/2014/main" id="{6C9C0661-1AFC-4118-B3B9-6F361102CC22}"/>
              </a:ext>
            </a:extLst>
          </p:cNvPr>
          <p:cNvSpPr>
            <a:spLocks xmlns:a="http://schemas.openxmlformats.org/drawingml/2006/main" noGrp="1"/>
          </p:cNvSpPr>
          <p:nvPr/>
        </p:nvSpPr>
        <p:spPr>
          <a:xfrm xmlns:a="http://schemas.openxmlformats.org/drawingml/2006/main">
            <a:off x="609600" y="551497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7448"/>
                </a:solidFill>
                <a:latin typeface="Helvetica Neue"/>
                <a:ea typeface="Helvetica Neue"/>
                <a:cs typeface="Helvetica Neue"/>
              </a:defRPr>
            </a:defPPr>
          </a:lstStyle>
          <a:p xmlns:a="http://schemas.openxmlformats.org/drawingml/2006/main">
            <a:pPr>
              <a:defRPr sz="2100" b="1">
                <a:solidFill>
                  <a:srgbClr val="147448"/>
                </a:solidFill>
                <a:latin typeface="Helvetica Neue"/>
                <a:ea typeface="Helvetica Neue"/>
                <a:cs typeface="Helvetica Neue"/>
              </a:defRPr>
            </a:pPr>
            <a:r>
              <a:rPr sz="2100" b="1">
                <a:solidFill>
                  <a:srgbClr val="147448"/>
                </a:solidFill>
                <a:latin typeface="Helvetica Neue"/>
                <a:ea typeface="Helvetica Neue"/>
                <a:cs typeface="Helvetica Neue"/>
              </a:rPr>
              <a:t>Proposed test: compare a shorter edit with the original.</a:t>
            </a:r>
          </a:p>
        </p:txBody>
      </p:sp>
      <p:sp>
        <p:nvSpPr>
          <p:cNvPr id="11" name="">
            <a:extLst xmlns:a="http://schemas.openxmlformats.org/drawingml/2006/main">
              <a:ext uri="{FF2B5EF4-FFF2-40B4-BE49-F238E27FC236}">
                <a16:creationId xmlns:a16="http://schemas.microsoft.com/office/drawing/2014/main" id="{2E09B409-4880-43FB-AADD-9F69300E853F}"/>
              </a:ext>
            </a:extLst>
          </p:cNvPr>
          <p:cNvSpPr>
            <a:spLocks xmlns:a="http://schemas.openxmlformats.org/drawingml/2006/main" noGrp="1"/>
          </p:cNvSpPr>
          <p:nvPr/>
        </p:nvSpPr>
        <p:spPr>
          <a:xfrm xmlns:a="http://schemas.openxmlformats.org/drawingml/2006/main">
            <a:off x="609600" y="5934075"/>
            <a:ext cx="1090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158"/>
                </a:solidFill>
                <a:latin typeface="Helvetica Neue"/>
                <a:ea typeface="Helvetica Neue"/>
                <a:cs typeface="Helvetica Neue"/>
              </a:defRPr>
            </a:defPPr>
          </a:lstStyle>
          <a:p xmlns:a="http://schemas.openxmlformats.org/drawingml/2006/main">
            <a:pPr>
              <a:defRPr sz="1575" b="0">
                <a:solidFill>
                  <a:srgbClr val="526158"/>
                </a:solidFill>
                <a:latin typeface="Helvetica Neue"/>
                <a:ea typeface="Helvetica Neue"/>
                <a:cs typeface="Helvetica Neue"/>
              </a:defRPr>
            </a:pPr>
            <a:r>
              <a:rPr sz="1575" b="0">
                <a:solidFill>
                  <a:srgbClr val="526158"/>
                </a:solidFill>
                <a:latin typeface="Helvetica Neue"/>
                <a:ea typeface="Helvetica Neue"/>
                <a:cs typeface="Helvetica Neue"/>
              </a:rPr>
              <a:t>Different tracks underpin this association. The model does not establish an optimal song length.</a:t>
            </a:r>
          </a:p>
        </p:txBody>
      </p:sp>
    </p:spTree>
    <p:extLst>
      <p:ext uri="{BB962C8B-B14F-4D97-AF65-F5344CB8AC3E}">
        <p14:creationId xmlns:p14="http://schemas.microsoft.com/office/powerpoint/2010/main" val="76750026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7EEC1E5-44F5-4704-BA82-F08272D5969E}"/>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2820"/>
                </a:solidFill>
                <a:latin typeface="Helvetica Neue"/>
                <a:ea typeface="Helvetica Neue"/>
                <a:cs typeface="Helvetica Neue"/>
              </a:defRPr>
            </a:defPPr>
          </a:lstStyle>
          <a:p xmlns:a="http://schemas.openxmlformats.org/drawingml/2006/main">
            <a:pPr>
              <a:defRPr sz="3300" b="1">
                <a:solidFill>
                  <a:srgbClr val="182820"/>
                </a:solidFill>
                <a:latin typeface="Helvetica Neue"/>
                <a:ea typeface="Helvetica Neue"/>
                <a:cs typeface="Helvetica Neue"/>
              </a:defRPr>
            </a:pPr>
            <a:r>
              <a:rPr sz="3300" b="1">
                <a:solidFill>
                  <a:srgbClr val="182820"/>
                </a:solidFill>
                <a:latin typeface="Helvetica Neue"/>
                <a:ea typeface="Helvetica Neue"/>
                <a:cs typeface="Helvetica Neue"/>
              </a:rPr>
              <a:t>Recommended pilots and decision rule</a:t>
            </a:r>
          </a:p>
        </p:txBody>
      </p:sp>
      <p:sp>
        <p:nvSpPr>
          <p:cNvPr id="2" name="">
            <a:extLst xmlns:a="http://schemas.openxmlformats.org/drawingml/2006/main">
              <a:ext uri="{FF2B5EF4-FFF2-40B4-BE49-F238E27FC236}">
                <a16:creationId xmlns:a16="http://schemas.microsoft.com/office/drawing/2014/main" id="{937FD7C0-15A9-4FAD-AA42-12230D7669D9}"/>
              </a:ext>
            </a:extLst>
          </p:cNvPr>
          <p:cNvSpPr>
            <a:spLocks xmlns:a="http://schemas.openxmlformats.org/drawingml/2006/main" noGrp="1"/>
          </p:cNvSpPr>
          <p:nvPr/>
        </p:nvSpPr>
        <p:spPr>
          <a:xfrm xmlns:a="http://schemas.openxmlformats.org/drawingml/2006/main">
            <a:off x="11163300" y="6457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158"/>
                </a:solidFill>
                <a:latin typeface="Helvetica Neue"/>
                <a:ea typeface="Helvetica Neue"/>
                <a:cs typeface="Helvetica Neue"/>
              </a:defRPr>
            </a:defPPr>
          </a:lstStyle>
          <a:p xmlns:a="http://schemas.openxmlformats.org/drawingml/2006/main">
            <a:pPr>
              <a:defRPr sz="1275" b="0">
                <a:solidFill>
                  <a:srgbClr val="526158"/>
                </a:solidFill>
                <a:latin typeface="Helvetica Neue"/>
                <a:ea typeface="Helvetica Neue"/>
                <a:cs typeface="Helvetica Neue"/>
              </a:defRPr>
            </a:pPr>
            <a:r>
              <a:rPr sz="1275" b="0">
                <a:solidFill>
                  <a:srgbClr val="526158"/>
                </a:solidFill>
                <a:latin typeface="Helvetica Neue"/>
                <a:ea typeface="Helvetica Neue"/>
                <a:cs typeface="Helvetica Neue"/>
              </a:rPr>
              <a:t>9</a:t>
            </a:r>
          </a:p>
        </p:txBody>
      </p:sp>
      <p:graphicFrame>
        <p:nvGraphicFramePr>
          <p:cNvPr id="3" name="">
            <a:extLst xmlns:a="http://schemas.openxmlformats.org/drawingml/2006/main">
              <a:ext uri="{FF2B5EF4-FFF2-40B4-BE49-F238E27FC236}">
                <a16:creationId xmlns:a16="http://schemas.microsoft.com/office/drawing/2014/main" id="{3878F43E-64AA-4B81-9C05-E3769E5FB543}"/>
              </a:ext>
            </a:extLst>
          </p:cNvPr>
          <p:cNvGraphicFramePr/>
          <p:nvPr/>
        </p:nvGraphicFramePr>
        <p:xfrm>
          <a:off xmlns:a="http://schemas.openxmlformats.org/drawingml/2006/main" x="609600" y="1562100"/>
          <a:ext xmlns:a="http://schemas.openxmlformats.org/drawingml/2006/main" cx="10972800" cy="2781300"/>
        </p:xfrm>
        <a:graphic xmlns:a="http://schemas.openxmlformats.org/drawingml/2006/main">
          <a:graphicData uri="http://schemas.openxmlformats.org/drawingml/2006/table">
            <a:tbl>
              <a:tblPr/>
              <a:tblGrid>
                <a:gridCol w="2381250"/>
                <a:gridCol w="4191000"/>
                <a:gridCol w="4400550"/>
              </a:tblGrid>
              <a:tr h="695325">
                <a:tc>
                  <a:txBody>
                    <a:bodyPr lIns="114300" tIns="114300" rIns="114300" bIns="114300"/>
                    <a:lstStyle/>
                    <a:p>
                      <a:r>
                        <a:rPr sz="1950" b="1">
                          <a:solidFill>
                            <a:srgbClr val="FFFFFF"/>
                          </a:solidFill>
                          <a:latin typeface="Helvetica Neue"/>
                          <a:ea typeface="Helvetica Neue"/>
                          <a:cs typeface="Helvetica Neue"/>
                        </a:rPr>
                        <a:t>Genre</a:t>
                      </a:r>
                    </a:p>
                  </a:txBody>
                  <a:tcPr marL="91440" marR="91440" marT="45720" marB="45720" anchor="ctr">
                    <a:solidFill>
                      <a:srgbClr val="147448"/>
                    </a:solidFill>
                  </a:tcPr>
                </a:tc>
                <a:tc>
                  <a:txBody>
                    <a:bodyPr lIns="114300" tIns="114300" rIns="114300" bIns="114300"/>
                    <a:lstStyle/>
                    <a:p>
                      <a:r>
                        <a:rPr sz="1950" b="1">
                          <a:solidFill>
                            <a:srgbClr val="FFFFFF"/>
                          </a:solidFill>
                          <a:latin typeface="Helvetica Neue"/>
                          <a:ea typeface="Helvetica Neue"/>
                          <a:cs typeface="Helvetica Neue"/>
                        </a:rPr>
                        <a:t>Pilot</a:t>
                      </a:r>
                    </a:p>
                  </a:txBody>
                  <a:tcPr marL="91440" marR="91440" marT="45720" marB="45720" anchor="ctr">
                    <a:solidFill>
                      <a:srgbClr val="147448"/>
                    </a:solidFill>
                  </a:tcPr>
                </a:tc>
                <a:tc>
                  <a:txBody>
                    <a:bodyPr lIns="114300" tIns="114300" rIns="114300" bIns="114300"/>
                    <a:lstStyle/>
                    <a:p>
                      <a:r>
                        <a:rPr sz="1950" b="1">
                          <a:solidFill>
                            <a:srgbClr val="FFFFFF"/>
                          </a:solidFill>
                          <a:latin typeface="Helvetica Neue"/>
                          <a:ea typeface="Helvetica Neue"/>
                          <a:cs typeface="Helvetica Neue"/>
                        </a:rPr>
                        <a:t>Measure total listening</a:t>
                      </a:r>
                    </a:p>
                  </a:txBody>
                  <a:tcPr marL="91440" marR="91440" marT="45720" marB="45720" anchor="ctr">
                    <a:solidFill>
                      <a:srgbClr val="147448"/>
                    </a:solidFill>
                  </a:tcPr>
                </a:tc>
              </a:tr>
              <a:tr h="695325">
                <a:tc>
                  <a:txBody>
                    <a:bodyPr lIns="114300" tIns="114300" rIns="114300" bIns="114300"/>
                    <a:lstStyle/>
                    <a:p>
                      <a:r>
                        <a:rPr sz="1950" b="0">
                          <a:solidFill>
                            <a:srgbClr val="182820"/>
                          </a:solidFill>
                          <a:latin typeface="Helvetica Neue"/>
                          <a:ea typeface="Helvetica Neue"/>
                          <a:cs typeface="Helvetica Neue"/>
                        </a:rPr>
                        <a:t>Hip-Hop/Rap</a:t>
                      </a:r>
                    </a:p>
                  </a:txBody>
                  <a:tcPr marL="91440" marR="91440" marT="45720" marB="45720" anchor="ctr">
                    <a:solidFill>
                      <a:srgbClr val="FFFFFF"/>
                    </a:solidFill>
                  </a:tcPr>
                </a:tc>
                <a:tc>
                  <a:txBody>
                    <a:bodyPr lIns="114300" tIns="114300" rIns="114300" bIns="114300"/>
                    <a:lstStyle/>
                    <a:p>
                      <a:r>
                        <a:rPr sz="1950" b="0">
                          <a:solidFill>
                            <a:srgbClr val="182820"/>
                          </a:solidFill>
                          <a:latin typeface="Helvetica Neue"/>
                          <a:ea typeface="Helvetica Neue"/>
                          <a:cs typeface="Helvetica Neue"/>
                        </a:rPr>
                        <a:t>Activate existing fans</a:t>
                      </a:r>
                    </a:p>
                  </a:txBody>
                  <a:tcPr marL="91440" marR="91440" marT="45720" marB="45720" anchor="ctr">
                    <a:solidFill>
                      <a:srgbClr val="FFFFFF"/>
                    </a:solidFill>
                  </a:tcPr>
                </a:tc>
                <a:tc>
                  <a:txBody>
                    <a:bodyPr lIns="114300" tIns="114300" rIns="114300" bIns="114300"/>
                    <a:lstStyle/>
                    <a:p>
                      <a:r>
                        <a:rPr sz="1950" b="0">
                          <a:solidFill>
                            <a:srgbClr val="182820"/>
                          </a:solidFill>
                          <a:latin typeface="Helvetica Neue"/>
                          <a:ea typeface="Helvetica Neue"/>
                          <a:cs typeface="Helvetica Neue"/>
                        </a:rPr>
                        <a:t>Across the promoted release</a:t>
                      </a:r>
                    </a:p>
                  </a:txBody>
                  <a:tcPr marL="91440" marR="91440" marT="45720" marB="45720" anchor="ctr">
                    <a:solidFill>
                      <a:srgbClr val="FFFFFF"/>
                    </a:solidFill>
                  </a:tcPr>
                </a:tc>
              </a:tr>
              <a:tr h="695325">
                <a:tc>
                  <a:txBody>
                    <a:bodyPr lIns="114300" tIns="114300" rIns="114300" bIns="114300"/>
                    <a:lstStyle/>
                    <a:p>
                      <a:r>
                        <a:rPr sz="1950" b="0">
                          <a:solidFill>
                            <a:srgbClr val="182820"/>
                          </a:solidFill>
                          <a:latin typeface="Helvetica Neue"/>
                          <a:ea typeface="Helvetica Neue"/>
                          <a:cs typeface="Helvetica Neue"/>
                        </a:rPr>
                        <a:t>Pop</a:t>
                      </a:r>
                    </a:p>
                  </a:txBody>
                  <a:tcPr marL="91440" marR="91440" marT="45720" marB="45720" anchor="ctr">
                    <a:solidFill>
                      <a:srgbClr val="F0F5F2"/>
                    </a:solidFill>
                  </a:tcPr>
                </a:tc>
                <a:tc>
                  <a:txBody>
                    <a:bodyPr lIns="114300" tIns="114300" rIns="114300" bIns="114300"/>
                    <a:lstStyle/>
                    <a:p>
                      <a:r>
                        <a:rPr sz="1950" b="0">
                          <a:solidFill>
                            <a:srgbClr val="182820"/>
                          </a:solidFill>
                          <a:latin typeface="Helvetica Neue"/>
                          <a:ea typeface="Helvetica Neue"/>
                          <a:cs typeface="Helvetica Neue"/>
                        </a:rPr>
                        <a:t>Lead track before the project</a:t>
                      </a:r>
                    </a:p>
                  </a:txBody>
                  <a:tcPr marL="91440" marR="91440" marT="45720" marB="45720" anchor="ctr">
                    <a:solidFill>
                      <a:srgbClr val="F0F5F2"/>
                    </a:solidFill>
                  </a:tcPr>
                </a:tc>
                <a:tc>
                  <a:txBody>
                    <a:bodyPr lIns="114300" tIns="114300" rIns="114300" bIns="114300"/>
                    <a:lstStyle/>
                    <a:p>
                      <a:r>
                        <a:rPr sz="1950" b="0">
                          <a:solidFill>
                            <a:srgbClr val="182820"/>
                          </a:solidFill>
                          <a:latin typeface="Helvetica Neue"/>
                          <a:ea typeface="Helvetica Neue"/>
                          <a:cs typeface="Helvetica Neue"/>
                        </a:rPr>
                        <a:t>Across all project tracks</a:t>
                      </a:r>
                    </a:p>
                  </a:txBody>
                  <a:tcPr marL="91440" marR="91440" marT="45720" marB="45720" anchor="ctr">
                    <a:solidFill>
                      <a:srgbClr val="F0F5F2"/>
                    </a:solidFill>
                  </a:tcPr>
                </a:tc>
              </a:tr>
              <a:tr h="695325">
                <a:tc>
                  <a:txBody>
                    <a:bodyPr lIns="114300" tIns="114300" rIns="114300" bIns="114300"/>
                    <a:lstStyle/>
                    <a:p>
                      <a:r>
                        <a:rPr sz="1950" b="0">
                          <a:solidFill>
                            <a:srgbClr val="182820"/>
                          </a:solidFill>
                          <a:latin typeface="Helvetica Neue"/>
                          <a:ea typeface="Helvetica Neue"/>
                          <a:cs typeface="Helvetica Neue"/>
                        </a:rPr>
                        <a:t>Latin</a:t>
                      </a:r>
                    </a:p>
                  </a:txBody>
                  <a:tcPr marL="91440" marR="91440" marT="45720" marB="45720" anchor="ctr">
                    <a:solidFill>
                      <a:srgbClr val="FFFFFF"/>
                    </a:solidFill>
                  </a:tcPr>
                </a:tc>
                <a:tc>
                  <a:txBody>
                    <a:bodyPr lIns="114300" tIns="114300" rIns="114300" bIns="114300"/>
                    <a:lstStyle/>
                    <a:p>
                      <a:r>
                        <a:rPr sz="1950" b="0">
                          <a:solidFill>
                            <a:srgbClr val="182820"/>
                          </a:solidFill>
                          <a:latin typeface="Helvetica Neue"/>
                          <a:ea typeface="Helvetica Neue"/>
                          <a:cs typeface="Helvetica Neue"/>
                        </a:rPr>
                        <a:t>Shorter edit versus original</a:t>
                      </a:r>
                    </a:p>
                  </a:txBody>
                  <a:tcPr marL="91440" marR="91440" marT="45720" marB="45720" anchor="ctr">
                    <a:solidFill>
                      <a:srgbClr val="FFFFFF"/>
                    </a:solidFill>
                  </a:tcPr>
                </a:tc>
                <a:tc>
                  <a:txBody>
                    <a:bodyPr lIns="114300" tIns="114300" rIns="114300" bIns="114300"/>
                    <a:lstStyle/>
                    <a:p>
                      <a:r>
                        <a:rPr sz="1950" b="0">
                          <a:solidFill>
                            <a:srgbClr val="182820"/>
                          </a:solidFill>
                          <a:latin typeface="Helvetica Neue"/>
                          <a:ea typeface="Helvetica Neue"/>
                          <a:cs typeface="Helvetica Neue"/>
                        </a:rPr>
                        <a:t>Across both versions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274B7ED-B285-402C-8432-D351A31C1997}"/>
              </a:ext>
            </a:extLst>
          </p:cNvPr>
          <p:cNvSpPr>
            <a:spLocks xmlns:a="http://schemas.openxmlformats.org/drawingml/2006/main" noGrp="1"/>
          </p:cNvSpPr>
          <p:nvPr/>
        </p:nvSpPr>
        <p:spPr>
          <a:xfrm xmlns:a="http://schemas.openxmlformats.org/drawingml/2006/main">
            <a:off x="609600" y="4762500"/>
            <a:ext cx="10972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47448"/>
                </a:solidFill>
                <a:latin typeface="Helvetica Neue"/>
                <a:ea typeface="Helvetica Neue"/>
                <a:cs typeface="Helvetica Neue"/>
              </a:defRPr>
            </a:defPPr>
          </a:lstStyle>
          <a:p xmlns:a="http://schemas.openxmlformats.org/drawingml/2006/main">
            <a:pPr>
              <a:defRPr sz="2475" b="1">
                <a:solidFill>
                  <a:srgbClr val="147448"/>
                </a:solidFill>
                <a:latin typeface="Helvetica Neue"/>
                <a:ea typeface="Helvetica Neue"/>
                <a:cs typeface="Helvetica Neue"/>
              </a:defRPr>
            </a:pPr>
            <a:r>
              <a:rPr sz="2475" b="1">
                <a:solidFill>
                  <a:srgbClr val="147448"/>
                </a:solidFill>
                <a:latin typeface="Helvetica Neue"/>
                <a:ea typeface="Helvetica Neue"/>
                <a:cs typeface="Helvetica Neue"/>
              </a:rPr>
              <a:t>Proposed target: 10% more streams per promotional dollar</a:t>
            </a:r>
          </a:p>
        </p:txBody>
      </p:sp>
      <p:sp>
        <p:nvSpPr>
          <p:cNvPr id="5" name="">
            <a:extLst xmlns:a="http://schemas.openxmlformats.org/drawingml/2006/main">
              <a:ext uri="{FF2B5EF4-FFF2-40B4-BE49-F238E27FC236}">
                <a16:creationId xmlns:a16="http://schemas.microsoft.com/office/drawing/2014/main" id="{35ED400B-B0A4-4B51-81DC-88BF85D864E3}"/>
              </a:ext>
            </a:extLst>
          </p:cNvPr>
          <p:cNvSpPr>
            <a:spLocks xmlns:a="http://schemas.openxmlformats.org/drawingml/2006/main" noGrp="1"/>
          </p:cNvSpPr>
          <p:nvPr/>
        </p:nvSpPr>
        <p:spPr>
          <a:xfrm xmlns:a="http://schemas.openxmlformats.org/drawingml/2006/main">
            <a:off x="609600" y="538162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82820"/>
                </a:solidFill>
                <a:latin typeface="Helvetica Neue"/>
                <a:ea typeface="Helvetica Neue"/>
                <a:cs typeface="Helvetica Neue"/>
              </a:defRPr>
            </a:defPPr>
          </a:lstStyle>
          <a:p xmlns:a="http://schemas.openxmlformats.org/drawingml/2006/main">
            <a:pPr>
              <a:defRPr sz="2100" b="0">
                <a:solidFill>
                  <a:srgbClr val="182820"/>
                </a:solidFill>
                <a:latin typeface="Helvetica Neue"/>
                <a:ea typeface="Helvetica Neue"/>
                <a:cs typeface="Helvetica Neue"/>
              </a:defRPr>
            </a:pPr>
            <a:r>
              <a:rPr sz="2100" b="0">
                <a:solidFill>
                  <a:srgbClr val="182820"/>
                </a:solidFill>
                <a:latin typeface="Helvetica Neue"/>
                <a:ea typeface="Helvetica Neue"/>
                <a:cs typeface="Helvetica Neue"/>
              </a:rPr>
              <a:t>Expand when results support improvement and additional royalties cover the costs.</a:t>
            </a:r>
          </a:p>
        </p:txBody>
      </p:sp>
      <p:sp>
        <p:nvSpPr>
          <p:cNvPr id="6" name="">
            <a:extLst xmlns:a="http://schemas.openxmlformats.org/drawingml/2006/main">
              <a:ext uri="{FF2B5EF4-FFF2-40B4-BE49-F238E27FC236}">
                <a16:creationId xmlns:a16="http://schemas.microsoft.com/office/drawing/2014/main" id="{9E4A87EB-9CC2-43F8-96FC-F52BF2B45B81}"/>
              </a:ext>
            </a:extLst>
          </p:cNvPr>
          <p:cNvSpPr>
            <a:spLocks xmlns:a="http://schemas.openxmlformats.org/drawingml/2006/main" noGrp="1"/>
          </p:cNvSpPr>
          <p:nvPr/>
        </p:nvSpPr>
        <p:spPr>
          <a:xfrm xmlns:a="http://schemas.openxmlformats.org/drawingml/2006/main">
            <a:off x="609600" y="5934075"/>
            <a:ext cx="1090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158"/>
                </a:solidFill>
                <a:latin typeface="Helvetica Neue"/>
                <a:ea typeface="Helvetica Neue"/>
                <a:cs typeface="Helvetica Neue"/>
              </a:defRPr>
            </a:defPPr>
          </a:lstStyle>
          <a:p xmlns:a="http://schemas.openxmlformats.org/drawingml/2006/main">
            <a:pPr>
              <a:defRPr sz="1575" b="0">
                <a:solidFill>
                  <a:srgbClr val="526158"/>
                </a:solidFill>
                <a:latin typeface="Helvetica Neue"/>
                <a:ea typeface="Helvetica Neue"/>
                <a:cs typeface="Helvetica Neue"/>
              </a:defRPr>
            </a:pPr>
            <a:r>
              <a:rPr sz="1575" b="0">
                <a:solidFill>
                  <a:srgbClr val="526158"/>
                </a:solidFill>
                <a:latin typeface="Helvetica Neue"/>
                <a:ea typeface="Helvetica Neue"/>
                <a:cs typeface="Helvetica Neue"/>
              </a:rPr>
              <a:t>Use the same measurement period and comparable controls. The target remains a hypothesis to test.</a:t>
            </a:r>
          </a:p>
        </p:txBody>
      </p:sp>
    </p:spTree>
    <p:extLst>
      <p:ext uri="{BB962C8B-B14F-4D97-AF65-F5344CB8AC3E}">
        <p14:creationId xmlns:p14="http://schemas.microsoft.com/office/powerpoint/2010/main" val="20825110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2026-10-12T18:42:11.9660000Z</dcterms:created>
  <dcterms:modified xsi:type="dcterms:W3CDTF">2026-10-12T18:42:11.9660000Z</dcterms:modified>
</coreProperties>
</file>