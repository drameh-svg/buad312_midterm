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3.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c329bc2028143c9" /><Relationship Type="http://schemas.openxmlformats.org/officeDocument/2006/relationships/extended-properties" Target="/docProps/app.xml" Id="Re1582ec5b8db4655" /><Relationship Type="http://schemas.openxmlformats.org/officeDocument/2006/relationships/officeDocument" Target="/ppt/presentation.xml" Id="R77a5177a1c4f40c4" /></Relationships>
</file>

<file path=ppt/presentation.xml><?xml version="1.0" encoding="utf-8"?>
<p:presentation xmlns:p="http://schemas.openxmlformats.org/presentationml/2006/main">
  <p:sldMasterIdLst>
    <p:sldMasterId xmlns:r="http://schemas.openxmlformats.org/officeDocument/2006/relationships" id="2147483648" r:id="R63206543b9554672"/>
  </p:sldMasterIdLst>
  <p:notesMasterIdLst>
    <p:notesMasterId xmlns:r="http://schemas.openxmlformats.org/officeDocument/2006/relationships" r:id="R97b2ae4aef9c4ba1"/>
  </p:notesMasterIdLst>
  <p:sldIdLst>
    <p:sldId xmlns:r="http://schemas.openxmlformats.org/officeDocument/2006/relationships" id="256" r:id="R25998aa375244f72"/>
    <p:sldId xmlns:r="http://schemas.openxmlformats.org/officeDocument/2006/relationships" id="257" r:id="R851764e6aaf64f74"/>
    <p:sldId xmlns:r="http://schemas.openxmlformats.org/officeDocument/2006/relationships" id="258" r:id="Rc10425e36b714ca9"/>
    <p:sldId xmlns:r="http://schemas.openxmlformats.org/officeDocument/2006/relationships" id="259" r:id="R1a9a7462e0ab4204"/>
    <p:sldId xmlns:r="http://schemas.openxmlformats.org/officeDocument/2006/relationships" id="260" r:id="Rd5a4722620714f72"/>
    <p:sldId xmlns:r="http://schemas.openxmlformats.org/officeDocument/2006/relationships" id="261" r:id="Rc6732fc2e5054493"/>
    <p:sldId xmlns:r="http://schemas.openxmlformats.org/officeDocument/2006/relationships" id="262" r:id="R73546ae81e0e4a75"/>
    <p:sldId xmlns:r="http://schemas.openxmlformats.org/officeDocument/2006/relationships" id="263" r:id="R60d422e731a14824"/>
    <p:sldId xmlns:r="http://schemas.openxmlformats.org/officeDocument/2006/relationships" id="264" r:id="Raf6f2df72b954c4c"/>
    <p:sldId xmlns:r="http://schemas.openxmlformats.org/officeDocument/2006/relationships" id="265" r:id="R7e560e559e3e485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306451de21341e6" /><Relationship Type="http://schemas.openxmlformats.org/officeDocument/2006/relationships/slideMaster" Target="/ppt/slideMasters/slideMaster1.xml" Id="R63206543b9554672" /><Relationship Type="http://schemas.openxmlformats.org/officeDocument/2006/relationships/notesMaster" Target="/ppt/notesMasters/notesMaster1.xml" Id="R97b2ae4aef9c4ba1" /><Relationship Type="http://schemas.openxmlformats.org/officeDocument/2006/relationships/presProps" Target="/ppt/presProps.xml" Id="Raf88cb2d39b043a6" /><Relationship Type="http://schemas.openxmlformats.org/officeDocument/2006/relationships/tableStyles" Target="/ppt/tableStyles.xml" Id="R93f1b8f487644956" /><Relationship Type="http://schemas.openxmlformats.org/officeDocument/2006/relationships/slide" Target="/ppt/slides/slide1.xml" Id="R25998aa375244f72" /><Relationship Type="http://schemas.openxmlformats.org/officeDocument/2006/relationships/slide" Target="/ppt/slides/slide2.xml" Id="R851764e6aaf64f74" /><Relationship Type="http://schemas.openxmlformats.org/officeDocument/2006/relationships/slide" Target="/ppt/slides/slide3.xml" Id="Rc10425e36b714ca9" /><Relationship Type="http://schemas.openxmlformats.org/officeDocument/2006/relationships/slide" Target="/ppt/slides/slide4.xml" Id="R1a9a7462e0ab4204" /><Relationship Type="http://schemas.openxmlformats.org/officeDocument/2006/relationships/slide" Target="/ppt/slides/slide5.xml" Id="Rd5a4722620714f72" /><Relationship Type="http://schemas.openxmlformats.org/officeDocument/2006/relationships/slide" Target="/ppt/slides/slide6.xml" Id="Rc6732fc2e5054493" /><Relationship Type="http://schemas.openxmlformats.org/officeDocument/2006/relationships/slide" Target="/ppt/slides/slide7.xml" Id="R73546ae81e0e4a75" /><Relationship Type="http://schemas.openxmlformats.org/officeDocument/2006/relationships/slide" Target="/ppt/slides/slide8.xml" Id="R60d422e731a14824" /><Relationship Type="http://schemas.openxmlformats.org/officeDocument/2006/relationships/slide" Target="/ppt/slides/slide9.xml" Id="Raf6f2df72b954c4c" /><Relationship Type="http://schemas.openxmlformats.org/officeDocument/2006/relationships/slide" Target="/ppt/slides/slide10.xml" Id="R7e560e559e3e485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03efbe6cf1b47d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b3bff8d98d4465c" /><Relationship Type="http://schemas.openxmlformats.org/officeDocument/2006/relationships/notesMaster" Target="/ppt/notesMasters/notesMaster1.xml" Id="Rae27da5d1c654360" /></Relationships>
</file>

<file path=ppt/notesSlides/_rels/notesSlide2.xml.rels>&#65279;<?xml version="1.0" encoding="utf-8"?><Relationships xmlns="http://schemas.openxmlformats.org/package/2006/relationships"><Relationship Type="http://schemas.openxmlformats.org/officeDocument/2006/relationships/slide" Target="/ppt/slides/slide2.xml" Id="R4c6b1272a0b94b37" /><Relationship Type="http://schemas.openxmlformats.org/officeDocument/2006/relationships/notesMaster" Target="/ppt/notesMasters/notesMaster1.xml" Id="R123d1fa924034ef5" /></Relationships>
</file>

<file path=ppt/notesSlides/_rels/notesSlide3.xml.rels>&#65279;<?xml version="1.0" encoding="utf-8"?><Relationships xmlns="http://schemas.openxmlformats.org/package/2006/relationships"><Relationship Type="http://schemas.openxmlformats.org/officeDocument/2006/relationships/slide" Target="/ppt/slides/slide3.xml" Id="R3bd019f27e4a413d" /><Relationship Type="http://schemas.openxmlformats.org/officeDocument/2006/relationships/notesMaster" Target="/ppt/notesMasters/notesMaster1.xml" Id="Rfc8b32be0c0b4c53" /></Relationships>
</file>

<file path=ppt/notesSlides/_rels/notesSlide4.xml.rels>&#65279;<?xml version="1.0" encoding="utf-8"?><Relationships xmlns="http://schemas.openxmlformats.org/package/2006/relationships"><Relationship Type="http://schemas.openxmlformats.org/officeDocument/2006/relationships/slide" Target="/ppt/slides/slide4.xml" Id="R6bdb053a07b44c10" /><Relationship Type="http://schemas.openxmlformats.org/officeDocument/2006/relationships/notesMaster" Target="/ppt/notesMasters/notesMaster1.xml" Id="R97c5b922ca0f4f35" /></Relationships>
</file>

<file path=ppt/notesSlides/_rels/notesSlide5.xml.rels>&#65279;<?xml version="1.0" encoding="utf-8"?><Relationships xmlns="http://schemas.openxmlformats.org/package/2006/relationships"><Relationship Type="http://schemas.openxmlformats.org/officeDocument/2006/relationships/slide" Target="/ppt/slides/slide5.xml" Id="Rbf8775c606ce44fa" /><Relationship Type="http://schemas.openxmlformats.org/officeDocument/2006/relationships/notesMaster" Target="/ppt/notesMasters/notesMaster1.xml" Id="R23c8ac234c6d4595" /></Relationships>
</file>

<file path=ppt/notesSlides/_rels/notesSlide6.xml.rels>&#65279;<?xml version="1.0" encoding="utf-8"?><Relationships xmlns="http://schemas.openxmlformats.org/package/2006/relationships"><Relationship Type="http://schemas.openxmlformats.org/officeDocument/2006/relationships/slide" Target="/ppt/slides/slide6.xml" Id="R2db6a7da57ec4f79" /><Relationship Type="http://schemas.openxmlformats.org/officeDocument/2006/relationships/notesMaster" Target="/ppt/notesMasters/notesMaster1.xml" Id="R06421e4c36d34906" /></Relationships>
</file>

<file path=ppt/notesSlides/_rels/notesSlide7.xml.rels>&#65279;<?xml version="1.0" encoding="utf-8"?><Relationships xmlns="http://schemas.openxmlformats.org/package/2006/relationships"><Relationship Type="http://schemas.openxmlformats.org/officeDocument/2006/relationships/slide" Target="/ppt/slides/slide7.xml" Id="Re3669b676401490b" /><Relationship Type="http://schemas.openxmlformats.org/officeDocument/2006/relationships/notesMaster" Target="/ppt/notesMasters/notesMaster1.xml" Id="R0779ba221ab64842" /></Relationships>
</file>

<file path=ppt/notesSlides/_rels/notesSlide8.xml.rels>&#65279;<?xml version="1.0" encoding="utf-8"?><Relationships xmlns="http://schemas.openxmlformats.org/package/2006/relationships"><Relationship Type="http://schemas.openxmlformats.org/officeDocument/2006/relationships/slide" Target="/ppt/slides/slide8.xml" Id="R6e3c7a1f49fd4295" /><Relationship Type="http://schemas.openxmlformats.org/officeDocument/2006/relationships/notesMaster" Target="/ppt/notesMasters/notesMaster1.xml" Id="R092eb07f3e7a4305" /></Relationships>
</file>

<file path=ppt/notesSlides/_rels/notesSlide9.xml.rels>&#65279;<?xml version="1.0" encoding="utf-8"?><Relationships xmlns="http://schemas.openxmlformats.org/package/2006/relationships"><Relationship Type="http://schemas.openxmlformats.org/officeDocument/2006/relationships/slide" Target="/ppt/slides/slide9.xml" Id="Rb736bb5876364be9" /><Relationship Type="http://schemas.openxmlformats.org/officeDocument/2006/relationships/notesMaster" Target="/ppt/notesMasters/notesMaster1.xml" Id="R14e39fb219854eb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f60c560cf7548e6" /><Relationship Type="http://schemas.openxmlformats.org/officeDocument/2006/relationships/notesMaster" Target="/ppt/notesMasters/notesMaster1.xml" Id="R7221ae23456d4aa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presenter: Person 1. Introduce all six team members and the consulting role.</a:t>
            </a:r>
          </a:p>
          <a:p xmlns:a="http://schemas.openxmlformats.org/drawingml/2006/main">
            <a:r>
              <a:t/>
            </a:r>
          </a:p>
          <a:p xmlns:a="http://schemas.openxmlformats.org/drawingml/2006/main">
            <a:r>
              <a:t>Sources: /Users/sonlynguyen/Documents/BUAD312/Midterm Project/tracks_simplified.csv; /Users/sonlynguyen/Documents/BUAD312/Midterm Project/Midterm Official R Script.R. Analysis refreshed October 11, 2026. All model results use the current official script's ordinary lm() standard errors unless explicitly labeled as a separate robust check.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presenter: Person 1.</a:t>
            </a:r>
          </a:p>
          <a:p xmlns:a="http://schemas.openxmlformats.org/drawingml/2006/main">
            <a:r>
              <a:t/>
            </a:r>
          </a:p>
          <a:p xmlns:a="http://schemas.openxmlformats.org/drawingml/2006/main">
            <a:r>
              <a:t>State the exact question and explain why catalog evaluation may benefit from genre context. Compare tracks within genres. This is observational data, so results do not measure what would happen if a label edited the lyrics of the same song. Suggested discussion: which promotion decisions could this evidence help investigate?</a:t>
            </a:r>
          </a:p>
          <a:p xmlns:a="http://schemas.openxmlformats.org/drawingml/2006/main">
            <a:r>
              <a:t/>
            </a:r>
          </a:p>
          <a:p xmlns:a="http://schemas.openxmlformats.org/drawingml/2006/main">
            <a:r>
              <a:t>Sources: /Users/sonlynguyen/Documents/BUAD312/Midterm Project/tracks_simplified.csv; /Users/sonlynguyen/Documents/BUAD312/Midterm Project/Midterm Official R Script.R. Analysis refreshed October 11, 2026. All model results use the current official script's ordinary lm() standard errors unless explicitly labeled as a separate robust check.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presenter: Person 2.</a:t>
            </a:r>
          </a:p>
          <a:p xmlns:a="http://schemas.openxmlformats.org/drawingml/2006/main">
            <a:r>
              <a:t/>
            </a:r>
          </a:p>
          <a:p xmlns:a="http://schemas.openxmlformats.org/drawingml/2006/main">
            <a:r>
              <a:t>All models use the same 5,824 rows. The original CSV contains 5,870 distinct track IDs. The excluded rows comprise 17 zero-duration tracks and 29 additional tracks missing follower information. Release dates mix M/D/YY, YYYY, and YYYY-MM. The script extracts the year and uses grouped release periods. Missing artist names do not trigger exclusions. The dataset has releases through 2021 and no documented stream-count observation window. Explain why log streams is used and show the original distribution if asked.</a:t>
            </a:r>
          </a:p>
          <a:p xmlns:a="http://schemas.openxmlformats.org/drawingml/2006/main">
            <a:r>
              <a:t/>
            </a:r>
          </a:p>
          <a:p xmlns:a="http://schemas.openxmlformats.org/drawingml/2006/main">
            <a:r>
              <a:t>Sources: /Users/sonlynguyen/Documents/BUAD312/Midterm Project/tracks_simplified.csv; /Users/sonlynguyen/Documents/BUAD312/Midterm Project/Midterm Official R Script.R. Analysis refreshed October 11, 2026. All model results use the current official script's ordinary lm() standard errors unless explicitly labeled as a separate robust check.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presenter: Person 3.</a:t>
            </a:r>
          </a:p>
          <a:p xmlns:a="http://schemas.openxmlformats.org/drawingml/2006/main">
            <a:r>
              <a:t/>
            </a:r>
          </a:p>
          <a:p xmlns:a="http://schemas.openxmlformats.org/drawingml/2006/main">
            <a:r>
              <a:t>Native chart uses counts from the cleaned modeling sample, not the full raw dataset. Hip-Hop/Rap contains 865 explicit and 359 non-explicit tracks. Electronic/Dance contains only 11 explicit tracks and Soul/R&amp;B only five. A larger group can have greater total streams purely because it contains more songs. Our comparisons instead use per-track summaries and regression.</a:t>
            </a:r>
          </a:p>
          <a:p xmlns:a="http://schemas.openxmlformats.org/drawingml/2006/main">
            <a:r>
              <a:t/>
            </a:r>
          </a:p>
          <a:p xmlns:a="http://schemas.openxmlformats.org/drawingml/2006/main">
            <a:r>
              <a:t>Sources: /Users/sonlynguyen/Documents/BUAD312/Midterm Project/tracks_simplified.csv; /Users/sonlynguyen/Documents/BUAD312/Midterm Project/Midterm Official R Script.R. Analysis refreshed October 11, 2026. All model results use the current official script's ordinary lm() standard errors unless explicitly labeled as a separate robust check.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presenter: Person 3.</a:t>
            </a:r>
          </a:p>
          <a:p xmlns:a="http://schemas.openxmlformats.org/drawingml/2006/main">
            <a:r>
              <a:t/>
            </a:r>
          </a:p>
          <a:p xmlns:a="http://schemas.openxmlformats.org/drawingml/2006/main">
            <a:r>
              <a:t>These are unadjusted medians and not regression estimates. Main examples: Hip-Hop/Rap explicit median 31,219 versus non-explicit 24,395; Latin explicit 19,901 versus non-explicit 30,737; Pop explicit 23,721 versus non-explicit 13,271. Describe the observed differences, then transition to controlling for other characteristics. Median values appear rounded to whole streams.</a:t>
            </a:r>
          </a:p>
          <a:p xmlns:a="http://schemas.openxmlformats.org/drawingml/2006/main">
            <a:r>
              <a:t/>
            </a:r>
          </a:p>
          <a:p xmlns:a="http://schemas.openxmlformats.org/drawingml/2006/main">
            <a:r>
              <a:t>Sources: /Users/sonlynguyen/Documents/BUAD312/Midterm Project/tracks_simplified.csv; /Users/sonlynguyen/Documents/BUAD312/Midterm Project/Midterm Official R Script.R. Analysis refreshed October 11, 2026. All model results use the current official script's ordinary lm() standard errors unless explicitly labeled as a separate robust check.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presenter: Person 4.</a:t>
            </a:r>
          </a:p>
          <a:p xmlns:a="http://schemas.openxmlformats.org/drawingml/2006/main">
            <a:r>
              <a:t/>
            </a:r>
          </a:p>
          <a:p xmlns:a="http://schemas.openxmlformats.org/drawingml/2006/main">
            <a:r>
              <a:t>All three models use log(streams), the same rows, and ordinary least squares. Controls are log(artist_followers+1), artist_popularity, duration_min, release_period, release_size, empty_markets, danceability, energy, valence, acousticness, speechiness, liveness, instrumentalness, loudness, and tempo. Model 3 adds explicit-by-genre interactions to model 2. Adding those interactions raises R-squared by about 0.45 percentage points. R-squared refers to all predictors together and is in-sample. It is not the fraction caused by lyrics or a forecast accuracy measure.</a:t>
            </a:r>
          </a:p>
          <a:p xmlns:a="http://schemas.openxmlformats.org/drawingml/2006/main">
            <a:r>
              <a:t>Full formula: log_streams ~ explicit * genres + log_followers + artist_popularity +      duration_min + release_period + release_size + empty_markets +      danceability + energy + valence + acousticness + speechiness +      liveness + instrumentalness + loudness + tempo</a:t>
            </a:r>
          </a:p>
          <a:p xmlns:a="http://schemas.openxmlformats.org/drawingml/2006/main">
            <a:r>
              <a:t/>
            </a:r>
          </a:p>
          <a:p xmlns:a="http://schemas.openxmlformats.org/drawingml/2006/main">
            <a:r>
              <a:t>Sources: /Users/sonlynguyen/Documents/BUAD312/Midterm Project/tracks_simplified.csv; /Users/sonlynguyen/Documents/BUAD312/Midterm Project/Midterm Official R Script.R. Analysis refreshed October 11, 2026. All model results use the current official script's ordinary lm() standard errors unless explicitly labeled as a separate robust check.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presenter: Person 5.</a:t>
            </a:r>
          </a:p>
          <a:p xmlns:a="http://schemas.openxmlformats.org/drawingml/2006/main">
            <a:r>
              <a:t/>
            </a:r>
          </a:p>
          <a:p xmlns:a="http://schemas.openxmlformats.org/drawingml/2006/main">
            <a:r>
              <a:t>The selected bars show within-genre coefficients from model 3. They are differences in predicted natural-log streams. A positive coefficient indicates a higher fitted log-stream outcome for explicit tracks; a negative coefficient indicates a lower fitted outcome. The combined F-test is anova(model2, model3), with six interaction degrees of freedom, F = 4.9527, p = 0.00004581. The overall test concerns equality across all seven genres; it does not establish significance for each genre. The appendix reports all seven estimates and multiplicity-adjusted p-values. The main graph displays point estimates without confidence intervals.</a:t>
            </a:r>
          </a:p>
          <a:p xmlns:a="http://schemas.openxmlformats.org/drawingml/2006/main">
            <a:r>
              <a:t/>
            </a:r>
          </a:p>
          <a:p xmlns:a="http://schemas.openxmlformats.org/drawingml/2006/main">
            <a:r>
              <a:t>Sources: /Users/sonlynguyen/Documents/BUAD312/Midterm Project/tracks_simplified.csv; /Users/sonlynguyen/Documents/BUAD312/Midterm Project/Midterm Official R Script.R. Analysis refreshed October 11, 2026. All model results use the current official script's ordinary lm() standard errors unless explicitly labeled as a separate robust check.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presenter: Person 6.</a:t>
            </a:r>
          </a:p>
          <a:p xmlns:a="http://schemas.openxmlformats.org/drawingml/2006/main">
            <a:r>
              <a:t/>
            </a:r>
          </a:p>
          <a:p xmlns:a="http://schemas.openxmlformats.org/drawingml/2006/main">
            <a:r>
              <a:t>The residual plots depart from constant variance and normality. A separate Breusch-Pagan audit gives p &lt; 2.2e-16 for constant variance. A separate HC3 robust joint interaction test gives p = 0.00004227682378949, so the overall interaction remains supported under that check. Robust inference still assumes independent rows; repeated artists may violate independence and most artist names are missing. The official script uses ordinary standard errors. Its Latin coefficient changes from -0.614 to -0.348 in the markets-listed sample, and its ordinary p-value becomes 0.080. The earlier robust Latin restricted-sample p-value was about 0.116. Avoid mixing these methods in one results table.</a:t>
            </a:r>
          </a:p>
          <a:p xmlns:a="http://schemas.openxmlformats.org/drawingml/2006/main">
            <a:r>
              <a:t/>
            </a:r>
          </a:p>
          <a:p xmlns:a="http://schemas.openxmlformats.org/drawingml/2006/main">
            <a:r>
              <a:t>Sources: /Users/sonlynguyen/Documents/BUAD312/Midterm Project/tracks_simplified.csv; /Users/sonlynguyen/Documents/BUAD312/Midterm Project/Midterm Official R Script.R. Analysis refreshed October 11, 2026. All model results use the current official script's ordinary lm() standard errors unless explicitly labeled as a separate robust check.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presenter: Person 6.</a:t>
            </a:r>
          </a:p>
          <a:p xmlns:a="http://schemas.openxmlformats.org/drawingml/2006/main">
            <a:r>
              <a:t/>
            </a:r>
          </a:p>
          <a:p xmlns:a="http://schemas.openxmlformats.org/drawingml/2006/main">
            <a:r>
              <a:t>Frame these as proposals for discussion, not demonstrated causal effects. The dataset does not compare randomized clean and explicit versions of the same recording. A useful next study could compare paired versions with comparable release timing and promotion, or randomize promotional exposure where feasible. Obtain a fixed streaming observation window, playlist exposure, marketing spend, listener geography and artist identifiers. Suggested closing: our results justify testing genre-specific strategies, while uncertainty prevents a universal rule about changing lyrics.</a:t>
            </a:r>
          </a:p>
          <a:p xmlns:a="http://schemas.openxmlformats.org/drawingml/2006/main">
            <a:r>
              <a:t/>
            </a:r>
          </a:p>
          <a:p xmlns:a="http://schemas.openxmlformats.org/drawingml/2006/main">
            <a:r>
              <a:t>Sources: /Users/sonlynguyen/Documents/BUAD312/Midterm Project/tracks_simplified.csv; /Users/sonlynguyen/Documents/BUAD312/Midterm Project/Midterm Official R Script.R. Analysis refreshed October 11, 2026. All model results use the current official script's ordinary lm() standard errors unless explicitly labeled as a separate robust check.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presenter: Person 5 / discussion.</a:t>
            </a:r>
          </a:p>
          <a:p xmlns:a="http://schemas.openxmlformats.org/drawingml/2006/main">
            <a:r>
              <a:t/>
            </a:r>
          </a:p>
          <a:p xmlns:a="http://schemas.openxmlformats.org/drawingml/2006/main">
            <a:r>
              <a:t>All values come from the current official script. Coefficients and intervals are in natural-log-stream units. The intervals and raw p-values use ordinary lm() standard errors. Holm p-values adjust the seven within-genre tests. Hip-Hop/Rap has raw p = 0.0162 but Holm p = 0.0811. Pop has raw p = 0.0565 and is not significant at 0.05 using this method. Small explicit groups make Electronic/Dance and Soul/R&amp;B comparisons fragile. The point estimates remain the same if robust standard errors are used, but intervals and p-values change. This appendix is useful for questions and can remain outside the spoken presentation.</a:t>
            </a:r>
          </a:p>
          <a:p xmlns:a="http://schemas.openxmlformats.org/drawingml/2006/main">
            <a:r>
              <a:t/>
            </a:r>
          </a:p>
          <a:p xmlns:a="http://schemas.openxmlformats.org/drawingml/2006/main">
            <a:r>
              <a:t>Sources: /Users/sonlynguyen/Documents/BUAD312/Midterm Project/tracks_simplified.csv; /Users/sonlynguyen/Documents/BUAD312/Midterm Project/Midterm Official R Script.R. Analysis refreshed October 11, 2026. All model results use the current official script's ordinary lm() standard errors unless explicitly labeled as a separate robust check.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36398f8d81240f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1f9b3a346104f4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b6638f134f94fd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a5500fb5ca6476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88ae025ad7840b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c49d8eadcdf455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912BCFD-2790-4D97-B75E-517E9BA3485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6B88777-F5B7-409E-909E-12719C7DAA1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8219E4D-B011-4073-8003-D49010FEFB6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E7E9E48-9A68-420A-AB00-16C7D5A41EA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DD70FC2-E1B2-41B7-96EF-40A76A17D43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976E13A-30FA-4F4F-A89C-51140BB57C0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7F9A2C4-BB4F-47B0-9A47-5C45606E735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07D680C-9A23-48F4-8265-B80BC26F2EA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63047DC-6701-49FF-A82D-CC6E724C4C9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C1CC59D-C1C5-4091-93D2-A3604430936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f37d70f2a5046ff" /><Relationship Type="http://schemas.openxmlformats.org/officeDocument/2006/relationships/slideLayout" Target="/ppt/slideLayouts/slideLayout1.xml" Id="R64bef4ba2a684fd2" /><Relationship Type="http://schemas.openxmlformats.org/officeDocument/2006/relationships/slideLayout" Target="/ppt/slideLayouts/slideLayout2.xml" Id="R43cd77ab8fbc4b0c" /><Relationship Type="http://schemas.openxmlformats.org/officeDocument/2006/relationships/slideLayout" Target="/ppt/slideLayouts/slideLayout3.xml" Id="R7ee944c3516f4071" /><Relationship Type="http://schemas.openxmlformats.org/officeDocument/2006/relationships/slideLayout" Target="/ppt/slideLayouts/slideLayout4.xml" Id="Rca6003bb9df34521" /><Relationship Type="http://schemas.openxmlformats.org/officeDocument/2006/relationships/slideLayout" Target="/ppt/slideLayouts/slideLayout5.xml" Id="R8529c47a42f14f33" /><Relationship Type="http://schemas.openxmlformats.org/officeDocument/2006/relationships/slideLayout" Target="/ppt/slideLayouts/slideLayout6.xml" Id="R9835296159164b1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4bef4ba2a684fd2"/>
    <p:sldLayoutId xmlns:r="http://schemas.openxmlformats.org/officeDocument/2006/relationships" id="2147483650" r:id="R43cd77ab8fbc4b0c"/>
    <p:sldLayoutId xmlns:r="http://schemas.openxmlformats.org/officeDocument/2006/relationships" id="2147483651" r:id="R7ee944c3516f4071"/>
    <p:sldLayoutId xmlns:r="http://schemas.openxmlformats.org/officeDocument/2006/relationships" id="2147483652" r:id="Rca6003bb9df34521"/>
    <p:sldLayoutId xmlns:r="http://schemas.openxmlformats.org/officeDocument/2006/relationships" id="2147483653" r:id="R8529c47a42f14f33"/>
    <p:sldLayoutId xmlns:r="http://schemas.openxmlformats.org/officeDocument/2006/relationships" id="2147483654" r:id="R9835296159164b1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d487e1fc2184dda" /><Relationship Type="http://schemas.openxmlformats.org/officeDocument/2006/relationships/notesSlide" Target="/ppt/notesSlides/notesSlide1.xml" Id="R858812f4bc364c8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34534919f904884" /><Relationship Type="http://schemas.openxmlformats.org/officeDocument/2006/relationships/notesSlide" Target="/ppt/notesSlides/notesSlide2.xml" Id="R0cbe80af8af845a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44a8755786c4c89" /><Relationship Type="http://schemas.openxmlformats.org/officeDocument/2006/relationships/notesSlide" Target="/ppt/notesSlides/notesSlide3.xml" Id="R6b8769c08fab42e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ccc8fff3973477b" /><Relationship Type="http://schemas.openxmlformats.org/officeDocument/2006/relationships/chart" Target="/ppt/slides/charts/chart1.xml" Id="Rea98df2f026b4b41" /><Relationship Type="http://schemas.openxmlformats.org/officeDocument/2006/relationships/notesSlide" Target="/ppt/notesSlides/notesSlide4.xml" Id="Ra2bc1e0e9bec484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6d37f71a3214303" /><Relationship Type="http://schemas.openxmlformats.org/officeDocument/2006/relationships/chart" Target="/ppt/slides/charts/chart2.xml" Id="Ree00a7dc7648409c" /><Relationship Type="http://schemas.openxmlformats.org/officeDocument/2006/relationships/notesSlide" Target="/ppt/notesSlides/notesSlide5.xml" Id="R80258b85b06e486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7a2a6008d204a81" /><Relationship Type="http://schemas.openxmlformats.org/officeDocument/2006/relationships/notesSlide" Target="/ppt/notesSlides/notesSlide6.xml" Id="R0ae23fca350c43b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9a0357eb93a4344" /><Relationship Type="http://schemas.openxmlformats.org/officeDocument/2006/relationships/chart" Target="/ppt/slides/charts/chart3.xml" Id="R31f61d4e5e96465d" /><Relationship Type="http://schemas.openxmlformats.org/officeDocument/2006/relationships/notesSlide" Target="/ppt/notesSlides/notesSlide7.xml" Id="R0ec1244e022040c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241120661e84bfc" /><Relationship Type="http://schemas.openxmlformats.org/officeDocument/2006/relationships/image" Target="/ppt/media/image.png" Id="Raae81f921d304337" /><Relationship Type="http://schemas.openxmlformats.org/officeDocument/2006/relationships/image" Target="/ppt/media/image2.png" Id="R4868cb77558c4ee9" /><Relationship Type="http://schemas.openxmlformats.org/officeDocument/2006/relationships/notesSlide" Target="/ppt/notesSlides/notesSlide8.xml" Id="R45a194301d78499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566444449cd4653" /><Relationship Type="http://schemas.openxmlformats.org/officeDocument/2006/relationships/notesSlide" Target="/ppt/notesSlides/notesSlide9.xml" Id="R87cffd46e384477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0effe9831cc24902" /><Relationship Type="http://schemas.openxmlformats.org/officeDocument/2006/relationships/notesSlide" Target="/ppt/notesSlides/notesSlide10.xml" Id="R35be2e638ce14227"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Non-explicit</c:v>
          </c:tx>
          <c:spPr>
            <a:solidFill xmlns:a="http://schemas.openxmlformats.org/drawingml/2006/main">
              <a:srgbClr val="84988C"/>
            </a:solidFill>
          </c:spPr>
          <c:cat>
            <c:strRef>
              <c:f>'Chart Data'!$A$2:$A$8</c:f>
              <c:strCache>
                <c:ptCount val="7"/>
                <c:pt idx="0">
                  <c:v>Hip-Hop/Rap</c:v>
                </c:pt>
                <c:pt idx="1">
                  <c:v>Latin</c:v>
                </c:pt>
                <c:pt idx="2">
                  <c:v>Pop</c:v>
                </c:pt>
                <c:pt idx="3">
                  <c:v>Electronic/Dance</c:v>
                </c:pt>
                <c:pt idx="4">
                  <c:v>Rock/Metal</c:v>
                </c:pt>
                <c:pt idx="5">
                  <c:v>Soul/R&amp;B</c:v>
                </c:pt>
                <c:pt idx="6">
                  <c:v>Other/Unknown</c:v>
                </c:pt>
              </c:strCache>
            </c:strRef>
          </c:cat>
          <c:val>
            <c:numRef>
              <c:f>'Chart Data'!$B$2:$B$8</c:f>
              <c:numCache>
                <c:formatCode>#,##0</c:formatCode>
                <c:ptCount val="7"/>
                <c:pt idx="0">
                  <c:v>359</c:v>
                </c:pt>
                <c:pt idx="1">
                  <c:v>250</c:v>
                </c:pt>
                <c:pt idx="2">
                  <c:v>1486</c:v>
                </c:pt>
                <c:pt idx="3">
                  <c:v>183</c:v>
                </c:pt>
                <c:pt idx="4">
                  <c:v>360</c:v>
                </c:pt>
                <c:pt idx="5">
                  <c:v>49</c:v>
                </c:pt>
                <c:pt idx="6">
                  <c:v>1731</c:v>
                </c:pt>
              </c:numCache>
            </c:numRef>
          </c:val>
        </c:ser>
        <c:ser>
          <c:idx val="1"/>
          <c:order val="1"/>
          <c:tx>
            <c:v>Explicit</c:v>
          </c:tx>
          <c:spPr>
            <a:solidFill xmlns:a="http://schemas.openxmlformats.org/drawingml/2006/main">
              <a:srgbClr val="17764F"/>
            </a:solidFill>
          </c:spPr>
          <c:cat>
            <c:strRef>
              <c:f>'Chart Data'!$C$2:$C$8</c:f>
              <c:strCache>
                <c:ptCount val="7"/>
                <c:pt idx="0">
                  <c:v>Hip-Hop/Rap</c:v>
                </c:pt>
                <c:pt idx="1">
                  <c:v>Latin</c:v>
                </c:pt>
                <c:pt idx="2">
                  <c:v>Pop</c:v>
                </c:pt>
                <c:pt idx="3">
                  <c:v>Electronic/Dance</c:v>
                </c:pt>
                <c:pt idx="4">
                  <c:v>Rock/Metal</c:v>
                </c:pt>
                <c:pt idx="5">
                  <c:v>Soul/R&amp;B</c:v>
                </c:pt>
                <c:pt idx="6">
                  <c:v>Other/Unknown</c:v>
                </c:pt>
              </c:strCache>
            </c:strRef>
          </c:cat>
          <c:val>
            <c:numRef>
              <c:f>'Chart Data'!$D$2:$D$8</c:f>
              <c:numCache>
                <c:formatCode>#,##0</c:formatCode>
                <c:ptCount val="7"/>
                <c:pt idx="0">
                  <c:v>865</c:v>
                </c:pt>
                <c:pt idx="1">
                  <c:v>92</c:v>
                </c:pt>
                <c:pt idx="2">
                  <c:v>147</c:v>
                </c:pt>
                <c:pt idx="3">
                  <c:v>11</c:v>
                </c:pt>
                <c:pt idx="4">
                  <c:v>21</c:v>
                </c:pt>
                <c:pt idx="5">
                  <c:v>5</c:v>
                </c:pt>
                <c:pt idx="6">
                  <c:v>265</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425">
                  <a:solidFill>
                    <a:srgbClr val="17261F"/>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65"/>
        <c:overlap val="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CCD8CF"/>
            </a:solidFill>
          </a:ln>
        </c:spPr>
        <c:txPr>
          <a:bodyPr xmlns:a="http://schemas.openxmlformats.org/drawingml/2006/main" anchorCtr="1"/>
          <a:lstStyle xmlns:a="http://schemas.openxmlformats.org/drawingml/2006/main"/>
          <a:p xmlns:a="http://schemas.openxmlformats.org/drawingml/2006/main">
            <a:pPr>
              <a:defRPr sz="1650">
                <a:solidFill>
                  <a:srgbClr val="17261F"/>
                </a:solidFill>
                <a:latin typeface="Helvetica Neue"/>
                <a:ea typeface="Helvetica Neue"/>
                <a:cs typeface="Helvetica Neue"/>
              </a:defRPr>
            </a:pPr>
          </a:p>
        </c:txPr>
        <c:crossAx val="48672768"/>
      </c:catAx>
      <c:valAx>
        <c:axId val="48672768"/>
        <c:scaling>
          <c:orientation val="minMax"/>
          <c:max val="2200"/>
        </c:scaling>
        <c:delete val="0"/>
        <c:axPos val="b"/>
        <c:majorGridlines>
          <c:spPr>
            <a:ln xmlns:a="http://schemas.openxmlformats.org/drawingml/2006/main" w="9525">
              <a:solidFill>
                <a:srgbClr val="E1E8E3"/>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45B"/>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17261F"/>
              </a:solidFill>
              <a:latin typeface="Helvetica Neue"/>
              <a:ea typeface="Helvetica Neue"/>
              <a:cs typeface="Helvetica Neue"/>
            </a:defRPr>
          </a:pPr>
        </a:p>
      </c:txPr>
    </c:legend>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Non-explicit</c:v>
          </c:tx>
          <c:spPr>
            <a:solidFill xmlns:a="http://schemas.openxmlformats.org/drawingml/2006/main">
              <a:srgbClr val="84988C"/>
            </a:solidFill>
          </c:spPr>
          <c:cat>
            <c:strRef>
              <c:f>'Chart Data'!$A$2:$A$8</c:f>
              <c:strCache>
                <c:ptCount val="7"/>
                <c:pt idx="0">
                  <c:v>Hip-Hop/Rap</c:v>
                </c:pt>
                <c:pt idx="1">
                  <c:v>Latin</c:v>
                </c:pt>
                <c:pt idx="2">
                  <c:v>Pop</c:v>
                </c:pt>
                <c:pt idx="3">
                  <c:v>Electronic/Dance</c:v>
                </c:pt>
                <c:pt idx="4">
                  <c:v>Rock/Metal</c:v>
                </c:pt>
                <c:pt idx="5">
                  <c:v>Soul/R&amp;B</c:v>
                </c:pt>
                <c:pt idx="6">
                  <c:v>Other/Unknown</c:v>
                </c:pt>
              </c:strCache>
            </c:strRef>
          </c:cat>
          <c:val>
            <c:numRef>
              <c:f>'Chart Data'!$B$2:$B$8</c:f>
              <c:numCache>
                <c:formatCode>#,##0</c:formatCode>
                <c:ptCount val="7"/>
                <c:pt idx="0">
                  <c:v>24395</c:v>
                </c:pt>
                <c:pt idx="1">
                  <c:v>30737</c:v>
                </c:pt>
                <c:pt idx="2">
                  <c:v>13271</c:v>
                </c:pt>
                <c:pt idx="3">
                  <c:v>6012</c:v>
                </c:pt>
                <c:pt idx="4">
                  <c:v>8530.5</c:v>
                </c:pt>
                <c:pt idx="5">
                  <c:v>7638</c:v>
                </c:pt>
                <c:pt idx="6">
                  <c:v>15977</c:v>
                </c:pt>
              </c:numCache>
            </c:numRef>
          </c:val>
        </c:ser>
        <c:ser>
          <c:idx val="1"/>
          <c:order val="1"/>
          <c:tx>
            <c:v>Explicit</c:v>
          </c:tx>
          <c:spPr>
            <a:solidFill xmlns:a="http://schemas.openxmlformats.org/drawingml/2006/main">
              <a:srgbClr val="17764F"/>
            </a:solidFill>
          </c:spPr>
          <c:cat>
            <c:strRef>
              <c:f>'Chart Data'!$C$2:$C$8</c:f>
              <c:strCache>
                <c:ptCount val="7"/>
                <c:pt idx="0">
                  <c:v>Hip-Hop/Rap</c:v>
                </c:pt>
                <c:pt idx="1">
                  <c:v>Latin</c:v>
                </c:pt>
                <c:pt idx="2">
                  <c:v>Pop</c:v>
                </c:pt>
                <c:pt idx="3">
                  <c:v>Electronic/Dance</c:v>
                </c:pt>
                <c:pt idx="4">
                  <c:v>Rock/Metal</c:v>
                </c:pt>
                <c:pt idx="5">
                  <c:v>Soul/R&amp;B</c:v>
                </c:pt>
                <c:pt idx="6">
                  <c:v>Other/Unknown</c:v>
                </c:pt>
              </c:strCache>
            </c:strRef>
          </c:cat>
          <c:val>
            <c:numRef>
              <c:f>'Chart Data'!$D$2:$D$8</c:f>
              <c:numCache>
                <c:formatCode>#,##0</c:formatCode>
                <c:ptCount val="7"/>
                <c:pt idx="0">
                  <c:v>31219</c:v>
                </c:pt>
                <c:pt idx="1">
                  <c:v>19901</c:v>
                </c:pt>
                <c:pt idx="2">
                  <c:v>23721</c:v>
                </c:pt>
                <c:pt idx="3">
                  <c:v>19149</c:v>
                </c:pt>
                <c:pt idx="4">
                  <c:v>12225</c:v>
                </c:pt>
                <c:pt idx="5">
                  <c:v>6682</c:v>
                </c:pt>
                <c:pt idx="6">
                  <c:v>26747</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425">
                  <a:solidFill>
                    <a:srgbClr val="17261F"/>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65"/>
        <c:overlap val="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CCD8CF"/>
            </a:solidFill>
          </a:ln>
        </c:spPr>
        <c:txPr>
          <a:bodyPr xmlns:a="http://schemas.openxmlformats.org/drawingml/2006/main" anchorCtr="1"/>
          <a:lstStyle xmlns:a="http://schemas.openxmlformats.org/drawingml/2006/main"/>
          <a:p xmlns:a="http://schemas.openxmlformats.org/drawingml/2006/main">
            <a:pPr>
              <a:defRPr sz="1650">
                <a:solidFill>
                  <a:srgbClr val="17261F"/>
                </a:solidFill>
                <a:latin typeface="Helvetica Neue"/>
                <a:ea typeface="Helvetica Neue"/>
                <a:cs typeface="Helvetica Neue"/>
              </a:defRPr>
            </a:pPr>
          </a:p>
        </c:txPr>
        <c:crossAx val="48672768"/>
      </c:catAx>
      <c:valAx>
        <c:axId val="48672768"/>
        <c:scaling>
          <c:orientation val="minMax"/>
          <c:max val="40000"/>
        </c:scaling>
        <c:delete val="0"/>
        <c:axPos val="b"/>
        <c:majorGridlines>
          <c:spPr>
            <a:ln xmlns:a="http://schemas.openxmlformats.org/drawingml/2006/main" w="9525">
              <a:solidFill>
                <a:srgbClr val="E1E8E3"/>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45B"/>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17261F"/>
              </a:solidFill>
              <a:latin typeface="Helvetica Neue"/>
              <a:ea typeface="Helvetica Neue"/>
              <a:cs typeface="Helvetica Neue"/>
            </a:defRPr>
          </a:pPr>
        </a:p>
      </c:txPr>
    </c:legend>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Explicit vs. non-explicit</c:v>
          </c:tx>
          <c:spPr>
            <a:solidFill xmlns:a="http://schemas.openxmlformats.org/drawingml/2006/main">
              <a:srgbClr val="17764F"/>
            </a:solidFill>
          </c:spPr>
          <c:invertIfNegative val="0"/>
          <c:dPt>
            <c:idx val="1"/>
            <c:invertIfNegative val="0"/>
            <c:spPr>
              <a:solidFill xmlns:a="http://schemas.openxmlformats.org/drawingml/2006/main">
                <a:srgbClr val="A45A3D"/>
              </a:solidFill>
            </c:spPr>
          </c:dPt>
          <c:cat>
            <c:strRef>
              <c:f>'Chart Data'!$A$2:$A$4</c:f>
              <c:strCache>
                <c:ptCount val="3"/>
                <c:pt idx="0">
                  <c:v>Hip-Hop/Rap</c:v>
                </c:pt>
                <c:pt idx="1">
                  <c:v>Latin</c:v>
                </c:pt>
                <c:pt idx="2">
                  <c:v>Pop</c:v>
                </c:pt>
              </c:strCache>
            </c:strRef>
          </c:cat>
          <c:val>
            <c:numRef>
              <c:f>'Chart Data'!$B$2:$B$4</c:f>
              <c:numCache>
                <c:formatCode>0.0</c:formatCode>
                <c:ptCount val="3"/>
                <c:pt idx="0">
                  <c:v>0.1994298612408</c:v>
                </c:pt>
                <c:pt idx="1">
                  <c:v>-0.6139525009292</c:v>
                </c:pt>
                <c:pt idx="2">
                  <c:v>0.2150934277875</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425">
                  <a:solidFill>
                    <a:srgbClr val="17261F"/>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65"/>
        <c:overlap val="0"/>
        <c:axId val="48650112"/>
        <c:axId val="48672768"/>
      </c:barChart>
      <c:catAx>
        <c:axId val="48650112"/>
        <c:scaling>
          <c:orientation val="minMax"/>
        </c:scaling>
        <c:delete val="0"/>
        <c:axPos val="l"/>
        <c:numFmt formatCode="General"/>
        <c:majorTickMark val="none"/>
        <c:minorTickMark val="none"/>
        <c:tickLblPos val="low"/>
        <c:spPr>
          <a:ln xmlns:a="http://schemas.openxmlformats.org/drawingml/2006/main" w="9525">
            <a:solidFill>
              <a:srgbClr val="CCD8CF"/>
            </a:solidFill>
          </a:ln>
        </c:spPr>
        <c:txPr>
          <a:bodyPr xmlns:a="http://schemas.openxmlformats.org/drawingml/2006/main" anchorCtr="1"/>
          <a:lstStyle xmlns:a="http://schemas.openxmlformats.org/drawingml/2006/main"/>
          <a:p xmlns:a="http://schemas.openxmlformats.org/drawingml/2006/main">
            <a:pPr>
              <a:defRPr sz="1650">
                <a:solidFill>
                  <a:srgbClr val="17261F"/>
                </a:solidFill>
                <a:latin typeface="Helvetica Neue"/>
                <a:ea typeface="Helvetica Neue"/>
                <a:cs typeface="Helvetica Neue"/>
              </a:defRPr>
            </a:pPr>
          </a:p>
        </c:txPr>
        <c:crossAx val="48672768"/>
      </c:catAx>
      <c:valAx>
        <c:axId val="48672768"/>
        <c:scaling>
          <c:orientation val="minMax"/>
          <c:max val="0.4"/>
          <c:min val="-0.8"/>
        </c:scaling>
        <c:delete val="0"/>
        <c:axPos val="b"/>
        <c:majorGridlines>
          <c:spPr>
            <a:ln xmlns:a="http://schemas.openxmlformats.org/drawingml/2006/main" w="9525">
              <a:solidFill>
                <a:srgbClr val="E1E8E3"/>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45B"/>
                </a:solidFill>
                <a:latin typeface="Helvetica Neue"/>
                <a:ea typeface="Helvetica Neue"/>
                <a:cs typeface="Helvetica Neue"/>
              </a:defRPr>
            </a:pPr>
          </a:p>
        </c:txPr>
        <c:crossAx val="48650112"/>
        <c:crossBetween val="between"/>
        <c:majorUnit val="0.2"/>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7261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9EEC7B6-143D-489B-9407-90019CA34E19}"/>
              </a:ext>
            </a:extLst>
          </p:cNvPr>
          <p:cNvSpPr>
            <a:spLocks xmlns:a="http://schemas.openxmlformats.org/drawingml/2006/main" noGrp="1"/>
          </p:cNvSpPr>
          <p:nvPr/>
        </p:nvSpPr>
        <p:spPr>
          <a:xfrm xmlns:a="http://schemas.openxmlformats.org/drawingml/2006/main">
            <a:off x="609600" y="1143000"/>
            <a:ext cx="10668000" cy="1962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100" b="1">
                <a:solidFill>
                  <a:srgbClr val="FFFFFF"/>
                </a:solidFill>
                <a:latin typeface="Helvetica Neue"/>
                <a:ea typeface="Helvetica Neue"/>
                <a:cs typeface="Helvetica Neue"/>
              </a:defRPr>
            </a:defPPr>
          </a:lstStyle>
          <a:p xmlns:a="http://schemas.openxmlformats.org/drawingml/2006/main">
            <a:pPr>
              <a:defRPr sz="5100" b="1">
                <a:solidFill>
                  <a:srgbClr val="FFFFFF"/>
                </a:solidFill>
                <a:latin typeface="Helvetica Neue"/>
                <a:ea typeface="Helvetica Neue"/>
                <a:cs typeface="Helvetica Neue"/>
              </a:defRPr>
            </a:pPr>
            <a:r>
              <a:rPr sz="5100" b="1">
                <a:solidFill>
                  <a:srgbClr val="FFFFFF"/>
                </a:solidFill>
                <a:latin typeface="Helvetica Neue"/>
                <a:ea typeface="Helvetica Neue"/>
                <a:cs typeface="Helvetica Neue"/>
              </a:rPr>
              <a:t>Explicit lyrics and</a:t>
            </a:r>
          </a:p>
          <a:p xmlns:a="http://schemas.openxmlformats.org/drawingml/2006/main">
            <a:pPr>
              <a:defRPr sz="5100" b="1">
                <a:solidFill>
                  <a:srgbClr val="FFFFFF"/>
                </a:solidFill>
                <a:latin typeface="Helvetica Neue"/>
                <a:ea typeface="Helvetica Neue"/>
                <a:cs typeface="Helvetica Neue"/>
              </a:defRPr>
            </a:pPr>
            <a:r>
              <a:rPr sz="5100" b="1">
                <a:solidFill>
                  <a:srgbClr val="FFFFFF"/>
                </a:solidFill>
                <a:latin typeface="Helvetica Neue"/>
                <a:ea typeface="Helvetica Neue"/>
                <a:cs typeface="Helvetica Neue"/>
              </a:rPr>
              <a:t>Spotify streaming performance</a:t>
            </a:r>
          </a:p>
        </p:txBody>
      </p:sp>
      <p:sp>
        <p:nvSpPr>
          <p:cNvPr id="2" name="">
            <a:extLst xmlns:a="http://schemas.openxmlformats.org/drawingml/2006/main">
              <a:ext uri="{FF2B5EF4-FFF2-40B4-BE49-F238E27FC236}">
                <a16:creationId xmlns:a16="http://schemas.microsoft.com/office/drawing/2014/main" id="{6529AAA0-9446-4D78-9F2C-FC51C2F6D402}"/>
              </a:ext>
            </a:extLst>
          </p:cNvPr>
          <p:cNvSpPr>
            <a:spLocks xmlns:a="http://schemas.openxmlformats.org/drawingml/2006/main" noGrp="1"/>
          </p:cNvSpPr>
          <p:nvPr/>
        </p:nvSpPr>
        <p:spPr>
          <a:xfrm xmlns:a="http://schemas.openxmlformats.org/drawingml/2006/main">
            <a:off x="609600" y="333375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0">
                <a:solidFill>
                  <a:srgbClr val="B9E4C9"/>
                </a:solidFill>
                <a:latin typeface="Helvetica Neue"/>
                <a:ea typeface="Helvetica Neue"/>
                <a:cs typeface="Helvetica Neue"/>
              </a:defRPr>
            </a:defPPr>
          </a:lstStyle>
          <a:p xmlns:a="http://schemas.openxmlformats.org/drawingml/2006/main">
            <a:pPr>
              <a:defRPr sz="2550" b="0">
                <a:solidFill>
                  <a:srgbClr val="B9E4C9"/>
                </a:solidFill>
                <a:latin typeface="Helvetica Neue"/>
                <a:ea typeface="Helvetica Neue"/>
                <a:cs typeface="Helvetica Neue"/>
              </a:defRPr>
            </a:pPr>
            <a:r>
              <a:rPr sz="2550" b="0">
                <a:solidFill>
                  <a:srgbClr val="B9E4C9"/>
                </a:solidFill>
                <a:latin typeface="Helvetica Neue"/>
                <a:ea typeface="Helvetica Neue"/>
                <a:cs typeface="Helvetica Neue"/>
              </a:rPr>
              <a:t>Does the relationship differ across genres?</a:t>
            </a:r>
          </a:p>
        </p:txBody>
      </p:sp>
      <p:sp>
        <p:nvSpPr>
          <p:cNvPr id="3" name="">
            <a:extLst xmlns:a="http://schemas.openxmlformats.org/drawingml/2006/main">
              <a:ext uri="{FF2B5EF4-FFF2-40B4-BE49-F238E27FC236}">
                <a16:creationId xmlns:a16="http://schemas.microsoft.com/office/drawing/2014/main" id="{6FFAE257-CE8C-4EA5-B028-7B4A3AE335CB}"/>
              </a:ext>
            </a:extLst>
          </p:cNvPr>
          <p:cNvSpPr>
            <a:spLocks xmlns:a="http://schemas.openxmlformats.org/drawingml/2006/main" noGrp="1"/>
          </p:cNvSpPr>
          <p:nvPr/>
        </p:nvSpPr>
        <p:spPr>
          <a:xfrm xmlns:a="http://schemas.openxmlformats.org/drawingml/2006/main">
            <a:off x="609600" y="4429125"/>
            <a:ext cx="10382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FFFFF"/>
                </a:solidFill>
                <a:latin typeface="Helvetica Neue"/>
                <a:ea typeface="Helvetica Neue"/>
                <a:cs typeface="Helvetica Neue"/>
              </a:defRPr>
            </a:defPPr>
          </a:lstStyle>
          <a:p xmlns:a="http://schemas.openxmlformats.org/drawingml/2006/main">
            <a:pPr>
              <a:defRPr sz="2100" b="0">
                <a:solidFill>
                  <a:srgbClr val="FFFFFF"/>
                </a:solidFill>
                <a:latin typeface="Helvetica Neue"/>
                <a:ea typeface="Helvetica Neue"/>
                <a:cs typeface="Helvetica Neue"/>
              </a:defRPr>
            </a:pPr>
            <a:r>
              <a:rPr sz="2100" b="0">
                <a:solidFill>
                  <a:srgbClr val="FFFFFF"/>
                </a:solidFill>
                <a:latin typeface="Helvetica Neue"/>
                <a:ea typeface="Helvetica Neue"/>
                <a:cs typeface="Helvetica Neue"/>
              </a:rPr>
              <a:t>BUAD 312 Midterm Project</a:t>
            </a:r>
          </a:p>
          <a:p xmlns:a="http://schemas.openxmlformats.org/drawingml/2006/main">
            <a:pPr>
              <a:defRPr sz="2100" b="0">
                <a:solidFill>
                  <a:srgbClr val="FFFFFF"/>
                </a:solidFill>
                <a:latin typeface="Helvetica Neue"/>
                <a:ea typeface="Helvetica Neue"/>
                <a:cs typeface="Helvetica Neue"/>
              </a:defRPr>
            </a:pPr>
            <a:r>
              <a:rPr sz="2100" b="0">
                <a:solidFill>
                  <a:srgbClr val="FFFFFF"/>
                </a:solidFill>
                <a:latin typeface="Helvetica Neue"/>
                <a:ea typeface="Helvetica Neue"/>
                <a:cs typeface="Helvetica Neue"/>
              </a:rPr>
              <a:t>Consulting analysis for Universal Music</a:t>
            </a:r>
          </a:p>
        </p:txBody>
      </p:sp>
      <p:sp>
        <p:nvSpPr>
          <p:cNvPr id="4" name="">
            <a:extLst xmlns:a="http://schemas.openxmlformats.org/drawingml/2006/main">
              <a:ext uri="{FF2B5EF4-FFF2-40B4-BE49-F238E27FC236}">
                <a16:creationId xmlns:a16="http://schemas.microsoft.com/office/drawing/2014/main" id="{AA1492ED-C870-4865-8F45-978D34080E85}"/>
              </a:ext>
            </a:extLst>
          </p:cNvPr>
          <p:cNvSpPr>
            <a:spLocks xmlns:a="http://schemas.openxmlformats.org/drawingml/2006/main" noGrp="1"/>
          </p:cNvSpPr>
          <p:nvPr/>
        </p:nvSpPr>
        <p:spPr>
          <a:xfrm xmlns:a="http://schemas.openxmlformats.org/drawingml/2006/main">
            <a:off x="609600" y="5610225"/>
            <a:ext cx="10810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D3DED6"/>
                </a:solidFill>
                <a:latin typeface="Helvetica Neue"/>
                <a:ea typeface="Helvetica Neue"/>
                <a:cs typeface="Helvetica Neue"/>
              </a:defRPr>
            </a:defPPr>
          </a:lstStyle>
          <a:p xmlns:a="http://schemas.openxmlformats.org/drawingml/2006/main">
            <a:pPr>
              <a:defRPr sz="1650" b="0">
                <a:solidFill>
                  <a:srgbClr val="D3DED6"/>
                </a:solidFill>
                <a:latin typeface="Helvetica Neue"/>
                <a:ea typeface="Helvetica Neue"/>
                <a:cs typeface="Helvetica Neue"/>
              </a:defRPr>
            </a:pPr>
            <a:r>
              <a:rPr sz="1650" b="0">
                <a:solidFill>
                  <a:srgbClr val="D3DED6"/>
                </a:solidFill>
                <a:latin typeface="Helvetica Neue"/>
                <a:ea typeface="Helvetica Neue"/>
                <a:cs typeface="Helvetica Neue"/>
              </a:rPr>
              <a:t>[Team name]</a:t>
            </a:r>
          </a:p>
          <a:p xmlns:a="http://schemas.openxmlformats.org/drawingml/2006/main">
            <a:pPr>
              <a:defRPr sz="1650" b="0">
                <a:solidFill>
                  <a:srgbClr val="D3DED6"/>
                </a:solidFill>
                <a:latin typeface="Helvetica Neue"/>
                <a:ea typeface="Helvetica Neue"/>
                <a:cs typeface="Helvetica Neue"/>
              </a:defRPr>
            </a:pPr>
            <a:r>
              <a:rPr sz="1650" b="0">
                <a:solidFill>
                  <a:srgbClr val="D3DED6"/>
                </a:solidFill>
                <a:latin typeface="Helvetica Neue"/>
                <a:ea typeface="Helvetica Neue"/>
                <a:cs typeface="Helvetica Neue"/>
              </a:rPr>
              <a:t>[Name 1]   [Name 2]   [Name 3]   [Name 4]   [Name 5]   [Name 6]</a:t>
            </a:r>
          </a:p>
        </p:txBody>
      </p:sp>
    </p:spTree>
    <p:extLst>
      <p:ext uri="{BB962C8B-B14F-4D97-AF65-F5344CB8AC3E}">
        <p14:creationId xmlns:p14="http://schemas.microsoft.com/office/powerpoint/2010/main" val="170753117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A545F80-2387-46FF-B75C-281A6ABE7299}"/>
              </a:ext>
            </a:extLst>
          </p:cNvPr>
          <p:cNvSpPr>
            <a:spLocks xmlns:a="http://schemas.openxmlformats.org/drawingml/2006/main" noGrp="1"/>
          </p:cNvSpPr>
          <p:nvPr/>
        </p:nvSpPr>
        <p:spPr>
          <a:xfrm xmlns:a="http://schemas.openxmlformats.org/drawingml/2006/main">
            <a:off x="609600" y="4191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61F"/>
                </a:solidFill>
                <a:latin typeface="Helvetica Neue"/>
                <a:ea typeface="Helvetica Neue"/>
                <a:cs typeface="Helvetica Neue"/>
              </a:defRPr>
            </a:defPPr>
          </a:lstStyle>
          <a:p xmlns:a="http://schemas.openxmlformats.org/drawingml/2006/main">
            <a:pPr>
              <a:defRPr sz="3300" b="1">
                <a:solidFill>
                  <a:srgbClr val="17261F"/>
                </a:solidFill>
                <a:latin typeface="Helvetica Neue"/>
                <a:ea typeface="Helvetica Neue"/>
                <a:cs typeface="Helvetica Neue"/>
              </a:defRPr>
            </a:pPr>
            <a:r>
              <a:rPr sz="3300" b="1">
                <a:solidFill>
                  <a:srgbClr val="17261F"/>
                </a:solidFill>
                <a:latin typeface="Helvetica Neue"/>
                <a:ea typeface="Helvetica Neue"/>
                <a:cs typeface="Helvetica Neue"/>
              </a:rPr>
              <a:t>Research question and business context</a:t>
            </a:r>
          </a:p>
        </p:txBody>
      </p:sp>
      <p:sp>
        <p:nvSpPr>
          <p:cNvPr id="2" name="">
            <a:extLst xmlns:a="http://schemas.openxmlformats.org/drawingml/2006/main">
              <a:ext uri="{FF2B5EF4-FFF2-40B4-BE49-F238E27FC236}">
                <a16:creationId xmlns:a16="http://schemas.microsoft.com/office/drawing/2014/main" id="{C6E7C5B4-5413-4ECA-AA31-CD5ADCB72381}"/>
              </a:ext>
            </a:extLst>
          </p:cNvPr>
          <p:cNvSpPr>
            <a:spLocks xmlns:a="http://schemas.openxmlformats.org/drawingml/2006/main" noGrp="1"/>
          </p:cNvSpPr>
          <p:nvPr/>
        </p:nvSpPr>
        <p:spPr>
          <a:xfrm xmlns:a="http://schemas.openxmlformats.org/drawingml/2006/main">
            <a:off x="11049000" y="64008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45B"/>
                </a:solidFill>
                <a:latin typeface="Helvetica Neue"/>
                <a:ea typeface="Helvetica Neue"/>
                <a:cs typeface="Helvetica Neue"/>
              </a:defRPr>
            </a:defPPr>
          </a:lstStyle>
          <a:p xmlns:a="http://schemas.openxmlformats.org/drawingml/2006/main">
            <a:pPr>
              <a:defRPr sz="1200" b="0">
                <a:solidFill>
                  <a:srgbClr val="53645B"/>
                </a:solidFill>
                <a:latin typeface="Helvetica Neue"/>
                <a:ea typeface="Helvetica Neue"/>
                <a:cs typeface="Helvetica Neue"/>
              </a:defRPr>
            </a:pPr>
            <a:r>
              <a:rPr sz="1200" b="0">
                <a:solidFill>
                  <a:srgbClr val="53645B"/>
                </a:solidFill>
                <a:latin typeface="Helvetica Neue"/>
                <a:ea typeface="Helvetica Neue"/>
                <a:cs typeface="Helvetica Neue"/>
              </a:rPr>
              <a:t>02</a:t>
            </a:r>
          </a:p>
        </p:txBody>
      </p:sp>
      <p:sp>
        <p:nvSpPr>
          <p:cNvPr id="3" name="">
            <a:extLst xmlns:a="http://schemas.openxmlformats.org/drawingml/2006/main">
              <a:ext uri="{FF2B5EF4-FFF2-40B4-BE49-F238E27FC236}">
                <a16:creationId xmlns:a16="http://schemas.microsoft.com/office/drawing/2014/main" id="{3E97F684-CEAD-43A3-B835-5563A978C962}"/>
              </a:ext>
            </a:extLst>
          </p:cNvPr>
          <p:cNvSpPr>
            <a:spLocks xmlns:a="http://schemas.openxmlformats.org/drawingml/2006/main" noGrp="1"/>
          </p:cNvSpPr>
          <p:nvPr/>
        </p:nvSpPr>
        <p:spPr>
          <a:xfrm xmlns:a="http://schemas.openxmlformats.org/drawingml/2006/main">
            <a:off x="609600" y="1666875"/>
            <a:ext cx="10572750"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17261F"/>
                </a:solidFill>
                <a:latin typeface="Helvetica Neue"/>
                <a:ea typeface="Helvetica Neue"/>
                <a:cs typeface="Helvetica Neue"/>
              </a:defRPr>
            </a:defPPr>
          </a:lstStyle>
          <a:p xmlns:a="http://schemas.openxmlformats.org/drawingml/2006/main">
            <a:pPr>
              <a:defRPr sz="2850" b="1">
                <a:solidFill>
                  <a:srgbClr val="17261F"/>
                </a:solidFill>
                <a:latin typeface="Helvetica Neue"/>
                <a:ea typeface="Helvetica Neue"/>
                <a:cs typeface="Helvetica Neue"/>
              </a:defRPr>
            </a:pPr>
            <a:r>
              <a:rPr sz="2850" b="1">
                <a:solidFill>
                  <a:srgbClr val="17261F"/>
                </a:solidFill>
                <a:latin typeface="Helvetica Neue"/>
                <a:ea typeface="Helvetica Neue"/>
                <a:cs typeface="Helvetica Neue"/>
              </a:rPr>
              <a:t>Does explicitness relate to streams differently across genres, after accounting for artist and song characteristics?</a:t>
            </a:r>
          </a:p>
        </p:txBody>
      </p:sp>
      <p:sp>
        <p:nvSpPr>
          <p:cNvPr id="4" name="">
            <a:extLst xmlns:a="http://schemas.openxmlformats.org/drawingml/2006/main">
              <a:ext uri="{FF2B5EF4-FFF2-40B4-BE49-F238E27FC236}">
                <a16:creationId xmlns:a16="http://schemas.microsoft.com/office/drawing/2014/main" id="{8399272B-6AC2-405A-87F8-5726201F1C3C}"/>
              </a:ext>
            </a:extLst>
          </p:cNvPr>
          <p:cNvSpPr>
            <a:spLocks xmlns:a="http://schemas.openxmlformats.org/drawingml/2006/main" noGrp="1"/>
          </p:cNvSpPr>
          <p:nvPr/>
        </p:nvSpPr>
        <p:spPr>
          <a:xfrm xmlns:a="http://schemas.openxmlformats.org/drawingml/2006/main">
            <a:off x="609600" y="3486150"/>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7764F"/>
                </a:solidFill>
                <a:latin typeface="Helvetica Neue"/>
                <a:ea typeface="Helvetica Neue"/>
                <a:cs typeface="Helvetica Neue"/>
              </a:defRPr>
            </a:defPPr>
          </a:lstStyle>
          <a:p xmlns:a="http://schemas.openxmlformats.org/drawingml/2006/main">
            <a:pPr>
              <a:defRPr sz="2100" b="1">
                <a:solidFill>
                  <a:srgbClr val="17764F"/>
                </a:solidFill>
                <a:latin typeface="Helvetica Neue"/>
                <a:ea typeface="Helvetica Neue"/>
                <a:cs typeface="Helvetica Neue"/>
              </a:defRPr>
            </a:pPr>
            <a:r>
              <a:rPr sz="2100" b="1">
                <a:solidFill>
                  <a:srgbClr val="17764F"/>
                </a:solidFill>
                <a:latin typeface="Helvetica Neue"/>
                <a:ea typeface="Helvetica Neue"/>
                <a:cs typeface="Helvetica Neue"/>
              </a:rPr>
              <a:t>Business use</a:t>
            </a:r>
          </a:p>
        </p:txBody>
      </p:sp>
      <p:sp>
        <p:nvSpPr>
          <p:cNvPr id="5" name="">
            <a:extLst xmlns:a="http://schemas.openxmlformats.org/drawingml/2006/main">
              <a:ext uri="{FF2B5EF4-FFF2-40B4-BE49-F238E27FC236}">
                <a16:creationId xmlns:a16="http://schemas.microsoft.com/office/drawing/2014/main" id="{0B2FEC54-C49A-4754-B932-738D9C58C4D2}"/>
              </a:ext>
            </a:extLst>
          </p:cNvPr>
          <p:cNvSpPr>
            <a:spLocks xmlns:a="http://schemas.openxmlformats.org/drawingml/2006/main" noGrp="1"/>
          </p:cNvSpPr>
          <p:nvPr/>
        </p:nvSpPr>
        <p:spPr>
          <a:xfrm xmlns:a="http://schemas.openxmlformats.org/drawingml/2006/main">
            <a:off x="609600" y="4010025"/>
            <a:ext cx="4810125"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7261F"/>
                </a:solidFill>
                <a:latin typeface="Helvetica Neue"/>
                <a:ea typeface="Helvetica Neue"/>
                <a:cs typeface="Helvetica Neue"/>
              </a:defRPr>
            </a:defPPr>
          </a:lstStyle>
          <a:p xmlns:a="http://schemas.openxmlformats.org/drawingml/2006/main">
            <a:pPr>
              <a:defRPr sz="2100" b="0">
                <a:solidFill>
                  <a:srgbClr val="17261F"/>
                </a:solidFill>
                <a:latin typeface="Helvetica Neue"/>
                <a:ea typeface="Helvetica Neue"/>
                <a:cs typeface="Helvetica Neue"/>
              </a:defRPr>
            </a:pPr>
            <a:r>
              <a:rPr sz="2100" b="0">
                <a:solidFill>
                  <a:srgbClr val="17261F"/>
                </a:solidFill>
                <a:latin typeface="Helvetica Neue"/>
                <a:ea typeface="Helvetica Neue"/>
                <a:cs typeface="Helvetica Neue"/>
              </a:rPr>
              <a:t>Help Universal evaluate catalog performance within the appropriate genre context.</a:t>
            </a:r>
          </a:p>
        </p:txBody>
      </p:sp>
      <p:sp>
        <p:nvSpPr>
          <p:cNvPr id="6" name="">
            <a:extLst xmlns:a="http://schemas.openxmlformats.org/drawingml/2006/main">
              <a:ext uri="{FF2B5EF4-FFF2-40B4-BE49-F238E27FC236}">
                <a16:creationId xmlns:a16="http://schemas.microsoft.com/office/drawing/2014/main" id="{E9FE2E18-A77B-4C1C-A86C-C47F32A689AC}"/>
              </a:ext>
            </a:extLst>
          </p:cNvPr>
          <p:cNvSpPr>
            <a:spLocks xmlns:a="http://schemas.openxmlformats.org/drawingml/2006/main" noGrp="1"/>
          </p:cNvSpPr>
          <p:nvPr/>
        </p:nvSpPr>
        <p:spPr>
          <a:xfrm xmlns:a="http://schemas.openxmlformats.org/drawingml/2006/main">
            <a:off x="6419850" y="3486150"/>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7764F"/>
                </a:solidFill>
                <a:latin typeface="Helvetica Neue"/>
                <a:ea typeface="Helvetica Neue"/>
                <a:cs typeface="Helvetica Neue"/>
              </a:defRPr>
            </a:defPPr>
          </a:lstStyle>
          <a:p xmlns:a="http://schemas.openxmlformats.org/drawingml/2006/main">
            <a:pPr>
              <a:defRPr sz="2100" b="1">
                <a:solidFill>
                  <a:srgbClr val="17764F"/>
                </a:solidFill>
                <a:latin typeface="Helvetica Neue"/>
                <a:ea typeface="Helvetica Neue"/>
                <a:cs typeface="Helvetica Neue"/>
              </a:defRPr>
            </a:pPr>
            <a:r>
              <a:rPr sz="2100" b="1">
                <a:solidFill>
                  <a:srgbClr val="17764F"/>
                </a:solidFill>
                <a:latin typeface="Helvetica Neue"/>
                <a:ea typeface="Helvetica Neue"/>
                <a:cs typeface="Helvetica Neue"/>
              </a:rPr>
              <a:t>Comparison</a:t>
            </a:r>
          </a:p>
        </p:txBody>
      </p:sp>
      <p:sp>
        <p:nvSpPr>
          <p:cNvPr id="7" name="">
            <a:extLst xmlns:a="http://schemas.openxmlformats.org/drawingml/2006/main">
              <a:ext uri="{FF2B5EF4-FFF2-40B4-BE49-F238E27FC236}">
                <a16:creationId xmlns:a16="http://schemas.microsoft.com/office/drawing/2014/main" id="{440A7930-AC60-4C11-91B9-62D4184CBE8B}"/>
              </a:ext>
            </a:extLst>
          </p:cNvPr>
          <p:cNvSpPr>
            <a:spLocks xmlns:a="http://schemas.openxmlformats.org/drawingml/2006/main" noGrp="1"/>
          </p:cNvSpPr>
          <p:nvPr/>
        </p:nvSpPr>
        <p:spPr>
          <a:xfrm xmlns:a="http://schemas.openxmlformats.org/drawingml/2006/main">
            <a:off x="6419850" y="4010025"/>
            <a:ext cx="48101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7261F"/>
                </a:solidFill>
                <a:latin typeface="Helvetica Neue"/>
                <a:ea typeface="Helvetica Neue"/>
                <a:cs typeface="Helvetica Neue"/>
              </a:defRPr>
            </a:defPPr>
          </a:lstStyle>
          <a:p xmlns:a="http://schemas.openxmlformats.org/drawingml/2006/main">
            <a:pPr>
              <a:defRPr sz="2100" b="0">
                <a:solidFill>
                  <a:srgbClr val="17261F"/>
                </a:solidFill>
                <a:latin typeface="Helvetica Neue"/>
                <a:ea typeface="Helvetica Neue"/>
                <a:cs typeface="Helvetica Neue"/>
              </a:defRPr>
            </a:pPr>
            <a:r>
              <a:rPr sz="2100" b="0">
                <a:solidFill>
                  <a:srgbClr val="17261F"/>
                </a:solidFill>
                <a:latin typeface="Helvetica Neue"/>
                <a:ea typeface="Helvetica Neue"/>
                <a:cs typeface="Helvetica Neue"/>
              </a:rPr>
              <a:t>Explicit versus non-explicit tracks within each genre. The outcome is recorded streams per track.</a:t>
            </a:r>
          </a:p>
        </p:txBody>
      </p:sp>
      <p:sp>
        <p:nvSpPr>
          <p:cNvPr id="8" name="">
            <a:extLst xmlns:a="http://schemas.openxmlformats.org/drawingml/2006/main">
              <a:ext uri="{FF2B5EF4-FFF2-40B4-BE49-F238E27FC236}">
                <a16:creationId xmlns:a16="http://schemas.microsoft.com/office/drawing/2014/main" id="{DCF92AF2-AA3D-4286-9EFC-AC320790452F}"/>
              </a:ext>
            </a:extLst>
          </p:cNvPr>
          <p:cNvSpPr>
            <a:spLocks xmlns:a="http://schemas.openxmlformats.org/drawingml/2006/main" noGrp="1"/>
          </p:cNvSpPr>
          <p:nvPr/>
        </p:nvSpPr>
        <p:spPr>
          <a:xfrm xmlns:a="http://schemas.openxmlformats.org/drawingml/2006/main">
            <a:off x="609600" y="5810250"/>
            <a:ext cx="10810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3645B"/>
                </a:solidFill>
                <a:latin typeface="Helvetica Neue"/>
                <a:ea typeface="Helvetica Neue"/>
                <a:cs typeface="Helvetica Neue"/>
              </a:defRPr>
            </a:defPPr>
          </a:lstStyle>
          <a:p xmlns:a="http://schemas.openxmlformats.org/drawingml/2006/main">
            <a:pPr>
              <a:defRPr sz="1800" b="0">
                <a:solidFill>
                  <a:srgbClr val="53645B"/>
                </a:solidFill>
                <a:latin typeface="Helvetica Neue"/>
                <a:ea typeface="Helvetica Neue"/>
                <a:cs typeface="Helvetica Neue"/>
              </a:defRPr>
            </a:pPr>
            <a:r>
              <a:rPr sz="1800" b="0">
                <a:solidFill>
                  <a:srgbClr val="53645B"/>
                </a:solidFill>
                <a:latin typeface="Helvetica Neue"/>
                <a:ea typeface="Helvetica Neue"/>
                <a:cs typeface="Helvetica Neue"/>
              </a:rPr>
              <a:t>The analysis estimates associations. It does not establish the effect of changing lyrics.</a:t>
            </a:r>
          </a:p>
        </p:txBody>
      </p:sp>
    </p:spTree>
    <p:extLst>
      <p:ext uri="{BB962C8B-B14F-4D97-AF65-F5344CB8AC3E}">
        <p14:creationId xmlns:p14="http://schemas.microsoft.com/office/powerpoint/2010/main" val="132714487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21BECAC-43A1-428F-84E5-62CD56C97B5F}"/>
              </a:ext>
            </a:extLst>
          </p:cNvPr>
          <p:cNvSpPr>
            <a:spLocks xmlns:a="http://schemas.openxmlformats.org/drawingml/2006/main" noGrp="1"/>
          </p:cNvSpPr>
          <p:nvPr/>
        </p:nvSpPr>
        <p:spPr>
          <a:xfrm xmlns:a="http://schemas.openxmlformats.org/drawingml/2006/main">
            <a:off x="609600" y="4191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61F"/>
                </a:solidFill>
                <a:latin typeface="Helvetica Neue"/>
                <a:ea typeface="Helvetica Neue"/>
                <a:cs typeface="Helvetica Neue"/>
              </a:defRPr>
            </a:defPPr>
          </a:lstStyle>
          <a:p xmlns:a="http://schemas.openxmlformats.org/drawingml/2006/main">
            <a:pPr>
              <a:defRPr sz="3300" b="1">
                <a:solidFill>
                  <a:srgbClr val="17261F"/>
                </a:solidFill>
                <a:latin typeface="Helvetica Neue"/>
                <a:ea typeface="Helvetica Neue"/>
                <a:cs typeface="Helvetica Neue"/>
              </a:defRPr>
            </a:pPr>
            <a:r>
              <a:rPr sz="3300" b="1">
                <a:solidFill>
                  <a:srgbClr val="17261F"/>
                </a:solidFill>
                <a:latin typeface="Helvetica Neue"/>
                <a:ea typeface="Helvetica Neue"/>
                <a:cs typeface="Helvetica Neue"/>
              </a:rPr>
              <a:t>Data and cleaning decisions</a:t>
            </a:r>
          </a:p>
        </p:txBody>
      </p:sp>
      <p:sp>
        <p:nvSpPr>
          <p:cNvPr id="2" name="">
            <a:extLst xmlns:a="http://schemas.openxmlformats.org/drawingml/2006/main">
              <a:ext uri="{FF2B5EF4-FFF2-40B4-BE49-F238E27FC236}">
                <a16:creationId xmlns:a16="http://schemas.microsoft.com/office/drawing/2014/main" id="{E463A416-30B4-44F2-9B23-C08BB87CE428}"/>
              </a:ext>
            </a:extLst>
          </p:cNvPr>
          <p:cNvSpPr>
            <a:spLocks xmlns:a="http://schemas.openxmlformats.org/drawingml/2006/main" noGrp="1"/>
          </p:cNvSpPr>
          <p:nvPr/>
        </p:nvSpPr>
        <p:spPr>
          <a:xfrm xmlns:a="http://schemas.openxmlformats.org/drawingml/2006/main">
            <a:off x="11049000" y="64008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45B"/>
                </a:solidFill>
                <a:latin typeface="Helvetica Neue"/>
                <a:ea typeface="Helvetica Neue"/>
                <a:cs typeface="Helvetica Neue"/>
              </a:defRPr>
            </a:defPPr>
          </a:lstStyle>
          <a:p xmlns:a="http://schemas.openxmlformats.org/drawingml/2006/main">
            <a:pPr>
              <a:defRPr sz="1200" b="0">
                <a:solidFill>
                  <a:srgbClr val="53645B"/>
                </a:solidFill>
                <a:latin typeface="Helvetica Neue"/>
                <a:ea typeface="Helvetica Neue"/>
                <a:cs typeface="Helvetica Neue"/>
              </a:defRPr>
            </a:pPr>
            <a:r>
              <a:rPr sz="1200" b="0">
                <a:solidFill>
                  <a:srgbClr val="53645B"/>
                </a:solidFill>
                <a:latin typeface="Helvetica Neue"/>
                <a:ea typeface="Helvetica Neue"/>
                <a:cs typeface="Helvetica Neue"/>
              </a:rPr>
              <a:t>03</a:t>
            </a:r>
          </a:p>
        </p:txBody>
      </p:sp>
      <p:sp>
        <p:nvSpPr>
          <p:cNvPr id="3" name="">
            <a:extLst xmlns:a="http://schemas.openxmlformats.org/drawingml/2006/main">
              <a:ext uri="{FF2B5EF4-FFF2-40B4-BE49-F238E27FC236}">
                <a16:creationId xmlns:a16="http://schemas.microsoft.com/office/drawing/2014/main" id="{F40BBD58-C38D-4E7C-8FC3-5DE71EDD9E46}"/>
              </a:ext>
            </a:extLst>
          </p:cNvPr>
          <p:cNvSpPr>
            <a:spLocks xmlns:a="http://schemas.openxmlformats.org/drawingml/2006/main" noGrp="1"/>
          </p:cNvSpPr>
          <p:nvPr/>
        </p:nvSpPr>
        <p:spPr>
          <a:xfrm xmlns:a="http://schemas.openxmlformats.org/drawingml/2006/main">
            <a:off x="609600" y="1733550"/>
            <a:ext cx="304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100" b="1">
                <a:solidFill>
                  <a:srgbClr val="17764F"/>
                </a:solidFill>
                <a:latin typeface="Helvetica Neue"/>
                <a:ea typeface="Helvetica Neue"/>
                <a:cs typeface="Helvetica Neue"/>
              </a:defRPr>
            </a:defPPr>
          </a:lstStyle>
          <a:p xmlns:a="http://schemas.openxmlformats.org/drawingml/2006/main">
            <a:pPr>
              <a:defRPr sz="5100" b="1">
                <a:solidFill>
                  <a:srgbClr val="17764F"/>
                </a:solidFill>
                <a:latin typeface="Helvetica Neue"/>
                <a:ea typeface="Helvetica Neue"/>
                <a:cs typeface="Helvetica Neue"/>
              </a:defRPr>
            </a:pPr>
            <a:r>
              <a:rPr sz="5100" b="1">
                <a:solidFill>
                  <a:srgbClr val="17764F"/>
                </a:solidFill>
                <a:latin typeface="Helvetica Neue"/>
                <a:ea typeface="Helvetica Neue"/>
                <a:cs typeface="Helvetica Neue"/>
              </a:rPr>
              <a:t>5,870</a:t>
            </a:r>
          </a:p>
        </p:txBody>
      </p:sp>
      <p:sp>
        <p:nvSpPr>
          <p:cNvPr id="4" name="">
            <a:extLst xmlns:a="http://schemas.openxmlformats.org/drawingml/2006/main">
              <a:ext uri="{FF2B5EF4-FFF2-40B4-BE49-F238E27FC236}">
                <a16:creationId xmlns:a16="http://schemas.microsoft.com/office/drawing/2014/main" id="{C6EF4A1E-959B-4C49-8A4E-0656181D7F77}"/>
              </a:ext>
            </a:extLst>
          </p:cNvPr>
          <p:cNvSpPr>
            <a:spLocks xmlns:a="http://schemas.openxmlformats.org/drawingml/2006/main" noGrp="1"/>
          </p:cNvSpPr>
          <p:nvPr/>
        </p:nvSpPr>
        <p:spPr>
          <a:xfrm xmlns:a="http://schemas.openxmlformats.org/drawingml/2006/main">
            <a:off x="609600" y="2686050"/>
            <a:ext cx="304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7261F"/>
                </a:solidFill>
                <a:latin typeface="Helvetica Neue"/>
                <a:ea typeface="Helvetica Neue"/>
                <a:cs typeface="Helvetica Neue"/>
              </a:defRPr>
            </a:defPPr>
          </a:lstStyle>
          <a:p xmlns:a="http://schemas.openxmlformats.org/drawingml/2006/main">
            <a:pPr>
              <a:defRPr sz="2100" b="0">
                <a:solidFill>
                  <a:srgbClr val="17261F"/>
                </a:solidFill>
                <a:latin typeface="Helvetica Neue"/>
                <a:ea typeface="Helvetica Neue"/>
                <a:cs typeface="Helvetica Neue"/>
              </a:defRPr>
            </a:pPr>
            <a:r>
              <a:rPr sz="2100" b="0">
                <a:solidFill>
                  <a:srgbClr val="17261F"/>
                </a:solidFill>
                <a:latin typeface="Helvetica Neue"/>
                <a:ea typeface="Helvetica Neue"/>
                <a:cs typeface="Helvetica Neue"/>
              </a:rPr>
              <a:t>Original tracks</a:t>
            </a:r>
          </a:p>
        </p:txBody>
      </p:sp>
      <p:sp>
        <p:nvSpPr>
          <p:cNvPr id="5" name="">
            <a:extLst xmlns:a="http://schemas.openxmlformats.org/drawingml/2006/main">
              <a:ext uri="{FF2B5EF4-FFF2-40B4-BE49-F238E27FC236}">
                <a16:creationId xmlns:a16="http://schemas.microsoft.com/office/drawing/2014/main" id="{FB71BFDB-F374-4413-B7E1-51957D640F51}"/>
              </a:ext>
            </a:extLst>
          </p:cNvPr>
          <p:cNvSpPr>
            <a:spLocks xmlns:a="http://schemas.openxmlformats.org/drawingml/2006/main" noGrp="1"/>
          </p:cNvSpPr>
          <p:nvPr/>
        </p:nvSpPr>
        <p:spPr>
          <a:xfrm xmlns:a="http://schemas.openxmlformats.org/drawingml/2006/main">
            <a:off x="4476750" y="1733550"/>
            <a:ext cx="304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100" b="1">
                <a:solidFill>
                  <a:srgbClr val="17764F"/>
                </a:solidFill>
                <a:latin typeface="Helvetica Neue"/>
                <a:ea typeface="Helvetica Neue"/>
                <a:cs typeface="Helvetica Neue"/>
              </a:defRPr>
            </a:defPPr>
          </a:lstStyle>
          <a:p xmlns:a="http://schemas.openxmlformats.org/drawingml/2006/main">
            <a:pPr>
              <a:defRPr sz="5100" b="1">
                <a:solidFill>
                  <a:srgbClr val="17764F"/>
                </a:solidFill>
                <a:latin typeface="Helvetica Neue"/>
                <a:ea typeface="Helvetica Neue"/>
                <a:cs typeface="Helvetica Neue"/>
              </a:defRPr>
            </a:pPr>
            <a:r>
              <a:rPr sz="5100" b="1">
                <a:solidFill>
                  <a:srgbClr val="17764F"/>
                </a:solidFill>
                <a:latin typeface="Helvetica Neue"/>
                <a:ea typeface="Helvetica Neue"/>
                <a:cs typeface="Helvetica Neue"/>
              </a:rPr>
              <a:t>5,824</a:t>
            </a:r>
          </a:p>
        </p:txBody>
      </p:sp>
      <p:sp>
        <p:nvSpPr>
          <p:cNvPr id="6" name="">
            <a:extLst xmlns:a="http://schemas.openxmlformats.org/drawingml/2006/main">
              <a:ext uri="{FF2B5EF4-FFF2-40B4-BE49-F238E27FC236}">
                <a16:creationId xmlns:a16="http://schemas.microsoft.com/office/drawing/2014/main" id="{9AB28EB2-7C85-48D9-BDBF-E378BAFBB7AE}"/>
              </a:ext>
            </a:extLst>
          </p:cNvPr>
          <p:cNvSpPr>
            <a:spLocks xmlns:a="http://schemas.openxmlformats.org/drawingml/2006/main" noGrp="1"/>
          </p:cNvSpPr>
          <p:nvPr/>
        </p:nvSpPr>
        <p:spPr>
          <a:xfrm xmlns:a="http://schemas.openxmlformats.org/drawingml/2006/main">
            <a:off x="4476750" y="2686050"/>
            <a:ext cx="3381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7261F"/>
                </a:solidFill>
                <a:latin typeface="Helvetica Neue"/>
                <a:ea typeface="Helvetica Neue"/>
                <a:cs typeface="Helvetica Neue"/>
              </a:defRPr>
            </a:defPPr>
          </a:lstStyle>
          <a:p xmlns:a="http://schemas.openxmlformats.org/drawingml/2006/main">
            <a:pPr>
              <a:defRPr sz="2100" b="0">
                <a:solidFill>
                  <a:srgbClr val="17261F"/>
                </a:solidFill>
                <a:latin typeface="Helvetica Neue"/>
                <a:ea typeface="Helvetica Neue"/>
                <a:cs typeface="Helvetica Neue"/>
              </a:defRPr>
            </a:pPr>
            <a:r>
              <a:rPr sz="2100" b="0">
                <a:solidFill>
                  <a:srgbClr val="17261F"/>
                </a:solidFill>
                <a:latin typeface="Helvetica Neue"/>
                <a:ea typeface="Helvetica Neue"/>
                <a:cs typeface="Helvetica Neue"/>
              </a:rPr>
              <a:t>Tracks in the models</a:t>
            </a:r>
          </a:p>
        </p:txBody>
      </p:sp>
      <p:sp>
        <p:nvSpPr>
          <p:cNvPr id="7" name="">
            <a:extLst xmlns:a="http://schemas.openxmlformats.org/drawingml/2006/main">
              <a:ext uri="{FF2B5EF4-FFF2-40B4-BE49-F238E27FC236}">
                <a16:creationId xmlns:a16="http://schemas.microsoft.com/office/drawing/2014/main" id="{445A9DB3-867E-4605-8316-AAF0F862B20A}"/>
              </a:ext>
            </a:extLst>
          </p:cNvPr>
          <p:cNvSpPr>
            <a:spLocks xmlns:a="http://schemas.openxmlformats.org/drawingml/2006/main" noGrp="1"/>
          </p:cNvSpPr>
          <p:nvPr/>
        </p:nvSpPr>
        <p:spPr>
          <a:xfrm xmlns:a="http://schemas.openxmlformats.org/drawingml/2006/main">
            <a:off x="8705850" y="1733550"/>
            <a:ext cx="2667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100" b="1">
                <a:solidFill>
                  <a:srgbClr val="17764F"/>
                </a:solidFill>
                <a:latin typeface="Helvetica Neue"/>
                <a:ea typeface="Helvetica Neue"/>
                <a:cs typeface="Helvetica Neue"/>
              </a:defRPr>
            </a:defPPr>
          </a:lstStyle>
          <a:p xmlns:a="http://schemas.openxmlformats.org/drawingml/2006/main">
            <a:pPr>
              <a:defRPr sz="5100" b="1">
                <a:solidFill>
                  <a:srgbClr val="17764F"/>
                </a:solidFill>
                <a:latin typeface="Helvetica Neue"/>
                <a:ea typeface="Helvetica Neue"/>
                <a:cs typeface="Helvetica Neue"/>
              </a:defRPr>
            </a:pPr>
            <a:r>
              <a:rPr sz="5100" b="1">
                <a:solidFill>
                  <a:srgbClr val="17764F"/>
                </a:solidFill>
                <a:latin typeface="Helvetica Neue"/>
                <a:ea typeface="Helvetica Neue"/>
                <a:cs typeface="Helvetica Neue"/>
              </a:rPr>
              <a:t>46</a:t>
            </a:r>
          </a:p>
        </p:txBody>
      </p:sp>
      <p:sp>
        <p:nvSpPr>
          <p:cNvPr id="8" name="">
            <a:extLst xmlns:a="http://schemas.openxmlformats.org/drawingml/2006/main">
              <a:ext uri="{FF2B5EF4-FFF2-40B4-BE49-F238E27FC236}">
                <a16:creationId xmlns:a16="http://schemas.microsoft.com/office/drawing/2014/main" id="{6ED71F60-54EE-4A40-AD10-3FB2496E18CB}"/>
              </a:ext>
            </a:extLst>
          </p:cNvPr>
          <p:cNvSpPr>
            <a:spLocks xmlns:a="http://schemas.openxmlformats.org/drawingml/2006/main" noGrp="1"/>
          </p:cNvSpPr>
          <p:nvPr/>
        </p:nvSpPr>
        <p:spPr>
          <a:xfrm xmlns:a="http://schemas.openxmlformats.org/drawingml/2006/main">
            <a:off x="8705850" y="2686050"/>
            <a:ext cx="2762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7261F"/>
                </a:solidFill>
                <a:latin typeface="Helvetica Neue"/>
                <a:ea typeface="Helvetica Neue"/>
                <a:cs typeface="Helvetica Neue"/>
              </a:defRPr>
            </a:defPPr>
          </a:lstStyle>
          <a:p xmlns:a="http://schemas.openxmlformats.org/drawingml/2006/main">
            <a:pPr>
              <a:defRPr sz="2100" b="0">
                <a:solidFill>
                  <a:srgbClr val="17261F"/>
                </a:solidFill>
                <a:latin typeface="Helvetica Neue"/>
                <a:ea typeface="Helvetica Neue"/>
                <a:cs typeface="Helvetica Neue"/>
              </a:defRPr>
            </a:pPr>
            <a:r>
              <a:rPr sz="2100" b="0">
                <a:solidFill>
                  <a:srgbClr val="17261F"/>
                </a:solidFill>
                <a:latin typeface="Helvetica Neue"/>
                <a:ea typeface="Helvetica Neue"/>
                <a:cs typeface="Helvetica Neue"/>
              </a:rPr>
              <a:t>Rows excluded</a:t>
            </a:r>
          </a:p>
        </p:txBody>
      </p:sp>
      <p:sp>
        <p:nvSpPr>
          <p:cNvPr id="9" name="">
            <a:extLst xmlns:a="http://schemas.openxmlformats.org/drawingml/2006/main">
              <a:ext uri="{FF2B5EF4-FFF2-40B4-BE49-F238E27FC236}">
                <a16:creationId xmlns:a16="http://schemas.microsoft.com/office/drawing/2014/main" id="{DDB764C8-C90E-451C-A26D-1118F004227B}"/>
              </a:ext>
            </a:extLst>
          </p:cNvPr>
          <p:cNvSpPr>
            <a:spLocks xmlns:a="http://schemas.openxmlformats.org/drawingml/2006/main" noGrp="1"/>
          </p:cNvSpPr>
          <p:nvPr/>
        </p:nvSpPr>
        <p:spPr>
          <a:xfrm xmlns:a="http://schemas.openxmlformats.org/drawingml/2006/main">
            <a:off x="609600" y="3733800"/>
            <a:ext cx="447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7764F"/>
                </a:solidFill>
                <a:latin typeface="Helvetica Neue"/>
                <a:ea typeface="Helvetica Neue"/>
                <a:cs typeface="Helvetica Neue"/>
              </a:defRPr>
            </a:defPPr>
          </a:lstStyle>
          <a:p xmlns:a="http://schemas.openxmlformats.org/drawingml/2006/main">
            <a:pPr>
              <a:defRPr sz="2100" b="1">
                <a:solidFill>
                  <a:srgbClr val="17764F"/>
                </a:solidFill>
                <a:latin typeface="Helvetica Neue"/>
                <a:ea typeface="Helvetica Neue"/>
                <a:cs typeface="Helvetica Neue"/>
              </a:defRPr>
            </a:pPr>
            <a:r>
              <a:rPr sz="2100" b="1">
                <a:solidFill>
                  <a:srgbClr val="17764F"/>
                </a:solidFill>
                <a:latin typeface="Helvetica Neue"/>
                <a:ea typeface="Helvetica Neue"/>
                <a:cs typeface="Helvetica Neue"/>
              </a:rPr>
              <a:t>Cleaning</a:t>
            </a:r>
          </a:p>
        </p:txBody>
      </p:sp>
      <p:sp>
        <p:nvSpPr>
          <p:cNvPr id="10" name="">
            <a:extLst xmlns:a="http://schemas.openxmlformats.org/drawingml/2006/main">
              <a:ext uri="{FF2B5EF4-FFF2-40B4-BE49-F238E27FC236}">
                <a16:creationId xmlns:a16="http://schemas.microsoft.com/office/drawing/2014/main" id="{40F9F95F-CF73-450D-9F99-6296362A5599}"/>
              </a:ext>
            </a:extLst>
          </p:cNvPr>
          <p:cNvSpPr>
            <a:spLocks xmlns:a="http://schemas.openxmlformats.org/drawingml/2006/main" noGrp="1"/>
          </p:cNvSpPr>
          <p:nvPr/>
        </p:nvSpPr>
        <p:spPr>
          <a:xfrm xmlns:a="http://schemas.openxmlformats.org/drawingml/2006/main">
            <a:off x="609600" y="4267200"/>
            <a:ext cx="485775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61F"/>
                </a:solidFill>
                <a:latin typeface="Helvetica Neue"/>
                <a:ea typeface="Helvetica Neue"/>
                <a:cs typeface="Helvetica Neue"/>
              </a:defRPr>
            </a:defPPr>
          </a:lstStyle>
          <a:p xmlns:a="http://schemas.openxmlformats.org/drawingml/2006/main">
            <a:pPr>
              <a:defRPr sz="2025" b="0">
                <a:solidFill>
                  <a:srgbClr val="17261F"/>
                </a:solidFill>
                <a:latin typeface="Helvetica Neue"/>
                <a:ea typeface="Helvetica Neue"/>
                <a:cs typeface="Helvetica Neue"/>
              </a:defRPr>
            </a:pPr>
            <a:r>
              <a:rPr sz="2025" b="0">
                <a:solidFill>
                  <a:srgbClr val="17261F"/>
                </a:solidFill>
                <a:latin typeface="Helvetica Neue"/>
                <a:ea typeface="Helvetica Neue"/>
                <a:cs typeface="Helvetica Neue"/>
              </a:rPr>
              <a:t>Exclude invalid durations and missing model inputs. Convert dates to release years. Keep large stream counts in the main model.</a:t>
            </a:r>
          </a:p>
        </p:txBody>
      </p:sp>
      <p:sp>
        <p:nvSpPr>
          <p:cNvPr id="11" name="">
            <a:extLst xmlns:a="http://schemas.openxmlformats.org/drawingml/2006/main">
              <a:ext uri="{FF2B5EF4-FFF2-40B4-BE49-F238E27FC236}">
                <a16:creationId xmlns:a16="http://schemas.microsoft.com/office/drawing/2014/main" id="{AF4A360A-F19F-484D-8071-E194FF807288}"/>
              </a:ext>
            </a:extLst>
          </p:cNvPr>
          <p:cNvSpPr>
            <a:spLocks xmlns:a="http://schemas.openxmlformats.org/drawingml/2006/main" noGrp="1"/>
          </p:cNvSpPr>
          <p:nvPr/>
        </p:nvSpPr>
        <p:spPr>
          <a:xfrm xmlns:a="http://schemas.openxmlformats.org/drawingml/2006/main">
            <a:off x="6419850" y="3733800"/>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7764F"/>
                </a:solidFill>
                <a:latin typeface="Helvetica Neue"/>
                <a:ea typeface="Helvetica Neue"/>
                <a:cs typeface="Helvetica Neue"/>
              </a:defRPr>
            </a:defPPr>
          </a:lstStyle>
          <a:p xmlns:a="http://schemas.openxmlformats.org/drawingml/2006/main">
            <a:pPr>
              <a:defRPr sz="2100" b="1">
                <a:solidFill>
                  <a:srgbClr val="17764F"/>
                </a:solidFill>
                <a:latin typeface="Helvetica Neue"/>
                <a:ea typeface="Helvetica Neue"/>
                <a:cs typeface="Helvetica Neue"/>
              </a:defRPr>
            </a:pPr>
            <a:r>
              <a:rPr sz="2100" b="1">
                <a:solidFill>
                  <a:srgbClr val="17764F"/>
                </a:solidFill>
                <a:latin typeface="Helvetica Neue"/>
                <a:ea typeface="Helvetica Neue"/>
                <a:cs typeface="Helvetica Neue"/>
              </a:rPr>
              <a:t>Model preparation</a:t>
            </a:r>
          </a:p>
        </p:txBody>
      </p:sp>
      <p:sp>
        <p:nvSpPr>
          <p:cNvPr id="12" name="">
            <a:extLst xmlns:a="http://schemas.openxmlformats.org/drawingml/2006/main">
              <a:ext uri="{FF2B5EF4-FFF2-40B4-BE49-F238E27FC236}">
                <a16:creationId xmlns:a16="http://schemas.microsoft.com/office/drawing/2014/main" id="{7B41D0A1-5E29-413B-AC5E-49E3C64D3EF7}"/>
              </a:ext>
            </a:extLst>
          </p:cNvPr>
          <p:cNvSpPr>
            <a:spLocks xmlns:a="http://schemas.openxmlformats.org/drawingml/2006/main" noGrp="1"/>
          </p:cNvSpPr>
          <p:nvPr/>
        </p:nvSpPr>
        <p:spPr>
          <a:xfrm xmlns:a="http://schemas.openxmlformats.org/drawingml/2006/main">
            <a:off x="6419850" y="4267200"/>
            <a:ext cx="485775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61F"/>
                </a:solidFill>
                <a:latin typeface="Helvetica Neue"/>
                <a:ea typeface="Helvetica Neue"/>
                <a:cs typeface="Helvetica Neue"/>
              </a:defRPr>
            </a:defPPr>
          </a:lstStyle>
          <a:p xmlns:a="http://schemas.openxmlformats.org/drawingml/2006/main">
            <a:pPr>
              <a:defRPr sz="2025" b="0">
                <a:solidFill>
                  <a:srgbClr val="17261F"/>
                </a:solidFill>
                <a:latin typeface="Helvetica Neue"/>
                <a:ea typeface="Helvetica Neue"/>
                <a:cs typeface="Helvetica Neue"/>
              </a:defRPr>
            </a:pPr>
            <a:r>
              <a:rPr sz="2025" b="0">
                <a:solidFill>
                  <a:srgbClr val="17261F"/>
                </a:solidFill>
                <a:latin typeface="Helvetica Neue"/>
                <a:ea typeface="Helvetica Neue"/>
                <a:cs typeface="Helvetica Neue"/>
              </a:rPr>
              <a:t>Use natural log of streams. Treat genre and explicitness as categories. Compare every model on the same sample.</a:t>
            </a:r>
          </a:p>
        </p:txBody>
      </p:sp>
    </p:spTree>
    <p:extLst>
      <p:ext uri="{BB962C8B-B14F-4D97-AF65-F5344CB8AC3E}">
        <p14:creationId xmlns:p14="http://schemas.microsoft.com/office/powerpoint/2010/main" val="54996353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98FEEAF-6DF1-4CD0-B0F8-E88E79C1EB98}"/>
              </a:ext>
            </a:extLst>
          </p:cNvPr>
          <p:cNvSpPr>
            <a:spLocks xmlns:a="http://schemas.openxmlformats.org/drawingml/2006/main" noGrp="1"/>
          </p:cNvSpPr>
          <p:nvPr/>
        </p:nvSpPr>
        <p:spPr>
          <a:xfrm xmlns:a="http://schemas.openxmlformats.org/drawingml/2006/main">
            <a:off x="609600" y="4191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61F"/>
                </a:solidFill>
                <a:latin typeface="Helvetica Neue"/>
                <a:ea typeface="Helvetica Neue"/>
                <a:cs typeface="Helvetica Neue"/>
              </a:defRPr>
            </a:defPPr>
          </a:lstStyle>
          <a:p xmlns:a="http://schemas.openxmlformats.org/drawingml/2006/main">
            <a:pPr>
              <a:defRPr sz="3300" b="1">
                <a:solidFill>
                  <a:srgbClr val="17261F"/>
                </a:solidFill>
                <a:latin typeface="Helvetica Neue"/>
                <a:ea typeface="Helvetica Neue"/>
                <a:cs typeface="Helvetica Neue"/>
              </a:defRPr>
            </a:pPr>
            <a:r>
              <a:rPr sz="3300" b="1">
                <a:solidFill>
                  <a:srgbClr val="17261F"/>
                </a:solidFill>
                <a:latin typeface="Helvetica Neue"/>
                <a:ea typeface="Helvetica Neue"/>
                <a:cs typeface="Helvetica Neue"/>
              </a:rPr>
              <a:t>Explicit-song representation varies by genre</a:t>
            </a:r>
          </a:p>
        </p:txBody>
      </p:sp>
      <p:sp>
        <p:nvSpPr>
          <p:cNvPr id="2" name="">
            <a:extLst xmlns:a="http://schemas.openxmlformats.org/drawingml/2006/main">
              <a:ext uri="{FF2B5EF4-FFF2-40B4-BE49-F238E27FC236}">
                <a16:creationId xmlns:a16="http://schemas.microsoft.com/office/drawing/2014/main" id="{9A2695B3-FEFE-4C1C-AE98-2769B3E84EED}"/>
              </a:ext>
            </a:extLst>
          </p:cNvPr>
          <p:cNvSpPr>
            <a:spLocks xmlns:a="http://schemas.openxmlformats.org/drawingml/2006/main" noGrp="1"/>
          </p:cNvSpPr>
          <p:nvPr/>
        </p:nvSpPr>
        <p:spPr>
          <a:xfrm xmlns:a="http://schemas.openxmlformats.org/drawingml/2006/main">
            <a:off x="11049000" y="64008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45B"/>
                </a:solidFill>
                <a:latin typeface="Helvetica Neue"/>
                <a:ea typeface="Helvetica Neue"/>
                <a:cs typeface="Helvetica Neue"/>
              </a:defRPr>
            </a:defPPr>
          </a:lstStyle>
          <a:p xmlns:a="http://schemas.openxmlformats.org/drawingml/2006/main">
            <a:pPr>
              <a:defRPr sz="1200" b="0">
                <a:solidFill>
                  <a:srgbClr val="53645B"/>
                </a:solidFill>
                <a:latin typeface="Helvetica Neue"/>
                <a:ea typeface="Helvetica Neue"/>
                <a:cs typeface="Helvetica Neue"/>
              </a:defRPr>
            </a:pPr>
            <a:r>
              <a:rPr sz="1200" b="0">
                <a:solidFill>
                  <a:srgbClr val="53645B"/>
                </a:solidFill>
                <a:latin typeface="Helvetica Neue"/>
                <a:ea typeface="Helvetica Neue"/>
                <a:cs typeface="Helvetica Neue"/>
              </a:rPr>
              <a:t>04</a:t>
            </a:r>
          </a:p>
        </p:txBody>
      </p:sp>
      <p:sp>
        <p:nvSpPr>
          <p:cNvPr id="3" name="">
            <a:extLst xmlns:a="http://schemas.openxmlformats.org/drawingml/2006/main">
              <a:ext uri="{FF2B5EF4-FFF2-40B4-BE49-F238E27FC236}">
                <a16:creationId xmlns:a16="http://schemas.microsoft.com/office/drawing/2014/main" id="{C6C10A1C-BD48-4731-8A13-1B2256FD1F07}"/>
              </a:ext>
            </a:extLst>
          </p:cNvPr>
          <p:cNvSpPr>
            <a:spLocks xmlns:a="http://schemas.openxmlformats.org/drawingml/2006/main" noGrp="1"/>
          </p:cNvSpPr>
          <p:nvPr/>
        </p:nvSpPr>
        <p:spPr>
          <a:xfrm xmlns:a="http://schemas.openxmlformats.org/drawingml/2006/main">
            <a:off x="609600" y="1304925"/>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3645B"/>
                </a:solidFill>
                <a:latin typeface="Helvetica Neue"/>
                <a:ea typeface="Helvetica Neue"/>
                <a:cs typeface="Helvetica Neue"/>
              </a:defRPr>
            </a:defPPr>
          </a:lstStyle>
          <a:p xmlns:a="http://schemas.openxmlformats.org/drawingml/2006/main">
            <a:pPr>
              <a:defRPr sz="1950" b="0">
                <a:solidFill>
                  <a:srgbClr val="53645B"/>
                </a:solidFill>
                <a:latin typeface="Helvetica Neue"/>
                <a:ea typeface="Helvetica Neue"/>
                <a:cs typeface="Helvetica Neue"/>
              </a:defRPr>
            </a:pPr>
            <a:r>
              <a:rPr sz="1950" b="0">
                <a:solidFill>
                  <a:srgbClr val="53645B"/>
                </a:solidFill>
                <a:latin typeface="Helvetica Neue"/>
                <a:ea typeface="Helvetica Neue"/>
                <a:cs typeface="Helvetica Neue"/>
              </a:rPr>
              <a:t>Number of tracks in the modeling sample</a:t>
            </a:r>
          </a:p>
        </p:txBody>
      </p:sp>
      <p:graphicFrame>
        <p:nvGraphicFramePr>
          <p:cNvPr id="4" name="Chart">
            <a:extLst xmlns:a="http://schemas.openxmlformats.org/drawingml/2006/main">
              <a:ext uri="{FF2B5EF4-FFF2-40B4-BE49-F238E27FC236}">
                <a16:creationId xmlns:a16="http://schemas.microsoft.com/office/drawing/2014/main" id="{34951C27-7CFF-4C02-999A-352CA213861D}"/>
              </a:ext>
            </a:extLst>
          </p:cNvPr>
          <p:cNvGraphicFramePr/>
          <p:nvPr/>
        </p:nvGraphicFramePr>
        <p:xfrm>
          <a:off xmlns:a="http://schemas.openxmlformats.org/drawingml/2006/main" x="609600" y="1762125"/>
          <a:ext xmlns:a="http://schemas.openxmlformats.org/drawingml/2006/main" cx="10972800" cy="3876675"/>
        </p:xfrm>
        <a:graphic xmlns:a="http://schemas.openxmlformats.org/drawingml/2006/main">
          <a:graphicData uri="http://schemas.openxmlformats.org/drawingml/2006/chart">
            <c:chart xmlns:r="http://schemas.openxmlformats.org/officeDocument/2006/relationships" xmlns:c="http://schemas.openxmlformats.org/drawingml/2006/chart" r:id="Rea98df2f026b4b41"/>
          </a:graphicData>
        </a:graphic>
      </p:graphicFrame>
      <p:sp>
        <p:nvSpPr>
          <p:cNvPr id="5" name="">
            <a:extLst xmlns:a="http://schemas.openxmlformats.org/drawingml/2006/main">
              <a:ext uri="{FF2B5EF4-FFF2-40B4-BE49-F238E27FC236}">
                <a16:creationId xmlns:a16="http://schemas.microsoft.com/office/drawing/2014/main" id="{09453DA3-F781-4CAE-BD90-8F298D12726D}"/>
              </a:ext>
            </a:extLst>
          </p:cNvPr>
          <p:cNvSpPr>
            <a:spLocks xmlns:a="http://schemas.openxmlformats.org/drawingml/2006/main" noGrp="1"/>
          </p:cNvSpPr>
          <p:nvPr/>
        </p:nvSpPr>
        <p:spPr>
          <a:xfrm xmlns:a="http://schemas.openxmlformats.org/drawingml/2006/main">
            <a:off x="609600" y="5934075"/>
            <a:ext cx="10810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3645B"/>
                </a:solidFill>
                <a:latin typeface="Helvetica Neue"/>
                <a:ea typeface="Helvetica Neue"/>
                <a:cs typeface="Helvetica Neue"/>
              </a:defRPr>
            </a:defPPr>
          </a:lstStyle>
          <a:p xmlns:a="http://schemas.openxmlformats.org/drawingml/2006/main">
            <a:pPr>
              <a:defRPr sz="1800" b="0">
                <a:solidFill>
                  <a:srgbClr val="53645B"/>
                </a:solidFill>
                <a:latin typeface="Helvetica Neue"/>
                <a:ea typeface="Helvetica Neue"/>
                <a:cs typeface="Helvetica Neue"/>
              </a:defRPr>
            </a:pPr>
            <a:r>
              <a:rPr sz="1800" b="0">
                <a:solidFill>
                  <a:srgbClr val="53645B"/>
                </a:solidFill>
                <a:latin typeface="Helvetica Neue"/>
                <a:ea typeface="Helvetica Neue"/>
                <a:cs typeface="Helvetica Neue"/>
              </a:rPr>
              <a:t>Some comparisons have small explicit groups: Electronic/Dance = 11 and Soul/R&amp;B = 5.</a:t>
            </a:r>
          </a:p>
        </p:txBody>
      </p:sp>
    </p:spTree>
    <p:extLst>
      <p:ext uri="{BB962C8B-B14F-4D97-AF65-F5344CB8AC3E}">
        <p14:creationId xmlns:p14="http://schemas.microsoft.com/office/powerpoint/2010/main" val="160598051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11A0C6F-5335-41B8-B344-7D621562A685}"/>
              </a:ext>
            </a:extLst>
          </p:cNvPr>
          <p:cNvSpPr>
            <a:spLocks xmlns:a="http://schemas.openxmlformats.org/drawingml/2006/main" noGrp="1"/>
          </p:cNvSpPr>
          <p:nvPr/>
        </p:nvSpPr>
        <p:spPr>
          <a:xfrm xmlns:a="http://schemas.openxmlformats.org/drawingml/2006/main">
            <a:off x="609600" y="4191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61F"/>
                </a:solidFill>
                <a:latin typeface="Helvetica Neue"/>
                <a:ea typeface="Helvetica Neue"/>
                <a:cs typeface="Helvetica Neue"/>
              </a:defRPr>
            </a:defPPr>
          </a:lstStyle>
          <a:p xmlns:a="http://schemas.openxmlformats.org/drawingml/2006/main">
            <a:pPr>
              <a:defRPr sz="3300" b="1">
                <a:solidFill>
                  <a:srgbClr val="17261F"/>
                </a:solidFill>
                <a:latin typeface="Helvetica Neue"/>
                <a:ea typeface="Helvetica Neue"/>
                <a:cs typeface="Helvetica Neue"/>
              </a:defRPr>
            </a:pPr>
            <a:r>
              <a:rPr sz="3300" b="1">
                <a:solidFill>
                  <a:srgbClr val="17261F"/>
                </a:solidFill>
                <a:latin typeface="Helvetica Neue"/>
                <a:ea typeface="Helvetica Neue"/>
                <a:cs typeface="Helvetica Neue"/>
              </a:rPr>
              <a:t>Median streams show different within-genre patterns</a:t>
            </a:r>
          </a:p>
        </p:txBody>
      </p:sp>
      <p:sp>
        <p:nvSpPr>
          <p:cNvPr id="2" name="">
            <a:extLst xmlns:a="http://schemas.openxmlformats.org/drawingml/2006/main">
              <a:ext uri="{FF2B5EF4-FFF2-40B4-BE49-F238E27FC236}">
                <a16:creationId xmlns:a16="http://schemas.microsoft.com/office/drawing/2014/main" id="{FABC0016-8691-4A93-AAB4-7F610982AE4C}"/>
              </a:ext>
            </a:extLst>
          </p:cNvPr>
          <p:cNvSpPr>
            <a:spLocks xmlns:a="http://schemas.openxmlformats.org/drawingml/2006/main" noGrp="1"/>
          </p:cNvSpPr>
          <p:nvPr/>
        </p:nvSpPr>
        <p:spPr>
          <a:xfrm xmlns:a="http://schemas.openxmlformats.org/drawingml/2006/main">
            <a:off x="11049000" y="64008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45B"/>
                </a:solidFill>
                <a:latin typeface="Helvetica Neue"/>
                <a:ea typeface="Helvetica Neue"/>
                <a:cs typeface="Helvetica Neue"/>
              </a:defRPr>
            </a:defPPr>
          </a:lstStyle>
          <a:p xmlns:a="http://schemas.openxmlformats.org/drawingml/2006/main">
            <a:pPr>
              <a:defRPr sz="1200" b="0">
                <a:solidFill>
                  <a:srgbClr val="53645B"/>
                </a:solidFill>
                <a:latin typeface="Helvetica Neue"/>
                <a:ea typeface="Helvetica Neue"/>
                <a:cs typeface="Helvetica Neue"/>
              </a:defRPr>
            </a:pPr>
            <a:r>
              <a:rPr sz="1200" b="0">
                <a:solidFill>
                  <a:srgbClr val="53645B"/>
                </a:solidFill>
                <a:latin typeface="Helvetica Neue"/>
                <a:ea typeface="Helvetica Neue"/>
                <a:cs typeface="Helvetica Neue"/>
              </a:rPr>
              <a:t>05</a:t>
            </a:r>
          </a:p>
        </p:txBody>
      </p:sp>
      <p:sp>
        <p:nvSpPr>
          <p:cNvPr id="3" name="">
            <a:extLst xmlns:a="http://schemas.openxmlformats.org/drawingml/2006/main">
              <a:ext uri="{FF2B5EF4-FFF2-40B4-BE49-F238E27FC236}">
                <a16:creationId xmlns:a16="http://schemas.microsoft.com/office/drawing/2014/main" id="{E56B8049-DD45-42B6-9F20-2837D8E4EE29}"/>
              </a:ext>
            </a:extLst>
          </p:cNvPr>
          <p:cNvSpPr>
            <a:spLocks xmlns:a="http://schemas.openxmlformats.org/drawingml/2006/main" noGrp="1"/>
          </p:cNvSpPr>
          <p:nvPr/>
        </p:nvSpPr>
        <p:spPr>
          <a:xfrm xmlns:a="http://schemas.openxmlformats.org/drawingml/2006/main">
            <a:off x="609600" y="1304925"/>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3645B"/>
                </a:solidFill>
                <a:latin typeface="Helvetica Neue"/>
                <a:ea typeface="Helvetica Neue"/>
                <a:cs typeface="Helvetica Neue"/>
              </a:defRPr>
            </a:defPPr>
          </a:lstStyle>
          <a:p xmlns:a="http://schemas.openxmlformats.org/drawingml/2006/main">
            <a:pPr>
              <a:defRPr sz="1950" b="0">
                <a:solidFill>
                  <a:srgbClr val="53645B"/>
                </a:solidFill>
                <a:latin typeface="Helvetica Neue"/>
                <a:ea typeface="Helvetica Neue"/>
                <a:cs typeface="Helvetica Neue"/>
              </a:defRPr>
            </a:pPr>
            <a:r>
              <a:rPr sz="1950" b="0">
                <a:solidFill>
                  <a:srgbClr val="53645B"/>
                </a:solidFill>
                <a:latin typeface="Helvetica Neue"/>
                <a:ea typeface="Helvetica Neue"/>
                <a:cs typeface="Helvetica Neue"/>
              </a:rPr>
              <a:t>Median recorded streams per track, before adjusting for other variables</a:t>
            </a:r>
          </a:p>
        </p:txBody>
      </p:sp>
      <p:graphicFrame>
        <p:nvGraphicFramePr>
          <p:cNvPr id="4" name="Chart">
            <a:extLst xmlns:a="http://schemas.openxmlformats.org/drawingml/2006/main">
              <a:ext uri="{FF2B5EF4-FFF2-40B4-BE49-F238E27FC236}">
                <a16:creationId xmlns:a16="http://schemas.microsoft.com/office/drawing/2014/main" id="{5A496BB6-4724-4005-A925-98A1C6E21A23}"/>
              </a:ext>
            </a:extLst>
          </p:cNvPr>
          <p:cNvGraphicFramePr/>
          <p:nvPr/>
        </p:nvGraphicFramePr>
        <p:xfrm>
          <a:off xmlns:a="http://schemas.openxmlformats.org/drawingml/2006/main" x="609600" y="1762125"/>
          <a:ext xmlns:a="http://schemas.openxmlformats.org/drawingml/2006/main" cx="10972800" cy="3876675"/>
        </p:xfrm>
        <a:graphic xmlns:a="http://schemas.openxmlformats.org/drawingml/2006/main">
          <a:graphicData uri="http://schemas.openxmlformats.org/drawingml/2006/chart">
            <c:chart xmlns:r="http://schemas.openxmlformats.org/officeDocument/2006/relationships" xmlns:c="http://schemas.openxmlformats.org/drawingml/2006/chart" r:id="Ree00a7dc7648409c"/>
          </a:graphicData>
        </a:graphic>
      </p:graphicFrame>
      <p:sp>
        <p:nvSpPr>
          <p:cNvPr id="5" name="">
            <a:extLst xmlns:a="http://schemas.openxmlformats.org/drawingml/2006/main">
              <a:ext uri="{FF2B5EF4-FFF2-40B4-BE49-F238E27FC236}">
                <a16:creationId xmlns:a16="http://schemas.microsoft.com/office/drawing/2014/main" id="{5514AA7E-4D38-4AC7-AA86-FB75E9DCDD4F}"/>
              </a:ext>
            </a:extLst>
          </p:cNvPr>
          <p:cNvSpPr>
            <a:spLocks xmlns:a="http://schemas.openxmlformats.org/drawingml/2006/main" noGrp="1"/>
          </p:cNvSpPr>
          <p:nvPr/>
        </p:nvSpPr>
        <p:spPr>
          <a:xfrm xmlns:a="http://schemas.openxmlformats.org/drawingml/2006/main">
            <a:off x="609600" y="5934075"/>
            <a:ext cx="10810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3645B"/>
                </a:solidFill>
                <a:latin typeface="Helvetica Neue"/>
                <a:ea typeface="Helvetica Neue"/>
                <a:cs typeface="Helvetica Neue"/>
              </a:defRPr>
            </a:defPPr>
          </a:lstStyle>
          <a:p xmlns:a="http://schemas.openxmlformats.org/drawingml/2006/main">
            <a:pPr>
              <a:defRPr sz="1800" b="0">
                <a:solidFill>
                  <a:srgbClr val="53645B"/>
                </a:solidFill>
                <a:latin typeface="Helvetica Neue"/>
                <a:ea typeface="Helvetica Neue"/>
                <a:cs typeface="Helvetica Neue"/>
              </a:defRPr>
            </a:pPr>
            <a:r>
              <a:rPr sz="1800" b="0">
                <a:solidFill>
                  <a:srgbClr val="53645B"/>
                </a:solidFill>
                <a:latin typeface="Helvetica Neue"/>
                <a:ea typeface="Helvetica Neue"/>
                <a:cs typeface="Helvetica Neue"/>
              </a:rPr>
              <a:t>These descriptive differences motivate the regression. They do not isolate explicitness.</a:t>
            </a:r>
          </a:p>
        </p:txBody>
      </p:sp>
    </p:spTree>
    <p:extLst>
      <p:ext uri="{BB962C8B-B14F-4D97-AF65-F5344CB8AC3E}">
        <p14:creationId xmlns:p14="http://schemas.microsoft.com/office/powerpoint/2010/main" val="55113235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6102365-609E-414A-B9A6-624419CAF4B1}"/>
              </a:ext>
            </a:extLst>
          </p:cNvPr>
          <p:cNvSpPr>
            <a:spLocks xmlns:a="http://schemas.openxmlformats.org/drawingml/2006/main" noGrp="1"/>
          </p:cNvSpPr>
          <p:nvPr/>
        </p:nvSpPr>
        <p:spPr>
          <a:xfrm xmlns:a="http://schemas.openxmlformats.org/drawingml/2006/main">
            <a:off x="609600" y="4191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61F"/>
                </a:solidFill>
                <a:latin typeface="Helvetica Neue"/>
                <a:ea typeface="Helvetica Neue"/>
                <a:cs typeface="Helvetica Neue"/>
              </a:defRPr>
            </a:defPPr>
          </a:lstStyle>
          <a:p xmlns:a="http://schemas.openxmlformats.org/drawingml/2006/main">
            <a:pPr>
              <a:defRPr sz="3300" b="1">
                <a:solidFill>
                  <a:srgbClr val="17261F"/>
                </a:solidFill>
                <a:latin typeface="Helvetica Neue"/>
                <a:ea typeface="Helvetica Neue"/>
                <a:cs typeface="Helvetica Neue"/>
              </a:defRPr>
            </a:pPr>
            <a:r>
              <a:rPr sz="3300" b="1">
                <a:solidFill>
                  <a:srgbClr val="17261F"/>
                </a:solidFill>
                <a:latin typeface="Helvetica Neue"/>
                <a:ea typeface="Helvetica Neue"/>
                <a:cs typeface="Helvetica Neue"/>
              </a:rPr>
              <a:t>Regression models and explanatory power</a:t>
            </a:r>
          </a:p>
        </p:txBody>
      </p:sp>
      <p:sp>
        <p:nvSpPr>
          <p:cNvPr id="2" name="">
            <a:extLst xmlns:a="http://schemas.openxmlformats.org/drawingml/2006/main">
              <a:ext uri="{FF2B5EF4-FFF2-40B4-BE49-F238E27FC236}">
                <a16:creationId xmlns:a16="http://schemas.microsoft.com/office/drawing/2014/main" id="{4F5CF370-2646-4813-9E89-9133845B735A}"/>
              </a:ext>
            </a:extLst>
          </p:cNvPr>
          <p:cNvSpPr>
            <a:spLocks xmlns:a="http://schemas.openxmlformats.org/drawingml/2006/main" noGrp="1"/>
          </p:cNvSpPr>
          <p:nvPr/>
        </p:nvSpPr>
        <p:spPr>
          <a:xfrm xmlns:a="http://schemas.openxmlformats.org/drawingml/2006/main">
            <a:off x="11049000" y="64008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45B"/>
                </a:solidFill>
                <a:latin typeface="Helvetica Neue"/>
                <a:ea typeface="Helvetica Neue"/>
                <a:cs typeface="Helvetica Neue"/>
              </a:defRPr>
            </a:defPPr>
          </a:lstStyle>
          <a:p xmlns:a="http://schemas.openxmlformats.org/drawingml/2006/main">
            <a:pPr>
              <a:defRPr sz="1200" b="0">
                <a:solidFill>
                  <a:srgbClr val="53645B"/>
                </a:solidFill>
                <a:latin typeface="Helvetica Neue"/>
                <a:ea typeface="Helvetica Neue"/>
                <a:cs typeface="Helvetica Neue"/>
              </a:defRPr>
            </a:pPr>
            <a:r>
              <a:rPr sz="1200" b="0">
                <a:solidFill>
                  <a:srgbClr val="53645B"/>
                </a:solidFill>
                <a:latin typeface="Helvetica Neue"/>
                <a:ea typeface="Helvetica Neue"/>
                <a:cs typeface="Helvetica Neue"/>
              </a:rPr>
              <a:t>06</a:t>
            </a:r>
          </a:p>
        </p:txBody>
      </p:sp>
      <p:graphicFrame>
        <p:nvGraphicFramePr>
          <p:cNvPr id="3" name="">
            <a:extLst xmlns:a="http://schemas.openxmlformats.org/drawingml/2006/main">
              <a:ext uri="{FF2B5EF4-FFF2-40B4-BE49-F238E27FC236}">
                <a16:creationId xmlns:a16="http://schemas.microsoft.com/office/drawing/2014/main" id="{EFD3D2A9-AC18-43F2-B8CB-797984F070F5}"/>
              </a:ext>
            </a:extLst>
          </p:cNvPr>
          <p:cNvGraphicFramePr/>
          <p:nvPr/>
        </p:nvGraphicFramePr>
        <p:xfrm>
          <a:off xmlns:a="http://schemas.openxmlformats.org/drawingml/2006/main" x="609600" y="1714500"/>
          <a:ext xmlns:a="http://schemas.openxmlformats.org/drawingml/2006/main" cx="10972800" cy="2743200"/>
        </p:xfrm>
        <a:graphic xmlns:a="http://schemas.openxmlformats.org/drawingml/2006/main">
          <a:graphicData uri="http://schemas.openxmlformats.org/drawingml/2006/table">
            <a:tbl>
              <a:tblPr/>
              <a:tblGrid>
                <a:gridCol w="6858000"/>
                <a:gridCol w="1905000"/>
                <a:gridCol w="2209800"/>
              </a:tblGrid>
              <a:tr h="685800">
                <a:tc>
                  <a:txBody>
                    <a:bodyPr lIns="114300" tIns="114300" rIns="114300" bIns="114300"/>
                    <a:lstStyle/>
                    <a:p>
                      <a:r>
                        <a:rPr sz="2025" b="1">
                          <a:solidFill>
                            <a:srgbClr val="FFFFFF"/>
                          </a:solidFill>
                          <a:latin typeface="Helvetica Neue"/>
                          <a:ea typeface="Helvetica Neue"/>
                          <a:cs typeface="Helvetica Neue"/>
                        </a:rPr>
                        <a:t>Model</a:t>
                      </a:r>
                    </a:p>
                  </a:txBody>
                  <a:tcPr marL="91440" marR="91440" marT="45720" marB="45720" anchor="ctr">
                    <a:solidFill>
                      <a:srgbClr val="17764F"/>
                    </a:solidFill>
                  </a:tcPr>
                </a:tc>
                <a:tc>
                  <a:txBody>
                    <a:bodyPr lIns="114300" tIns="114300" rIns="114300" bIns="114300"/>
                    <a:lstStyle/>
                    <a:p>
                      <a:r>
                        <a:rPr sz="2025" b="1">
                          <a:solidFill>
                            <a:srgbClr val="FFFFFF"/>
                          </a:solidFill>
                          <a:latin typeface="Helvetica Neue"/>
                          <a:ea typeface="Helvetica Neue"/>
                          <a:cs typeface="Helvetica Neue"/>
                        </a:rPr>
                        <a:t>R²</a:t>
                      </a:r>
                    </a:p>
                  </a:txBody>
                  <a:tcPr marL="91440" marR="91440" marT="45720" marB="45720" anchor="ctr">
                    <a:solidFill>
                      <a:srgbClr val="17764F"/>
                    </a:solidFill>
                  </a:tcPr>
                </a:tc>
                <a:tc>
                  <a:txBody>
                    <a:bodyPr lIns="114300" tIns="114300" rIns="114300" bIns="114300"/>
                    <a:lstStyle/>
                    <a:p>
                      <a:r>
                        <a:rPr sz="2025" b="1">
                          <a:solidFill>
                            <a:srgbClr val="FFFFFF"/>
                          </a:solidFill>
                          <a:latin typeface="Helvetica Neue"/>
                          <a:ea typeface="Helvetica Neue"/>
                          <a:cs typeface="Helvetica Neue"/>
                        </a:rPr>
                        <a:t>Adjusted R²</a:t>
                      </a:r>
                    </a:p>
                  </a:txBody>
                  <a:tcPr marL="91440" marR="91440" marT="45720" marB="45720" anchor="ctr">
                    <a:solidFill>
                      <a:srgbClr val="17764F"/>
                    </a:solidFill>
                  </a:tcPr>
                </a:tc>
              </a:tr>
              <a:tr h="685800">
                <a:tc>
                  <a:txBody>
                    <a:bodyPr lIns="114300" tIns="114300" rIns="114300" bIns="114300"/>
                    <a:lstStyle/>
                    <a:p>
                      <a:r>
                        <a:rPr sz="2025" b="0">
                          <a:solidFill>
                            <a:srgbClr val="17261F"/>
                          </a:solidFill>
                          <a:latin typeface="Helvetica Neue"/>
                          <a:ea typeface="Helvetica Neue"/>
                          <a:cs typeface="Helvetica Neue"/>
                        </a:rPr>
                        <a:t>1. Explicitness only</a:t>
                      </a:r>
                    </a:p>
                  </a:txBody>
                  <a:tcPr marL="91440" marR="91440" marT="45720" marB="45720" anchor="ctr">
                    <a:solidFill>
                      <a:srgbClr val="FFFFFF"/>
                    </a:solidFill>
                  </a:tcPr>
                </a:tc>
                <a:tc>
                  <a:txBody>
                    <a:bodyPr lIns="114300" tIns="114300" rIns="114300" bIns="114300"/>
                    <a:lstStyle/>
                    <a:p>
                      <a:r>
                        <a:rPr sz="2025" b="0">
                          <a:solidFill>
                            <a:srgbClr val="17261F"/>
                          </a:solidFill>
                          <a:latin typeface="Helvetica Neue"/>
                          <a:ea typeface="Helvetica Neue"/>
                          <a:cs typeface="Helvetica Neue"/>
                        </a:rPr>
                        <a:t>2.38%</a:t>
                      </a:r>
                    </a:p>
                  </a:txBody>
                  <a:tcPr marL="91440" marR="91440" marT="45720" marB="45720" anchor="ctr">
                    <a:solidFill>
                      <a:srgbClr val="FFFFFF"/>
                    </a:solidFill>
                  </a:tcPr>
                </a:tc>
                <a:tc>
                  <a:txBody>
                    <a:bodyPr lIns="114300" tIns="114300" rIns="114300" bIns="114300"/>
                    <a:lstStyle/>
                    <a:p>
                      <a:r>
                        <a:rPr sz="2025" b="0">
                          <a:solidFill>
                            <a:srgbClr val="17261F"/>
                          </a:solidFill>
                          <a:latin typeface="Helvetica Neue"/>
                          <a:ea typeface="Helvetica Neue"/>
                          <a:cs typeface="Helvetica Neue"/>
                        </a:rPr>
                        <a:t>2.37%</a:t>
                      </a:r>
                    </a:p>
                  </a:txBody>
                  <a:tcPr marL="91440" marR="91440" marT="45720" marB="45720" anchor="ctr">
                    <a:solidFill>
                      <a:srgbClr val="FFFFFF"/>
                    </a:solidFill>
                  </a:tcPr>
                </a:tc>
              </a:tr>
              <a:tr h="685800">
                <a:tc>
                  <a:txBody>
                    <a:bodyPr lIns="114300" tIns="114300" rIns="114300" bIns="114300"/>
                    <a:lstStyle/>
                    <a:p>
                      <a:r>
                        <a:rPr sz="2025" b="0">
                          <a:solidFill>
                            <a:srgbClr val="17261F"/>
                          </a:solidFill>
                          <a:latin typeface="Helvetica Neue"/>
                          <a:ea typeface="Helvetica Neue"/>
                          <a:cs typeface="Helvetica Neue"/>
                        </a:rPr>
                        <a:t>2. Genre and controls</a:t>
                      </a:r>
                    </a:p>
                  </a:txBody>
                  <a:tcPr marL="91440" marR="91440" marT="45720" marB="45720" anchor="ctr">
                    <a:solidFill>
                      <a:srgbClr val="EDF4EF"/>
                    </a:solidFill>
                  </a:tcPr>
                </a:tc>
                <a:tc>
                  <a:txBody>
                    <a:bodyPr lIns="114300" tIns="114300" rIns="114300" bIns="114300"/>
                    <a:lstStyle/>
                    <a:p>
                      <a:r>
                        <a:rPr sz="2025" b="0">
                          <a:solidFill>
                            <a:srgbClr val="17261F"/>
                          </a:solidFill>
                          <a:latin typeface="Helvetica Neue"/>
                          <a:ea typeface="Helvetica Neue"/>
                          <a:cs typeface="Helvetica Neue"/>
                        </a:rPr>
                        <a:t>11.91%</a:t>
                      </a:r>
                    </a:p>
                  </a:txBody>
                  <a:tcPr marL="91440" marR="91440" marT="45720" marB="45720" anchor="ctr">
                    <a:solidFill>
                      <a:srgbClr val="EDF4EF"/>
                    </a:solidFill>
                  </a:tcPr>
                </a:tc>
                <a:tc>
                  <a:txBody>
                    <a:bodyPr lIns="114300" tIns="114300" rIns="114300" bIns="114300"/>
                    <a:lstStyle/>
                    <a:p>
                      <a:r>
                        <a:rPr sz="2025" b="0">
                          <a:solidFill>
                            <a:srgbClr val="17261F"/>
                          </a:solidFill>
                          <a:latin typeface="Helvetica Neue"/>
                          <a:ea typeface="Helvetica Neue"/>
                          <a:cs typeface="Helvetica Neue"/>
                        </a:rPr>
                        <a:t>11.53%</a:t>
                      </a:r>
                    </a:p>
                  </a:txBody>
                  <a:tcPr marL="91440" marR="91440" marT="45720" marB="45720" anchor="ctr">
                    <a:solidFill>
                      <a:srgbClr val="EDF4EF"/>
                    </a:solidFill>
                  </a:tcPr>
                </a:tc>
              </a:tr>
              <a:tr h="685800">
                <a:tc>
                  <a:txBody>
                    <a:bodyPr lIns="114300" tIns="114300" rIns="114300" bIns="114300"/>
                    <a:lstStyle/>
                    <a:p>
                      <a:r>
                        <a:rPr sz="2025" b="0">
                          <a:solidFill>
                            <a:srgbClr val="17261F"/>
                          </a:solidFill>
                          <a:latin typeface="Helvetica Neue"/>
                          <a:ea typeface="Helvetica Neue"/>
                          <a:cs typeface="Helvetica Neue"/>
                        </a:rPr>
                        <a:t>3. Explicitness × genre + controls</a:t>
                      </a:r>
                    </a:p>
                  </a:txBody>
                  <a:tcPr marL="91440" marR="91440" marT="45720" marB="45720" anchor="ctr">
                    <a:solidFill>
                      <a:srgbClr val="FFFFFF"/>
                    </a:solidFill>
                  </a:tcPr>
                </a:tc>
                <a:tc>
                  <a:txBody>
                    <a:bodyPr lIns="114300" tIns="114300" rIns="114300" bIns="114300"/>
                    <a:lstStyle/>
                    <a:p>
                      <a:r>
                        <a:rPr sz="2025" b="0">
                          <a:solidFill>
                            <a:srgbClr val="17261F"/>
                          </a:solidFill>
                          <a:latin typeface="Helvetica Neue"/>
                          <a:ea typeface="Helvetica Neue"/>
                          <a:cs typeface="Helvetica Neue"/>
                        </a:rPr>
                        <a:t>12.36%</a:t>
                      </a:r>
                    </a:p>
                  </a:txBody>
                  <a:tcPr marL="91440" marR="91440" marT="45720" marB="45720" anchor="ctr">
                    <a:solidFill>
                      <a:srgbClr val="FFFFFF"/>
                    </a:solidFill>
                  </a:tcPr>
                </a:tc>
                <a:tc>
                  <a:txBody>
                    <a:bodyPr lIns="114300" tIns="114300" rIns="114300" bIns="114300"/>
                    <a:lstStyle/>
                    <a:p>
                      <a:r>
                        <a:rPr sz="2025" b="0">
                          <a:solidFill>
                            <a:srgbClr val="17261F"/>
                          </a:solidFill>
                          <a:latin typeface="Helvetica Neue"/>
                          <a:ea typeface="Helvetica Neue"/>
                          <a:cs typeface="Helvetica Neue"/>
                        </a:rPr>
                        <a:t>11.89%</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585BC0FE-06CD-4A0E-B272-12C9EB768249}"/>
              </a:ext>
            </a:extLst>
          </p:cNvPr>
          <p:cNvSpPr>
            <a:spLocks xmlns:a="http://schemas.openxmlformats.org/drawingml/2006/main" noGrp="1"/>
          </p:cNvSpPr>
          <p:nvPr/>
        </p:nvSpPr>
        <p:spPr>
          <a:xfrm xmlns:a="http://schemas.openxmlformats.org/drawingml/2006/main">
            <a:off x="609600" y="47053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3645B"/>
                </a:solidFill>
                <a:latin typeface="Helvetica Neue"/>
                <a:ea typeface="Helvetica Neue"/>
                <a:cs typeface="Helvetica Neue"/>
              </a:defRPr>
            </a:defPPr>
          </a:lstStyle>
          <a:p xmlns:a="http://schemas.openxmlformats.org/drawingml/2006/main">
            <a:pPr>
              <a:defRPr sz="1950" b="0">
                <a:solidFill>
                  <a:srgbClr val="53645B"/>
                </a:solidFill>
                <a:latin typeface="Helvetica Neue"/>
                <a:ea typeface="Helvetica Neue"/>
                <a:cs typeface="Helvetica Neue"/>
              </a:defRPr>
            </a:pPr>
            <a:r>
              <a:rPr sz="1950" b="0">
                <a:solidFill>
                  <a:srgbClr val="53645B"/>
                </a:solidFill>
                <a:latin typeface="Helvetica Neue"/>
                <a:ea typeface="Helvetica Neue"/>
                <a:cs typeface="Helvetica Neue"/>
              </a:rPr>
              <a:t>All models: 5,824 tracks. Outcome: natural log of streams.</a:t>
            </a:r>
          </a:p>
        </p:txBody>
      </p:sp>
      <p:sp>
        <p:nvSpPr>
          <p:cNvPr id="5" name="">
            <a:extLst xmlns:a="http://schemas.openxmlformats.org/drawingml/2006/main">
              <a:ext uri="{FF2B5EF4-FFF2-40B4-BE49-F238E27FC236}">
                <a16:creationId xmlns:a16="http://schemas.microsoft.com/office/drawing/2014/main" id="{47D0B955-96C9-4FEA-BFEF-1A93C16DC6AE}"/>
              </a:ext>
            </a:extLst>
          </p:cNvPr>
          <p:cNvSpPr>
            <a:spLocks xmlns:a="http://schemas.openxmlformats.org/drawingml/2006/main" noGrp="1"/>
          </p:cNvSpPr>
          <p:nvPr/>
        </p:nvSpPr>
        <p:spPr>
          <a:xfrm xmlns:a="http://schemas.openxmlformats.org/drawingml/2006/main">
            <a:off x="609600" y="5314950"/>
            <a:ext cx="108108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7261F"/>
                </a:solidFill>
                <a:latin typeface="Helvetica Neue"/>
                <a:ea typeface="Helvetica Neue"/>
                <a:cs typeface="Helvetica Neue"/>
              </a:defRPr>
            </a:defPPr>
          </a:lstStyle>
          <a:p xmlns:a="http://schemas.openxmlformats.org/drawingml/2006/main">
            <a:pPr>
              <a:defRPr sz="2325" b="1">
                <a:solidFill>
                  <a:srgbClr val="17261F"/>
                </a:solidFill>
                <a:latin typeface="Helvetica Neue"/>
                <a:ea typeface="Helvetica Neue"/>
                <a:cs typeface="Helvetica Neue"/>
              </a:defRPr>
            </a:pPr>
            <a:r>
              <a:rPr sz="2325" b="1">
                <a:solidFill>
                  <a:srgbClr val="17261F"/>
                </a:solidFill>
                <a:latin typeface="Helvetica Neue"/>
                <a:ea typeface="Helvetica Neue"/>
                <a:cs typeface="Helvetica Neue"/>
              </a:rPr>
              <a:t>The interaction model explains 12.36% of variation in log streams. Most variation remains unexplained.</a:t>
            </a:r>
          </a:p>
        </p:txBody>
      </p:sp>
    </p:spTree>
    <p:extLst>
      <p:ext uri="{BB962C8B-B14F-4D97-AF65-F5344CB8AC3E}">
        <p14:creationId xmlns:p14="http://schemas.microsoft.com/office/powerpoint/2010/main" val="140239343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E111650-AE7D-4744-A951-E38DEF75BB3D}"/>
              </a:ext>
            </a:extLst>
          </p:cNvPr>
          <p:cNvSpPr>
            <a:spLocks xmlns:a="http://schemas.openxmlformats.org/drawingml/2006/main" noGrp="1"/>
          </p:cNvSpPr>
          <p:nvPr/>
        </p:nvSpPr>
        <p:spPr>
          <a:xfrm xmlns:a="http://schemas.openxmlformats.org/drawingml/2006/main">
            <a:off x="609600" y="4191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61F"/>
                </a:solidFill>
                <a:latin typeface="Helvetica Neue"/>
                <a:ea typeface="Helvetica Neue"/>
                <a:cs typeface="Helvetica Neue"/>
              </a:defRPr>
            </a:defPPr>
          </a:lstStyle>
          <a:p xmlns:a="http://schemas.openxmlformats.org/drawingml/2006/main">
            <a:pPr>
              <a:defRPr sz="3300" b="1">
                <a:solidFill>
                  <a:srgbClr val="17261F"/>
                </a:solidFill>
                <a:latin typeface="Helvetica Neue"/>
                <a:ea typeface="Helvetica Neue"/>
                <a:cs typeface="Helvetica Neue"/>
              </a:defRPr>
            </a:pPr>
            <a:r>
              <a:rPr sz="3300" b="1">
                <a:solidFill>
                  <a:srgbClr val="17261F"/>
                </a:solidFill>
                <a:latin typeface="Helvetica Neue"/>
                <a:ea typeface="Helvetica Neue"/>
                <a:cs typeface="Helvetica Neue"/>
              </a:rPr>
              <a:t>The fitted explicit association differs by genre</a:t>
            </a:r>
          </a:p>
        </p:txBody>
      </p:sp>
      <p:sp>
        <p:nvSpPr>
          <p:cNvPr id="2" name="">
            <a:extLst xmlns:a="http://schemas.openxmlformats.org/drawingml/2006/main">
              <a:ext uri="{FF2B5EF4-FFF2-40B4-BE49-F238E27FC236}">
                <a16:creationId xmlns:a16="http://schemas.microsoft.com/office/drawing/2014/main" id="{EBAF2CAA-E69D-44D3-8E1D-8807252265B2}"/>
              </a:ext>
            </a:extLst>
          </p:cNvPr>
          <p:cNvSpPr>
            <a:spLocks xmlns:a="http://schemas.openxmlformats.org/drawingml/2006/main" noGrp="1"/>
          </p:cNvSpPr>
          <p:nvPr/>
        </p:nvSpPr>
        <p:spPr>
          <a:xfrm xmlns:a="http://schemas.openxmlformats.org/drawingml/2006/main">
            <a:off x="11049000" y="64008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45B"/>
                </a:solidFill>
                <a:latin typeface="Helvetica Neue"/>
                <a:ea typeface="Helvetica Neue"/>
                <a:cs typeface="Helvetica Neue"/>
              </a:defRPr>
            </a:defPPr>
          </a:lstStyle>
          <a:p xmlns:a="http://schemas.openxmlformats.org/drawingml/2006/main">
            <a:pPr>
              <a:defRPr sz="1200" b="0">
                <a:solidFill>
                  <a:srgbClr val="53645B"/>
                </a:solidFill>
                <a:latin typeface="Helvetica Neue"/>
                <a:ea typeface="Helvetica Neue"/>
                <a:cs typeface="Helvetica Neue"/>
              </a:defRPr>
            </a:pPr>
            <a:r>
              <a:rPr sz="1200" b="0">
                <a:solidFill>
                  <a:srgbClr val="53645B"/>
                </a:solidFill>
                <a:latin typeface="Helvetica Neue"/>
                <a:ea typeface="Helvetica Neue"/>
                <a:cs typeface="Helvetica Neue"/>
              </a:rPr>
              <a:t>07</a:t>
            </a:r>
          </a:p>
        </p:txBody>
      </p:sp>
      <p:sp>
        <p:nvSpPr>
          <p:cNvPr id="3" name="">
            <a:extLst xmlns:a="http://schemas.openxmlformats.org/drawingml/2006/main">
              <a:ext uri="{FF2B5EF4-FFF2-40B4-BE49-F238E27FC236}">
                <a16:creationId xmlns:a16="http://schemas.microsoft.com/office/drawing/2014/main" id="{7D5D53F8-7E77-4BA8-8B58-679791F53EDC}"/>
              </a:ext>
            </a:extLst>
          </p:cNvPr>
          <p:cNvSpPr>
            <a:spLocks xmlns:a="http://schemas.openxmlformats.org/drawingml/2006/main" noGrp="1"/>
          </p:cNvSpPr>
          <p:nvPr/>
        </p:nvSpPr>
        <p:spPr>
          <a:xfrm xmlns:a="http://schemas.openxmlformats.org/drawingml/2006/main">
            <a:off x="609600" y="1304925"/>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3645B"/>
                </a:solidFill>
                <a:latin typeface="Helvetica Neue"/>
                <a:ea typeface="Helvetica Neue"/>
                <a:cs typeface="Helvetica Neue"/>
              </a:defRPr>
            </a:defPPr>
          </a:lstStyle>
          <a:p xmlns:a="http://schemas.openxmlformats.org/drawingml/2006/main">
            <a:pPr>
              <a:defRPr sz="1875" b="0">
                <a:solidFill>
                  <a:srgbClr val="53645B"/>
                </a:solidFill>
                <a:latin typeface="Helvetica Neue"/>
                <a:ea typeface="Helvetica Neue"/>
                <a:cs typeface="Helvetica Neue"/>
              </a:defRPr>
            </a:pPr>
            <a:r>
              <a:rPr sz="1875" b="0">
                <a:solidFill>
                  <a:srgbClr val="53645B"/>
                </a:solidFill>
                <a:latin typeface="Helvetica Neue"/>
                <a:ea typeface="Helvetica Neue"/>
                <a:cs typeface="Helvetica Neue"/>
              </a:rPr>
              <a:t>Selected within-genre coefficients, controlling for the included variables</a:t>
            </a:r>
          </a:p>
        </p:txBody>
      </p:sp>
      <p:graphicFrame>
        <p:nvGraphicFramePr>
          <p:cNvPr id="4" name="Chart">
            <a:extLst xmlns:a="http://schemas.openxmlformats.org/drawingml/2006/main">
              <a:ext uri="{FF2B5EF4-FFF2-40B4-BE49-F238E27FC236}">
                <a16:creationId xmlns:a16="http://schemas.microsoft.com/office/drawing/2014/main" id="{4FCCF4DB-27AF-4A8D-84D4-DA6FA261E57F}"/>
              </a:ext>
            </a:extLst>
          </p:cNvPr>
          <p:cNvGraphicFramePr/>
          <p:nvPr/>
        </p:nvGraphicFramePr>
        <p:xfrm>
          <a:off xmlns:a="http://schemas.openxmlformats.org/drawingml/2006/main" x="609600" y="2066925"/>
          <a:ext xmlns:a="http://schemas.openxmlformats.org/drawingml/2006/main" cx="7000875" cy="2971800"/>
        </p:xfrm>
        <a:graphic xmlns:a="http://schemas.openxmlformats.org/drawingml/2006/main">
          <a:graphicData uri="http://schemas.openxmlformats.org/drawingml/2006/chart">
            <c:chart xmlns:r="http://schemas.openxmlformats.org/officeDocument/2006/relationships" xmlns:c="http://schemas.openxmlformats.org/drawingml/2006/chart" r:id="R31f61d4e5e96465d"/>
          </a:graphicData>
        </a:graphic>
      </p:graphicFrame>
      <p:sp>
        <p:nvSpPr>
          <p:cNvPr id="5" name="">
            <a:extLst xmlns:a="http://schemas.openxmlformats.org/drawingml/2006/main">
              <a:ext uri="{FF2B5EF4-FFF2-40B4-BE49-F238E27FC236}">
                <a16:creationId xmlns:a16="http://schemas.microsoft.com/office/drawing/2014/main" id="{D0813B54-0816-4FB1-A7B8-01334C2FA1FB}"/>
              </a:ext>
            </a:extLst>
          </p:cNvPr>
          <p:cNvSpPr>
            <a:spLocks xmlns:a="http://schemas.openxmlformats.org/drawingml/2006/main" noGrp="1"/>
          </p:cNvSpPr>
          <p:nvPr/>
        </p:nvSpPr>
        <p:spPr>
          <a:xfrm xmlns:a="http://schemas.openxmlformats.org/drawingml/2006/main">
            <a:off x="8201025" y="2152650"/>
            <a:ext cx="333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7764F"/>
                </a:solidFill>
                <a:latin typeface="Helvetica Neue"/>
                <a:ea typeface="Helvetica Neue"/>
                <a:cs typeface="Helvetica Neue"/>
              </a:defRPr>
            </a:defPPr>
          </a:lstStyle>
          <a:p xmlns:a="http://schemas.openxmlformats.org/drawingml/2006/main">
            <a:pPr>
              <a:defRPr sz="2100" b="1">
                <a:solidFill>
                  <a:srgbClr val="17764F"/>
                </a:solidFill>
                <a:latin typeface="Helvetica Neue"/>
                <a:ea typeface="Helvetica Neue"/>
                <a:cs typeface="Helvetica Neue"/>
              </a:defRPr>
            </a:pPr>
            <a:r>
              <a:rPr sz="2100" b="1">
                <a:solidFill>
                  <a:srgbClr val="17764F"/>
                </a:solidFill>
                <a:latin typeface="Helvetica Neue"/>
                <a:ea typeface="Helvetica Neue"/>
                <a:cs typeface="Helvetica Neue"/>
              </a:rPr>
              <a:t>Overall interaction test</a:t>
            </a:r>
          </a:p>
        </p:txBody>
      </p:sp>
      <p:sp>
        <p:nvSpPr>
          <p:cNvPr id="6" name="">
            <a:extLst xmlns:a="http://schemas.openxmlformats.org/drawingml/2006/main">
              <a:ext uri="{FF2B5EF4-FFF2-40B4-BE49-F238E27FC236}">
                <a16:creationId xmlns:a16="http://schemas.microsoft.com/office/drawing/2014/main" id="{A26A7288-087E-4CCF-BC58-386F9123542A}"/>
              </a:ext>
            </a:extLst>
          </p:cNvPr>
          <p:cNvSpPr>
            <a:spLocks xmlns:a="http://schemas.openxmlformats.org/drawingml/2006/main" noGrp="1"/>
          </p:cNvSpPr>
          <p:nvPr/>
        </p:nvSpPr>
        <p:spPr>
          <a:xfrm xmlns:a="http://schemas.openxmlformats.org/drawingml/2006/main">
            <a:off x="8201025" y="3048000"/>
            <a:ext cx="333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1">
                <a:solidFill>
                  <a:srgbClr val="17261F"/>
                </a:solidFill>
                <a:latin typeface="Helvetica Neue"/>
                <a:ea typeface="Helvetica Neue"/>
                <a:cs typeface="Helvetica Neue"/>
              </a:defRPr>
            </a:defPPr>
          </a:lstStyle>
          <a:p xmlns:a="http://schemas.openxmlformats.org/drawingml/2006/main">
            <a:pPr>
              <a:defRPr sz="2625" b="1">
                <a:solidFill>
                  <a:srgbClr val="17261F"/>
                </a:solidFill>
                <a:latin typeface="Helvetica Neue"/>
                <a:ea typeface="Helvetica Neue"/>
                <a:cs typeface="Helvetica Neue"/>
              </a:defRPr>
            </a:pPr>
            <a:r>
              <a:rPr sz="2625" b="1">
                <a:solidFill>
                  <a:srgbClr val="17261F"/>
                </a:solidFill>
                <a:latin typeface="Helvetica Neue"/>
                <a:ea typeface="Helvetica Neue"/>
                <a:cs typeface="Helvetica Neue"/>
              </a:rPr>
              <a:t>p = 0.0000458</a:t>
            </a:r>
          </a:p>
        </p:txBody>
      </p:sp>
      <p:sp>
        <p:nvSpPr>
          <p:cNvPr id="7" name="">
            <a:extLst xmlns:a="http://schemas.openxmlformats.org/drawingml/2006/main">
              <a:ext uri="{FF2B5EF4-FFF2-40B4-BE49-F238E27FC236}">
                <a16:creationId xmlns:a16="http://schemas.microsoft.com/office/drawing/2014/main" id="{F01C4834-A909-44A3-B969-32557BE09700}"/>
              </a:ext>
            </a:extLst>
          </p:cNvPr>
          <p:cNvSpPr>
            <a:spLocks xmlns:a="http://schemas.openxmlformats.org/drawingml/2006/main" noGrp="1"/>
          </p:cNvSpPr>
          <p:nvPr/>
        </p:nvSpPr>
        <p:spPr>
          <a:xfrm xmlns:a="http://schemas.openxmlformats.org/drawingml/2006/main">
            <a:off x="8201025" y="3848100"/>
            <a:ext cx="3238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61F"/>
                </a:solidFill>
                <a:latin typeface="Helvetica Neue"/>
                <a:ea typeface="Helvetica Neue"/>
                <a:cs typeface="Helvetica Neue"/>
              </a:defRPr>
            </a:defPPr>
          </a:lstStyle>
          <a:p xmlns:a="http://schemas.openxmlformats.org/drawingml/2006/main">
            <a:pPr>
              <a:defRPr sz="2025" b="0">
                <a:solidFill>
                  <a:srgbClr val="17261F"/>
                </a:solidFill>
                <a:latin typeface="Helvetica Neue"/>
                <a:ea typeface="Helvetica Neue"/>
                <a:cs typeface="Helvetica Neue"/>
              </a:defRPr>
            </a:pPr>
            <a:r>
              <a:rPr sz="2025" b="0">
                <a:solidFill>
                  <a:srgbClr val="17261F"/>
                </a:solidFill>
                <a:latin typeface="Helvetica Neue"/>
                <a:ea typeface="Helvetica Neue"/>
                <a:cs typeface="Helvetica Neue"/>
              </a:rPr>
              <a:t>Evidence that the relationship varies across genres in this sample.</a:t>
            </a:r>
          </a:p>
        </p:txBody>
      </p:sp>
      <p:sp>
        <p:nvSpPr>
          <p:cNvPr id="8" name="">
            <a:extLst xmlns:a="http://schemas.openxmlformats.org/drawingml/2006/main">
              <a:ext uri="{FF2B5EF4-FFF2-40B4-BE49-F238E27FC236}">
                <a16:creationId xmlns:a16="http://schemas.microsoft.com/office/drawing/2014/main" id="{09544A46-DC43-4082-AB2A-5064A2EE3480}"/>
              </a:ext>
            </a:extLst>
          </p:cNvPr>
          <p:cNvSpPr>
            <a:spLocks xmlns:a="http://schemas.openxmlformats.org/drawingml/2006/main" noGrp="1"/>
          </p:cNvSpPr>
          <p:nvPr/>
        </p:nvSpPr>
        <p:spPr>
          <a:xfrm xmlns:a="http://schemas.openxmlformats.org/drawingml/2006/main">
            <a:off x="609600" y="5753100"/>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3645B"/>
                </a:solidFill>
                <a:latin typeface="Helvetica Neue"/>
                <a:ea typeface="Helvetica Neue"/>
                <a:cs typeface="Helvetica Neue"/>
              </a:defRPr>
            </a:defPPr>
          </a:lstStyle>
          <a:p xmlns:a="http://schemas.openxmlformats.org/drawingml/2006/main">
            <a:pPr>
              <a:defRPr sz="1725" b="0">
                <a:solidFill>
                  <a:srgbClr val="53645B"/>
                </a:solidFill>
                <a:latin typeface="Helvetica Neue"/>
                <a:ea typeface="Helvetica Neue"/>
                <a:cs typeface="Helvetica Neue"/>
              </a:defRPr>
            </a:pPr>
            <a:r>
              <a:rPr sz="1725" b="0">
                <a:solidFill>
                  <a:srgbClr val="53645B"/>
                </a:solidFill>
                <a:latin typeface="Helvetica Neue"/>
                <a:ea typeface="Helvetica Neue"/>
                <a:cs typeface="Helvetica Neue"/>
              </a:rPr>
              <a:t>Horizontal axis: difference in predicted log streams. Individual uncertainty appears in the appendix.</a:t>
            </a:r>
          </a:p>
        </p:txBody>
      </p:sp>
    </p:spTree>
    <p:extLst>
      <p:ext uri="{BB962C8B-B14F-4D97-AF65-F5344CB8AC3E}">
        <p14:creationId xmlns:p14="http://schemas.microsoft.com/office/powerpoint/2010/main" val="210019458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8A13AFA-41CD-4B6F-B565-2C86D762CCBE}"/>
              </a:ext>
            </a:extLst>
          </p:cNvPr>
          <p:cNvSpPr>
            <a:spLocks xmlns:a="http://schemas.openxmlformats.org/drawingml/2006/main" noGrp="1"/>
          </p:cNvSpPr>
          <p:nvPr/>
        </p:nvSpPr>
        <p:spPr>
          <a:xfrm xmlns:a="http://schemas.openxmlformats.org/drawingml/2006/main">
            <a:off x="609600" y="4191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61F"/>
                </a:solidFill>
                <a:latin typeface="Helvetica Neue"/>
                <a:ea typeface="Helvetica Neue"/>
                <a:cs typeface="Helvetica Neue"/>
              </a:defRPr>
            </a:defPPr>
          </a:lstStyle>
          <a:p xmlns:a="http://schemas.openxmlformats.org/drawingml/2006/main">
            <a:pPr>
              <a:defRPr sz="3300" b="1">
                <a:solidFill>
                  <a:srgbClr val="17261F"/>
                </a:solidFill>
                <a:latin typeface="Helvetica Neue"/>
                <a:ea typeface="Helvetica Neue"/>
                <a:cs typeface="Helvetica Neue"/>
              </a:defRPr>
            </a:pPr>
            <a:r>
              <a:rPr sz="3300" b="1">
                <a:solidFill>
                  <a:srgbClr val="17261F"/>
                </a:solidFill>
                <a:latin typeface="Helvetica Neue"/>
                <a:ea typeface="Helvetica Neue"/>
                <a:cs typeface="Helvetica Neue"/>
              </a:rPr>
              <a:t>Diagnostics and sensitivity limit the conclusion</a:t>
            </a:r>
          </a:p>
        </p:txBody>
      </p:sp>
      <p:sp>
        <p:nvSpPr>
          <p:cNvPr id="2" name="">
            <a:extLst xmlns:a="http://schemas.openxmlformats.org/drawingml/2006/main">
              <a:ext uri="{FF2B5EF4-FFF2-40B4-BE49-F238E27FC236}">
                <a16:creationId xmlns:a16="http://schemas.microsoft.com/office/drawing/2014/main" id="{241CD172-3790-40E7-995F-AB6E1C7F6592}"/>
              </a:ext>
            </a:extLst>
          </p:cNvPr>
          <p:cNvSpPr>
            <a:spLocks xmlns:a="http://schemas.openxmlformats.org/drawingml/2006/main" noGrp="1"/>
          </p:cNvSpPr>
          <p:nvPr/>
        </p:nvSpPr>
        <p:spPr>
          <a:xfrm xmlns:a="http://schemas.openxmlformats.org/drawingml/2006/main">
            <a:off x="11049000" y="64008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45B"/>
                </a:solidFill>
                <a:latin typeface="Helvetica Neue"/>
                <a:ea typeface="Helvetica Neue"/>
                <a:cs typeface="Helvetica Neue"/>
              </a:defRPr>
            </a:defPPr>
          </a:lstStyle>
          <a:p xmlns:a="http://schemas.openxmlformats.org/drawingml/2006/main">
            <a:pPr>
              <a:defRPr sz="1200" b="0">
                <a:solidFill>
                  <a:srgbClr val="53645B"/>
                </a:solidFill>
                <a:latin typeface="Helvetica Neue"/>
                <a:ea typeface="Helvetica Neue"/>
                <a:cs typeface="Helvetica Neue"/>
              </a:defRPr>
            </a:pPr>
            <a:r>
              <a:rPr sz="1200" b="0">
                <a:solidFill>
                  <a:srgbClr val="53645B"/>
                </a:solidFill>
                <a:latin typeface="Helvetica Neue"/>
                <a:ea typeface="Helvetica Neue"/>
                <a:cs typeface="Helvetica Neue"/>
              </a:rPr>
              <a:t>08</a:t>
            </a:r>
          </a:p>
        </p:txBody>
      </p:sp>
      <p:pic>
        <p:nvPicPr>
          <p:cNvPr id="3" name="">
            <a:extLst xmlns:a="http://schemas.openxmlformats.org/drawingml/2006/main">
              <a:ext uri="{FF2B5EF4-FFF2-40B4-BE49-F238E27FC236}">
                <a16:creationId xmlns:a16="http://schemas.microsoft.com/office/drawing/2014/main" id="{7DA23CC8-DF75-440B-AA31-54099160702D}"/>
              </a:ext>
            </a:extLst>
          </p:cNvPr>
          <p:cNvPicPr>
            <a:picLocks xmlns:a="http://schemas.openxmlformats.org/drawingml/2006/main" noChangeAspect="1"/>
          </p:cNvPicPr>
          <p:nvPr/>
        </p:nvPicPr>
        <p:blipFill>
          <a:blip xmlns:r="http://schemas.openxmlformats.org/officeDocument/2006/relationships" xmlns:a="http://schemas.openxmlformats.org/drawingml/2006/main" r:embed="Raae81f921d304337"/>
          <a:stretch xmlns:a="http://schemas.openxmlformats.org/drawingml/2006/main"/>
        </p:blipFill>
        <p:spPr>
          <a:xfrm xmlns:a="http://schemas.openxmlformats.org/drawingml/2006/main">
            <a:off x="609600" y="1402896"/>
            <a:ext cx="5257800" cy="3004457"/>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C87B2A68-1B13-41CD-B7D8-0F8FE1081E24}"/>
              </a:ext>
            </a:extLst>
          </p:cNvPr>
          <p:cNvPicPr>
            <a:picLocks xmlns:a="http://schemas.openxmlformats.org/drawingml/2006/main" noChangeAspect="1"/>
          </p:cNvPicPr>
          <p:nvPr/>
        </p:nvPicPr>
        <p:blipFill>
          <a:blip xmlns:r="http://schemas.openxmlformats.org/officeDocument/2006/relationships" xmlns:a="http://schemas.openxmlformats.org/drawingml/2006/main" r:embed="R4868cb77558c4ee9"/>
          <a:stretch xmlns:a="http://schemas.openxmlformats.org/drawingml/2006/main"/>
        </p:blipFill>
        <p:spPr>
          <a:xfrm xmlns:a="http://schemas.openxmlformats.org/drawingml/2006/main">
            <a:off x="6248400" y="1402896"/>
            <a:ext cx="5257800" cy="3004457"/>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C1D7437A-9F47-4FF1-8051-C7D89E3A829F}"/>
              </a:ext>
            </a:extLst>
          </p:cNvPr>
          <p:cNvSpPr>
            <a:spLocks xmlns:a="http://schemas.openxmlformats.org/drawingml/2006/main" noGrp="1"/>
          </p:cNvSpPr>
          <p:nvPr/>
        </p:nvSpPr>
        <p:spPr>
          <a:xfrm xmlns:a="http://schemas.openxmlformats.org/drawingml/2006/main">
            <a:off x="609600" y="4676775"/>
            <a:ext cx="5095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7764F"/>
                </a:solidFill>
                <a:latin typeface="Helvetica Neue"/>
                <a:ea typeface="Helvetica Neue"/>
                <a:cs typeface="Helvetica Neue"/>
              </a:defRPr>
            </a:defPPr>
          </a:lstStyle>
          <a:p xmlns:a="http://schemas.openxmlformats.org/drawingml/2006/main">
            <a:pPr>
              <a:defRPr sz="2100" b="1">
                <a:solidFill>
                  <a:srgbClr val="17764F"/>
                </a:solidFill>
                <a:latin typeface="Helvetica Neue"/>
                <a:ea typeface="Helvetica Neue"/>
                <a:cs typeface="Helvetica Neue"/>
              </a:defRPr>
            </a:pPr>
            <a:r>
              <a:rPr sz="2100" b="1">
                <a:solidFill>
                  <a:srgbClr val="17764F"/>
                </a:solidFill>
                <a:latin typeface="Helvetica Neue"/>
                <a:ea typeface="Helvetica Neue"/>
                <a:cs typeface="Helvetica Neue"/>
              </a:rPr>
              <a:t>Unequal residual spread</a:t>
            </a:r>
          </a:p>
        </p:txBody>
      </p:sp>
      <p:sp>
        <p:nvSpPr>
          <p:cNvPr id="6" name="">
            <a:extLst xmlns:a="http://schemas.openxmlformats.org/drawingml/2006/main">
              <a:ext uri="{FF2B5EF4-FFF2-40B4-BE49-F238E27FC236}">
                <a16:creationId xmlns:a16="http://schemas.microsoft.com/office/drawing/2014/main" id="{21FDEE34-EC7A-46EA-979E-C2F688BFA313}"/>
              </a:ext>
            </a:extLst>
          </p:cNvPr>
          <p:cNvSpPr>
            <a:spLocks xmlns:a="http://schemas.openxmlformats.org/drawingml/2006/main" noGrp="1"/>
          </p:cNvSpPr>
          <p:nvPr/>
        </p:nvSpPr>
        <p:spPr>
          <a:xfrm xmlns:a="http://schemas.openxmlformats.org/drawingml/2006/main">
            <a:off x="609600" y="5219700"/>
            <a:ext cx="50958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7261F"/>
                </a:solidFill>
                <a:latin typeface="Helvetica Neue"/>
                <a:ea typeface="Helvetica Neue"/>
                <a:cs typeface="Helvetica Neue"/>
              </a:defRPr>
            </a:defPPr>
          </a:lstStyle>
          <a:p xmlns:a="http://schemas.openxmlformats.org/drawingml/2006/main">
            <a:pPr>
              <a:defRPr sz="1875" b="0">
                <a:solidFill>
                  <a:srgbClr val="17261F"/>
                </a:solidFill>
                <a:latin typeface="Helvetica Neue"/>
                <a:ea typeface="Helvetica Neue"/>
                <a:cs typeface="Helvetica Neue"/>
              </a:defRPr>
            </a:pPr>
            <a:r>
              <a:rPr sz="1875" b="0">
                <a:solidFill>
                  <a:srgbClr val="17261F"/>
                </a:solidFill>
                <a:latin typeface="Helvetica Neue"/>
                <a:ea typeface="Helvetica Neue"/>
                <a:cs typeface="Helvetica Neue"/>
              </a:rPr>
              <a:t>Ordinary p-values need caution. A separate robust check still supports the overall interaction.</a:t>
            </a:r>
          </a:p>
        </p:txBody>
      </p:sp>
      <p:sp>
        <p:nvSpPr>
          <p:cNvPr id="7" name="">
            <a:extLst xmlns:a="http://schemas.openxmlformats.org/drawingml/2006/main">
              <a:ext uri="{FF2B5EF4-FFF2-40B4-BE49-F238E27FC236}">
                <a16:creationId xmlns:a16="http://schemas.microsoft.com/office/drawing/2014/main" id="{3E06D0D3-009D-4D61-AB87-63A3E0768859}"/>
              </a:ext>
            </a:extLst>
          </p:cNvPr>
          <p:cNvSpPr>
            <a:spLocks xmlns:a="http://schemas.openxmlformats.org/drawingml/2006/main" noGrp="1"/>
          </p:cNvSpPr>
          <p:nvPr/>
        </p:nvSpPr>
        <p:spPr>
          <a:xfrm xmlns:a="http://schemas.openxmlformats.org/drawingml/2006/main">
            <a:off x="6248400" y="4676775"/>
            <a:ext cx="52768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7764F"/>
                </a:solidFill>
                <a:latin typeface="Helvetica Neue"/>
                <a:ea typeface="Helvetica Neue"/>
                <a:cs typeface="Helvetica Neue"/>
              </a:defRPr>
            </a:defPPr>
          </a:lstStyle>
          <a:p xmlns:a="http://schemas.openxmlformats.org/drawingml/2006/main">
            <a:pPr>
              <a:defRPr sz="2100" b="1">
                <a:solidFill>
                  <a:srgbClr val="17764F"/>
                </a:solidFill>
                <a:latin typeface="Helvetica Neue"/>
                <a:ea typeface="Helvetica Neue"/>
                <a:cs typeface="Helvetica Neue"/>
              </a:defRPr>
            </a:pPr>
            <a:r>
              <a:rPr sz="2100" b="1">
                <a:solidFill>
                  <a:srgbClr val="17764F"/>
                </a:solidFill>
                <a:latin typeface="Helvetica Neue"/>
                <a:ea typeface="Helvetica Neue"/>
                <a:cs typeface="Helvetica Neue"/>
              </a:rPr>
              <a:t>Latin result changes with the sample</a:t>
            </a:r>
          </a:p>
        </p:txBody>
      </p:sp>
      <p:sp>
        <p:nvSpPr>
          <p:cNvPr id="8" name="">
            <a:extLst xmlns:a="http://schemas.openxmlformats.org/drawingml/2006/main">
              <a:ext uri="{FF2B5EF4-FFF2-40B4-BE49-F238E27FC236}">
                <a16:creationId xmlns:a16="http://schemas.microsoft.com/office/drawing/2014/main" id="{A5C7D19B-96C5-410A-948B-DBD65C558A0E}"/>
              </a:ext>
            </a:extLst>
          </p:cNvPr>
          <p:cNvSpPr>
            <a:spLocks xmlns:a="http://schemas.openxmlformats.org/drawingml/2006/main" noGrp="1"/>
          </p:cNvSpPr>
          <p:nvPr/>
        </p:nvSpPr>
        <p:spPr>
          <a:xfrm xmlns:a="http://schemas.openxmlformats.org/drawingml/2006/main">
            <a:off x="6248400" y="5219700"/>
            <a:ext cx="50958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7261F"/>
                </a:solidFill>
                <a:latin typeface="Helvetica Neue"/>
                <a:ea typeface="Helvetica Neue"/>
                <a:cs typeface="Helvetica Neue"/>
              </a:defRPr>
            </a:defPPr>
          </a:lstStyle>
          <a:p xmlns:a="http://schemas.openxmlformats.org/drawingml/2006/main">
            <a:pPr>
              <a:defRPr sz="1875" b="0">
                <a:solidFill>
                  <a:srgbClr val="17261F"/>
                </a:solidFill>
                <a:latin typeface="Helvetica Neue"/>
                <a:ea typeface="Helvetica Neue"/>
                <a:cs typeface="Helvetica Neue"/>
              </a:defRPr>
            </a:pPr>
            <a:r>
              <a:rPr sz="1875" b="0">
                <a:solidFill>
                  <a:srgbClr val="17261F"/>
                </a:solidFill>
                <a:latin typeface="Helvetica Neue"/>
                <a:ea typeface="Helvetica Neue"/>
                <a:cs typeface="Helvetica Neue"/>
              </a:rPr>
              <a:t>With markets listed only (n = 3,659), its ordinary p-value is 0.080.</a:t>
            </a:r>
          </a:p>
        </p:txBody>
      </p:sp>
    </p:spTree>
    <p:extLst>
      <p:ext uri="{BB962C8B-B14F-4D97-AF65-F5344CB8AC3E}">
        <p14:creationId xmlns:p14="http://schemas.microsoft.com/office/powerpoint/2010/main" val="3017916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3506F8E-AA8C-45ED-95A3-CDBA5F89117A}"/>
              </a:ext>
            </a:extLst>
          </p:cNvPr>
          <p:cNvSpPr>
            <a:spLocks xmlns:a="http://schemas.openxmlformats.org/drawingml/2006/main" noGrp="1"/>
          </p:cNvSpPr>
          <p:nvPr/>
        </p:nvSpPr>
        <p:spPr>
          <a:xfrm xmlns:a="http://schemas.openxmlformats.org/drawingml/2006/main">
            <a:off x="609600" y="4191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61F"/>
                </a:solidFill>
                <a:latin typeface="Helvetica Neue"/>
                <a:ea typeface="Helvetica Neue"/>
                <a:cs typeface="Helvetica Neue"/>
              </a:defRPr>
            </a:defPPr>
          </a:lstStyle>
          <a:p xmlns:a="http://schemas.openxmlformats.org/drawingml/2006/main">
            <a:pPr>
              <a:defRPr sz="3300" b="1">
                <a:solidFill>
                  <a:srgbClr val="17261F"/>
                </a:solidFill>
                <a:latin typeface="Helvetica Neue"/>
                <a:ea typeface="Helvetica Neue"/>
                <a:cs typeface="Helvetica Neue"/>
              </a:defRPr>
            </a:pPr>
            <a:r>
              <a:rPr sz="3300" b="1">
                <a:solidFill>
                  <a:srgbClr val="17261F"/>
                </a:solidFill>
                <a:latin typeface="Helvetica Neue"/>
                <a:ea typeface="Helvetica Neue"/>
                <a:cs typeface="Helvetica Neue"/>
              </a:rPr>
              <a:t>Recommendations and additional data</a:t>
            </a:r>
          </a:p>
        </p:txBody>
      </p:sp>
      <p:sp>
        <p:nvSpPr>
          <p:cNvPr id="2" name="">
            <a:extLst xmlns:a="http://schemas.openxmlformats.org/drawingml/2006/main">
              <a:ext uri="{FF2B5EF4-FFF2-40B4-BE49-F238E27FC236}">
                <a16:creationId xmlns:a16="http://schemas.microsoft.com/office/drawing/2014/main" id="{1ACCE3FD-279E-4942-BB80-1D34B6519319}"/>
              </a:ext>
            </a:extLst>
          </p:cNvPr>
          <p:cNvSpPr>
            <a:spLocks xmlns:a="http://schemas.openxmlformats.org/drawingml/2006/main" noGrp="1"/>
          </p:cNvSpPr>
          <p:nvPr/>
        </p:nvSpPr>
        <p:spPr>
          <a:xfrm xmlns:a="http://schemas.openxmlformats.org/drawingml/2006/main">
            <a:off x="11049000" y="64008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45B"/>
                </a:solidFill>
                <a:latin typeface="Helvetica Neue"/>
                <a:ea typeface="Helvetica Neue"/>
                <a:cs typeface="Helvetica Neue"/>
              </a:defRPr>
            </a:defPPr>
          </a:lstStyle>
          <a:p xmlns:a="http://schemas.openxmlformats.org/drawingml/2006/main">
            <a:pPr>
              <a:defRPr sz="1200" b="0">
                <a:solidFill>
                  <a:srgbClr val="53645B"/>
                </a:solidFill>
                <a:latin typeface="Helvetica Neue"/>
                <a:ea typeface="Helvetica Neue"/>
                <a:cs typeface="Helvetica Neue"/>
              </a:defRPr>
            </a:pPr>
            <a:r>
              <a:rPr sz="1200" b="0">
                <a:solidFill>
                  <a:srgbClr val="53645B"/>
                </a:solidFill>
                <a:latin typeface="Helvetica Neue"/>
                <a:ea typeface="Helvetica Neue"/>
                <a:cs typeface="Helvetica Neue"/>
              </a:rPr>
              <a:t>09</a:t>
            </a:r>
          </a:p>
        </p:txBody>
      </p:sp>
      <p:sp>
        <p:nvSpPr>
          <p:cNvPr id="3" name="">
            <a:extLst xmlns:a="http://schemas.openxmlformats.org/drawingml/2006/main">
              <a:ext uri="{FF2B5EF4-FFF2-40B4-BE49-F238E27FC236}">
                <a16:creationId xmlns:a16="http://schemas.microsoft.com/office/drawing/2014/main" id="{63198A91-AB08-4028-970F-D4ED7A5B8F94}"/>
              </a:ext>
            </a:extLst>
          </p:cNvPr>
          <p:cNvSpPr>
            <a:spLocks xmlns:a="http://schemas.openxmlformats.org/drawingml/2006/main" noGrp="1"/>
          </p:cNvSpPr>
          <p:nvPr/>
        </p:nvSpPr>
        <p:spPr>
          <a:xfrm xmlns:a="http://schemas.openxmlformats.org/drawingml/2006/main">
            <a:off x="609600" y="1666875"/>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7764F"/>
                </a:solidFill>
                <a:latin typeface="Helvetica Neue"/>
                <a:ea typeface="Helvetica Neue"/>
                <a:cs typeface="Helvetica Neue"/>
              </a:defRPr>
            </a:defPPr>
          </a:lstStyle>
          <a:p xmlns:a="http://schemas.openxmlformats.org/drawingml/2006/main">
            <a:pPr>
              <a:defRPr sz="2325" b="1">
                <a:solidFill>
                  <a:srgbClr val="17764F"/>
                </a:solidFill>
                <a:latin typeface="Helvetica Neue"/>
                <a:ea typeface="Helvetica Neue"/>
                <a:cs typeface="Helvetica Neue"/>
              </a:defRPr>
            </a:pPr>
            <a:r>
              <a:rPr sz="2325" b="1">
                <a:solidFill>
                  <a:srgbClr val="17764F"/>
                </a:solidFill>
                <a:latin typeface="Helvetica Neue"/>
                <a:ea typeface="Helvetica Neue"/>
                <a:cs typeface="Helvetica Neue"/>
              </a:rPr>
              <a:t>Use genre context</a:t>
            </a:r>
          </a:p>
        </p:txBody>
      </p:sp>
      <p:sp>
        <p:nvSpPr>
          <p:cNvPr id="4" name="">
            <a:extLst xmlns:a="http://schemas.openxmlformats.org/drawingml/2006/main">
              <a:ext uri="{FF2B5EF4-FFF2-40B4-BE49-F238E27FC236}">
                <a16:creationId xmlns:a16="http://schemas.microsoft.com/office/drawing/2014/main" id="{EF2F7F10-A26C-4B84-95FD-CBD03E34B81C}"/>
              </a:ext>
            </a:extLst>
          </p:cNvPr>
          <p:cNvSpPr>
            <a:spLocks xmlns:a="http://schemas.openxmlformats.org/drawingml/2006/main" noGrp="1"/>
          </p:cNvSpPr>
          <p:nvPr/>
        </p:nvSpPr>
        <p:spPr>
          <a:xfrm xmlns:a="http://schemas.openxmlformats.org/drawingml/2006/main">
            <a:off x="609600" y="2200275"/>
            <a:ext cx="10429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7261F"/>
                </a:solidFill>
                <a:latin typeface="Helvetica Neue"/>
                <a:ea typeface="Helvetica Neue"/>
                <a:cs typeface="Helvetica Neue"/>
              </a:defRPr>
            </a:defPPr>
          </a:lstStyle>
          <a:p xmlns:a="http://schemas.openxmlformats.org/drawingml/2006/main">
            <a:pPr>
              <a:defRPr sz="2175" b="0">
                <a:solidFill>
                  <a:srgbClr val="17261F"/>
                </a:solidFill>
                <a:latin typeface="Helvetica Neue"/>
                <a:ea typeface="Helvetica Neue"/>
                <a:cs typeface="Helvetica Neue"/>
              </a:defRPr>
            </a:pPr>
            <a:r>
              <a:rPr sz="2175" b="0">
                <a:solidFill>
                  <a:srgbClr val="17261F"/>
                </a:solidFill>
                <a:latin typeface="Helvetica Neue"/>
                <a:ea typeface="Helvetica Neue"/>
                <a:cs typeface="Helvetica Neue"/>
              </a:rPr>
              <a:t>Review explicit and non-explicit tracks within comparable genres and artist profiles.</a:t>
            </a:r>
          </a:p>
        </p:txBody>
      </p:sp>
      <p:sp>
        <p:nvSpPr>
          <p:cNvPr id="5" name="">
            <a:extLst xmlns:a="http://schemas.openxmlformats.org/drawingml/2006/main">
              <a:ext uri="{FF2B5EF4-FFF2-40B4-BE49-F238E27FC236}">
                <a16:creationId xmlns:a16="http://schemas.microsoft.com/office/drawing/2014/main" id="{472232E3-F372-4903-910D-F68E99C67E8B}"/>
              </a:ext>
            </a:extLst>
          </p:cNvPr>
          <p:cNvSpPr>
            <a:spLocks xmlns:a="http://schemas.openxmlformats.org/drawingml/2006/main" noGrp="1"/>
          </p:cNvSpPr>
          <p:nvPr/>
        </p:nvSpPr>
        <p:spPr>
          <a:xfrm xmlns:a="http://schemas.openxmlformats.org/drawingml/2006/main">
            <a:off x="609600" y="316230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7764F"/>
                </a:solidFill>
                <a:latin typeface="Helvetica Neue"/>
                <a:ea typeface="Helvetica Neue"/>
                <a:cs typeface="Helvetica Neue"/>
              </a:defRPr>
            </a:defPPr>
          </a:lstStyle>
          <a:p xmlns:a="http://schemas.openxmlformats.org/drawingml/2006/main">
            <a:pPr>
              <a:defRPr sz="2325" b="1">
                <a:solidFill>
                  <a:srgbClr val="17764F"/>
                </a:solidFill>
                <a:latin typeface="Helvetica Neue"/>
                <a:ea typeface="Helvetica Neue"/>
                <a:cs typeface="Helvetica Neue"/>
              </a:defRPr>
            </a:pPr>
            <a:r>
              <a:rPr sz="2325" b="1">
                <a:solidFill>
                  <a:srgbClr val="17764F"/>
                </a:solidFill>
                <a:latin typeface="Helvetica Neue"/>
                <a:ea typeface="Helvetica Neue"/>
                <a:cs typeface="Helvetica Neue"/>
              </a:rPr>
              <a:t>Test version and promotion strategies</a:t>
            </a:r>
          </a:p>
        </p:txBody>
      </p:sp>
      <p:sp>
        <p:nvSpPr>
          <p:cNvPr id="6" name="">
            <a:extLst xmlns:a="http://schemas.openxmlformats.org/drawingml/2006/main">
              <a:ext uri="{FF2B5EF4-FFF2-40B4-BE49-F238E27FC236}">
                <a16:creationId xmlns:a16="http://schemas.microsoft.com/office/drawing/2014/main" id="{E164E63F-45D0-4F1C-B36E-CECB130BB5A3}"/>
              </a:ext>
            </a:extLst>
          </p:cNvPr>
          <p:cNvSpPr>
            <a:spLocks xmlns:a="http://schemas.openxmlformats.org/drawingml/2006/main" noGrp="1"/>
          </p:cNvSpPr>
          <p:nvPr/>
        </p:nvSpPr>
        <p:spPr>
          <a:xfrm xmlns:a="http://schemas.openxmlformats.org/drawingml/2006/main">
            <a:off x="609600" y="3695700"/>
            <a:ext cx="1042987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7261F"/>
                </a:solidFill>
                <a:latin typeface="Helvetica Neue"/>
                <a:ea typeface="Helvetica Neue"/>
                <a:cs typeface="Helvetica Neue"/>
              </a:defRPr>
            </a:defPPr>
          </a:lstStyle>
          <a:p xmlns:a="http://schemas.openxmlformats.org/drawingml/2006/main">
            <a:pPr>
              <a:defRPr sz="2175" b="0">
                <a:solidFill>
                  <a:srgbClr val="17261F"/>
                </a:solidFill>
                <a:latin typeface="Helvetica Neue"/>
                <a:ea typeface="Helvetica Neue"/>
                <a:cs typeface="Helvetica Neue"/>
              </a:defRPr>
            </a:pPr>
            <a:r>
              <a:rPr sz="2175" b="0">
                <a:solidFill>
                  <a:srgbClr val="17261F"/>
                </a:solidFill>
                <a:latin typeface="Helvetica Neue"/>
                <a:ea typeface="Helvetica Neue"/>
                <a:cs typeface="Helvetica Neue"/>
              </a:rPr>
              <a:t>Compare paired clean and explicit releases with comparable timing and promotion before changing policy.</a:t>
            </a:r>
          </a:p>
        </p:txBody>
      </p:sp>
      <p:sp>
        <p:nvSpPr>
          <p:cNvPr id="7" name="">
            <a:extLst xmlns:a="http://schemas.openxmlformats.org/drawingml/2006/main">
              <a:ext uri="{FF2B5EF4-FFF2-40B4-BE49-F238E27FC236}">
                <a16:creationId xmlns:a16="http://schemas.microsoft.com/office/drawing/2014/main" id="{850479BE-6072-4A57-9854-5679F30EE2C1}"/>
              </a:ext>
            </a:extLst>
          </p:cNvPr>
          <p:cNvSpPr>
            <a:spLocks xmlns:a="http://schemas.openxmlformats.org/drawingml/2006/main" noGrp="1"/>
          </p:cNvSpPr>
          <p:nvPr/>
        </p:nvSpPr>
        <p:spPr>
          <a:xfrm xmlns:a="http://schemas.openxmlformats.org/drawingml/2006/main">
            <a:off x="609600" y="480060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7764F"/>
                </a:solidFill>
                <a:latin typeface="Helvetica Neue"/>
                <a:ea typeface="Helvetica Neue"/>
                <a:cs typeface="Helvetica Neue"/>
              </a:defRPr>
            </a:defPPr>
          </a:lstStyle>
          <a:p xmlns:a="http://schemas.openxmlformats.org/drawingml/2006/main">
            <a:pPr>
              <a:defRPr sz="2325" b="1">
                <a:solidFill>
                  <a:srgbClr val="17764F"/>
                </a:solidFill>
                <a:latin typeface="Helvetica Neue"/>
                <a:ea typeface="Helvetica Neue"/>
                <a:cs typeface="Helvetica Neue"/>
              </a:defRPr>
            </a:pPr>
            <a:r>
              <a:rPr sz="2325" b="1">
                <a:solidFill>
                  <a:srgbClr val="17764F"/>
                </a:solidFill>
                <a:latin typeface="Helvetica Neue"/>
                <a:ea typeface="Helvetica Neue"/>
                <a:cs typeface="Helvetica Neue"/>
              </a:rPr>
              <a:t>Collect the missing information</a:t>
            </a:r>
          </a:p>
        </p:txBody>
      </p:sp>
      <p:sp>
        <p:nvSpPr>
          <p:cNvPr id="8" name="">
            <a:extLst xmlns:a="http://schemas.openxmlformats.org/drawingml/2006/main">
              <a:ext uri="{FF2B5EF4-FFF2-40B4-BE49-F238E27FC236}">
                <a16:creationId xmlns:a16="http://schemas.microsoft.com/office/drawing/2014/main" id="{14454B81-757D-4860-8D4D-03F5E3BC7588}"/>
              </a:ext>
            </a:extLst>
          </p:cNvPr>
          <p:cNvSpPr>
            <a:spLocks xmlns:a="http://schemas.openxmlformats.org/drawingml/2006/main" noGrp="1"/>
          </p:cNvSpPr>
          <p:nvPr/>
        </p:nvSpPr>
        <p:spPr>
          <a:xfrm xmlns:a="http://schemas.openxmlformats.org/drawingml/2006/main">
            <a:off x="609600" y="5334000"/>
            <a:ext cx="104298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7261F"/>
                </a:solidFill>
                <a:latin typeface="Helvetica Neue"/>
                <a:ea typeface="Helvetica Neue"/>
                <a:cs typeface="Helvetica Neue"/>
              </a:defRPr>
            </a:defPPr>
          </a:lstStyle>
          <a:p xmlns:a="http://schemas.openxmlformats.org/drawingml/2006/main">
            <a:pPr>
              <a:defRPr sz="2175" b="0">
                <a:solidFill>
                  <a:srgbClr val="17261F"/>
                </a:solidFill>
                <a:latin typeface="Helvetica Neue"/>
                <a:ea typeface="Helvetica Neue"/>
                <a:cs typeface="Helvetica Neue"/>
              </a:defRPr>
            </a:pPr>
            <a:r>
              <a:rPr sz="2175" b="0">
                <a:solidFill>
                  <a:srgbClr val="17261F"/>
                </a:solidFill>
                <a:latin typeface="Helvetica Neue"/>
                <a:ea typeface="Helvetica Neue"/>
                <a:cs typeface="Helvetica Neue"/>
              </a:rPr>
              <a:t>Playlist exposure, marketing spend, listener geography, artist IDs, and streams measured over the same time window.</a:t>
            </a:r>
          </a:p>
        </p:txBody>
      </p:sp>
    </p:spTree>
    <p:extLst>
      <p:ext uri="{BB962C8B-B14F-4D97-AF65-F5344CB8AC3E}">
        <p14:creationId xmlns:p14="http://schemas.microsoft.com/office/powerpoint/2010/main" val="190495183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1C2B03F-4000-44D0-A330-E147D36204FC}"/>
              </a:ext>
            </a:extLst>
          </p:cNvPr>
          <p:cNvSpPr>
            <a:spLocks xmlns:a="http://schemas.openxmlformats.org/drawingml/2006/main" noGrp="1"/>
          </p:cNvSpPr>
          <p:nvPr/>
        </p:nvSpPr>
        <p:spPr>
          <a:xfrm xmlns:a="http://schemas.openxmlformats.org/drawingml/2006/main">
            <a:off x="609600" y="4191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61F"/>
                </a:solidFill>
                <a:latin typeface="Helvetica Neue"/>
                <a:ea typeface="Helvetica Neue"/>
                <a:cs typeface="Helvetica Neue"/>
              </a:defRPr>
            </a:defPPr>
          </a:lstStyle>
          <a:p xmlns:a="http://schemas.openxmlformats.org/drawingml/2006/main">
            <a:pPr>
              <a:defRPr sz="3300" b="1">
                <a:solidFill>
                  <a:srgbClr val="17261F"/>
                </a:solidFill>
                <a:latin typeface="Helvetica Neue"/>
                <a:ea typeface="Helvetica Neue"/>
                <a:cs typeface="Helvetica Neue"/>
              </a:defRPr>
            </a:pPr>
            <a:r>
              <a:rPr sz="3300" b="1">
                <a:solidFill>
                  <a:srgbClr val="17261F"/>
                </a:solidFill>
                <a:latin typeface="Helvetica Neue"/>
                <a:ea typeface="Helvetica Neue"/>
                <a:cs typeface="Helvetica Neue"/>
              </a:rPr>
              <a:t>Appendix: genre estimates and uncertainty</a:t>
            </a:r>
          </a:p>
        </p:txBody>
      </p:sp>
      <p:sp>
        <p:nvSpPr>
          <p:cNvPr id="2" name="">
            <a:extLst xmlns:a="http://schemas.openxmlformats.org/drawingml/2006/main">
              <a:ext uri="{FF2B5EF4-FFF2-40B4-BE49-F238E27FC236}">
                <a16:creationId xmlns:a16="http://schemas.microsoft.com/office/drawing/2014/main" id="{8A3DC6B6-E678-4D16-A5E2-DAD602898647}"/>
              </a:ext>
            </a:extLst>
          </p:cNvPr>
          <p:cNvSpPr>
            <a:spLocks xmlns:a="http://schemas.openxmlformats.org/drawingml/2006/main" noGrp="1"/>
          </p:cNvSpPr>
          <p:nvPr/>
        </p:nvSpPr>
        <p:spPr>
          <a:xfrm xmlns:a="http://schemas.openxmlformats.org/drawingml/2006/main">
            <a:off x="11049000" y="64008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45B"/>
                </a:solidFill>
                <a:latin typeface="Helvetica Neue"/>
                <a:ea typeface="Helvetica Neue"/>
                <a:cs typeface="Helvetica Neue"/>
              </a:defRPr>
            </a:defPPr>
          </a:lstStyle>
          <a:p xmlns:a="http://schemas.openxmlformats.org/drawingml/2006/main">
            <a:pPr>
              <a:defRPr sz="1200" b="0">
                <a:solidFill>
                  <a:srgbClr val="53645B"/>
                </a:solidFill>
                <a:latin typeface="Helvetica Neue"/>
                <a:ea typeface="Helvetica Neue"/>
                <a:cs typeface="Helvetica Neue"/>
              </a:defRPr>
            </a:pPr>
            <a:r>
              <a:rPr sz="1200" b="0">
                <a:solidFill>
                  <a:srgbClr val="53645B"/>
                </a:solidFill>
                <a:latin typeface="Helvetica Neue"/>
                <a:ea typeface="Helvetica Neue"/>
                <a:cs typeface="Helvetica Neue"/>
              </a:rPr>
              <a:t>10</a:t>
            </a:r>
          </a:p>
        </p:txBody>
      </p:sp>
      <p:graphicFrame>
        <p:nvGraphicFramePr>
          <p:cNvPr id="3" name="">
            <a:extLst xmlns:a="http://schemas.openxmlformats.org/drawingml/2006/main">
              <a:ext uri="{FF2B5EF4-FFF2-40B4-BE49-F238E27FC236}">
                <a16:creationId xmlns:a16="http://schemas.microsoft.com/office/drawing/2014/main" id="{A4D14F91-73C6-4064-B7F0-9144152FF056}"/>
              </a:ext>
            </a:extLst>
          </p:cNvPr>
          <p:cNvGraphicFramePr/>
          <p:nvPr/>
        </p:nvGraphicFramePr>
        <p:xfrm>
          <a:off xmlns:a="http://schemas.openxmlformats.org/drawingml/2006/main" x="609600" y="1457325"/>
          <a:ext xmlns:a="http://schemas.openxmlformats.org/drawingml/2006/main" cx="10972800" cy="4267200"/>
        </p:xfrm>
        <a:graphic xmlns:a="http://schemas.openxmlformats.org/drawingml/2006/main">
          <a:graphicData uri="http://schemas.openxmlformats.org/drawingml/2006/table">
            <a:tbl>
              <a:tblPr/>
              <a:tblGrid>
                <a:gridCol w="2305050"/>
                <a:gridCol w="1257300"/>
                <a:gridCol w="2628900"/>
                <a:gridCol w="1524000"/>
                <a:gridCol w="1524000"/>
                <a:gridCol w="1733550"/>
              </a:tblGrid>
              <a:tr h="533400">
                <a:tc>
                  <a:txBody>
                    <a:bodyPr lIns="114300" tIns="114300" rIns="114300" bIns="114300"/>
                    <a:lstStyle/>
                    <a:p>
                      <a:r>
                        <a:rPr sz="1650" b="1">
                          <a:solidFill>
                            <a:srgbClr val="FFFFFF"/>
                          </a:solidFill>
                          <a:latin typeface="Helvetica Neue"/>
                          <a:ea typeface="Helvetica Neue"/>
                          <a:cs typeface="Helvetica Neue"/>
                        </a:rPr>
                        <a:t>Genre</a:t>
                      </a:r>
                    </a:p>
                  </a:txBody>
                  <a:tcPr marL="91440" marR="91440" marT="45720" marB="45720" anchor="ctr">
                    <a:solidFill>
                      <a:srgbClr val="17764F"/>
                    </a:solidFill>
                  </a:tcPr>
                </a:tc>
                <a:tc>
                  <a:txBody>
                    <a:bodyPr lIns="114300" tIns="114300" rIns="114300" bIns="114300"/>
                    <a:lstStyle/>
                    <a:p>
                      <a:r>
                        <a:rPr sz="1650" b="1">
                          <a:solidFill>
                            <a:srgbClr val="FFFFFF"/>
                          </a:solidFill>
                          <a:latin typeface="Helvetica Neue"/>
                          <a:ea typeface="Helvetica Neue"/>
                          <a:cs typeface="Helvetica Neue"/>
                        </a:rPr>
                        <a:t>Log coeff.</a:t>
                      </a:r>
                    </a:p>
                  </a:txBody>
                  <a:tcPr marL="91440" marR="91440" marT="45720" marB="45720" anchor="ctr">
                    <a:solidFill>
                      <a:srgbClr val="17764F"/>
                    </a:solidFill>
                  </a:tcPr>
                </a:tc>
                <a:tc>
                  <a:txBody>
                    <a:bodyPr lIns="114300" tIns="114300" rIns="114300" bIns="114300"/>
                    <a:lstStyle/>
                    <a:p>
                      <a:r>
                        <a:rPr sz="1650" b="1">
                          <a:solidFill>
                            <a:srgbClr val="FFFFFF"/>
                          </a:solidFill>
                          <a:latin typeface="Helvetica Neue"/>
                          <a:ea typeface="Helvetica Neue"/>
                          <a:cs typeface="Helvetica Neue"/>
                        </a:rPr>
                        <a:t>95% interval</a:t>
                      </a:r>
                    </a:p>
                  </a:txBody>
                  <a:tcPr marL="91440" marR="91440" marT="45720" marB="45720" anchor="ctr">
                    <a:solidFill>
                      <a:srgbClr val="17764F"/>
                    </a:solidFill>
                  </a:tcPr>
                </a:tc>
                <a:tc>
                  <a:txBody>
                    <a:bodyPr lIns="114300" tIns="114300" rIns="114300" bIns="114300"/>
                    <a:lstStyle/>
                    <a:p>
                      <a:r>
                        <a:rPr sz="1650" b="1">
                          <a:solidFill>
                            <a:srgbClr val="FFFFFF"/>
                          </a:solidFill>
                          <a:latin typeface="Helvetica Neue"/>
                          <a:ea typeface="Helvetica Neue"/>
                          <a:cs typeface="Helvetica Neue"/>
                        </a:rPr>
                        <a:t>p-value</a:t>
                      </a:r>
                    </a:p>
                  </a:txBody>
                  <a:tcPr marL="91440" marR="91440" marT="45720" marB="45720" anchor="ctr">
                    <a:solidFill>
                      <a:srgbClr val="17764F"/>
                    </a:solidFill>
                  </a:tcPr>
                </a:tc>
                <a:tc>
                  <a:txBody>
                    <a:bodyPr lIns="114300" tIns="114300" rIns="114300" bIns="114300"/>
                    <a:lstStyle/>
                    <a:p>
                      <a:r>
                        <a:rPr sz="1650" b="1">
                          <a:solidFill>
                            <a:srgbClr val="FFFFFF"/>
                          </a:solidFill>
                          <a:latin typeface="Helvetica Neue"/>
                          <a:ea typeface="Helvetica Neue"/>
                          <a:cs typeface="Helvetica Neue"/>
                        </a:rPr>
                        <a:t>Holm p</a:t>
                      </a:r>
                    </a:p>
                  </a:txBody>
                  <a:tcPr marL="91440" marR="91440" marT="45720" marB="45720" anchor="ctr">
                    <a:solidFill>
                      <a:srgbClr val="17764F"/>
                    </a:solidFill>
                  </a:tcPr>
                </a:tc>
                <a:tc>
                  <a:txBody>
                    <a:bodyPr lIns="114300" tIns="114300" rIns="114300" bIns="114300"/>
                    <a:lstStyle/>
                    <a:p>
                      <a:r>
                        <a:rPr sz="1650" b="1">
                          <a:solidFill>
                            <a:srgbClr val="FFFFFF"/>
                          </a:solidFill>
                          <a:latin typeface="Helvetica Neue"/>
                          <a:ea typeface="Helvetica Neue"/>
                          <a:cs typeface="Helvetica Neue"/>
                        </a:rPr>
                        <a:t>Explicit n</a:t>
                      </a:r>
                    </a:p>
                  </a:txBody>
                  <a:tcPr marL="91440" marR="91440" marT="45720" marB="45720" anchor="ctr">
                    <a:solidFill>
                      <a:srgbClr val="17764F"/>
                    </a:solidFill>
                  </a:tcPr>
                </a:tc>
              </a:tr>
              <a:tr h="533400">
                <a:tc>
                  <a:txBody>
                    <a:bodyPr lIns="114300" tIns="114300" rIns="114300" bIns="114300"/>
                    <a:lstStyle/>
                    <a:p>
                      <a:r>
                        <a:rPr sz="1650" b="0">
                          <a:solidFill>
                            <a:srgbClr val="17261F"/>
                          </a:solidFill>
                          <a:latin typeface="Helvetica Neue"/>
                          <a:ea typeface="Helvetica Neue"/>
                          <a:cs typeface="Helvetica Neue"/>
                        </a:rPr>
                        <a:t>Hip-Hop/Rap</a:t>
                      </a:r>
                    </a:p>
                  </a:txBody>
                  <a:tcPr marL="91440" marR="91440" marT="45720" marB="45720" anchor="ctr">
                    <a:solidFill>
                      <a:srgbClr val="FFFFFF"/>
                    </a:solidFill>
                  </a:tcPr>
                </a:tc>
                <a:tc>
                  <a:txBody>
                    <a:bodyPr lIns="114300" tIns="114300" rIns="114300" bIns="114300"/>
                    <a:lstStyle/>
                    <a:p>
                      <a:r>
                        <a:rPr sz="1650" b="0">
                          <a:solidFill>
                            <a:srgbClr val="17261F"/>
                          </a:solidFill>
                          <a:latin typeface="Helvetica Neue"/>
                          <a:ea typeface="Helvetica Neue"/>
                          <a:cs typeface="Helvetica Neue"/>
                        </a:rPr>
                        <a:t>0.199</a:t>
                      </a:r>
                    </a:p>
                  </a:txBody>
                  <a:tcPr marL="91440" marR="91440" marT="45720" marB="45720" anchor="ctr">
                    <a:solidFill>
                      <a:srgbClr val="FFFFFF"/>
                    </a:solidFill>
                  </a:tcPr>
                </a:tc>
                <a:tc>
                  <a:txBody>
                    <a:bodyPr lIns="114300" tIns="114300" rIns="114300" bIns="114300"/>
                    <a:lstStyle/>
                    <a:p>
                      <a:r>
                        <a:rPr sz="1650" b="0">
                          <a:solidFill>
                            <a:srgbClr val="17261F"/>
                          </a:solidFill>
                          <a:latin typeface="Helvetica Neue"/>
                          <a:ea typeface="Helvetica Neue"/>
                          <a:cs typeface="Helvetica Neue"/>
                        </a:rPr>
                        <a:t>0.037 to 0.362</a:t>
                      </a:r>
                    </a:p>
                  </a:txBody>
                  <a:tcPr marL="91440" marR="91440" marT="45720" marB="45720" anchor="ctr">
                    <a:solidFill>
                      <a:srgbClr val="FFFFFF"/>
                    </a:solidFill>
                  </a:tcPr>
                </a:tc>
                <a:tc>
                  <a:txBody>
                    <a:bodyPr lIns="114300" tIns="114300" rIns="114300" bIns="114300"/>
                    <a:lstStyle/>
                    <a:p>
                      <a:r>
                        <a:rPr sz="1650" b="0">
                          <a:solidFill>
                            <a:srgbClr val="17261F"/>
                          </a:solidFill>
                          <a:latin typeface="Helvetica Neue"/>
                          <a:ea typeface="Helvetica Neue"/>
                          <a:cs typeface="Helvetica Neue"/>
                        </a:rPr>
                        <a:t>0.0162</a:t>
                      </a:r>
                    </a:p>
                  </a:txBody>
                  <a:tcPr marL="91440" marR="91440" marT="45720" marB="45720" anchor="ctr">
                    <a:solidFill>
                      <a:srgbClr val="FFFFFF"/>
                    </a:solidFill>
                  </a:tcPr>
                </a:tc>
                <a:tc>
                  <a:txBody>
                    <a:bodyPr lIns="114300" tIns="114300" rIns="114300" bIns="114300"/>
                    <a:lstStyle/>
                    <a:p>
                      <a:r>
                        <a:rPr sz="1650" b="0">
                          <a:solidFill>
                            <a:srgbClr val="17261F"/>
                          </a:solidFill>
                          <a:latin typeface="Helvetica Neue"/>
                          <a:ea typeface="Helvetica Neue"/>
                          <a:cs typeface="Helvetica Neue"/>
                        </a:rPr>
                        <a:t>0.0811</a:t>
                      </a:r>
                    </a:p>
                  </a:txBody>
                  <a:tcPr marL="91440" marR="91440" marT="45720" marB="45720" anchor="ctr">
                    <a:solidFill>
                      <a:srgbClr val="FFFFFF"/>
                    </a:solidFill>
                  </a:tcPr>
                </a:tc>
                <a:tc>
                  <a:txBody>
                    <a:bodyPr lIns="114300" tIns="114300" rIns="114300" bIns="114300"/>
                    <a:lstStyle/>
                    <a:p>
                      <a:r>
                        <a:rPr sz="1650" b="0">
                          <a:solidFill>
                            <a:srgbClr val="17261F"/>
                          </a:solidFill>
                          <a:latin typeface="Helvetica Neue"/>
                          <a:ea typeface="Helvetica Neue"/>
                          <a:cs typeface="Helvetica Neue"/>
                        </a:rPr>
                        <a:t>865</a:t>
                      </a:r>
                    </a:p>
                  </a:txBody>
                  <a:tcPr marL="91440" marR="91440" marT="45720" marB="45720" anchor="ctr">
                    <a:solidFill>
                      <a:srgbClr val="FFFFFF"/>
                    </a:solidFill>
                  </a:tcPr>
                </a:tc>
              </a:tr>
              <a:tr h="533400">
                <a:tc>
                  <a:txBody>
                    <a:bodyPr lIns="114300" tIns="114300" rIns="114300" bIns="114300"/>
                    <a:lstStyle/>
                    <a:p>
                      <a:r>
                        <a:rPr sz="1650" b="0">
                          <a:solidFill>
                            <a:srgbClr val="17261F"/>
                          </a:solidFill>
                          <a:latin typeface="Helvetica Neue"/>
                          <a:ea typeface="Helvetica Neue"/>
                          <a:cs typeface="Helvetica Neue"/>
                        </a:rPr>
                        <a:t>Latin</a:t>
                      </a:r>
                    </a:p>
                  </a:txBody>
                  <a:tcPr marL="91440" marR="91440" marT="45720" marB="45720" anchor="ctr">
                    <a:solidFill>
                      <a:srgbClr val="EDF4EF"/>
                    </a:solidFill>
                  </a:tcPr>
                </a:tc>
                <a:tc>
                  <a:txBody>
                    <a:bodyPr lIns="114300" tIns="114300" rIns="114300" bIns="114300"/>
                    <a:lstStyle/>
                    <a:p>
                      <a:r>
                        <a:rPr sz="1650" b="0">
                          <a:solidFill>
                            <a:srgbClr val="17261F"/>
                          </a:solidFill>
                          <a:latin typeface="Helvetica Neue"/>
                          <a:ea typeface="Helvetica Neue"/>
                          <a:cs typeface="Helvetica Neue"/>
                        </a:rPr>
                        <a:t>-0.614</a:t>
                      </a:r>
                    </a:p>
                  </a:txBody>
                  <a:tcPr marL="91440" marR="91440" marT="45720" marB="45720" anchor="ctr">
                    <a:solidFill>
                      <a:srgbClr val="EDF4EF"/>
                    </a:solidFill>
                  </a:tcPr>
                </a:tc>
                <a:tc>
                  <a:txBody>
                    <a:bodyPr lIns="114300" tIns="114300" rIns="114300" bIns="114300"/>
                    <a:lstStyle/>
                    <a:p>
                      <a:r>
                        <a:rPr sz="1650" b="0">
                          <a:solidFill>
                            <a:srgbClr val="17261F"/>
                          </a:solidFill>
                          <a:latin typeface="Helvetica Neue"/>
                          <a:ea typeface="Helvetica Neue"/>
                          <a:cs typeface="Helvetica Neue"/>
                        </a:rPr>
                        <a:t>-0.929 to -0.299</a:t>
                      </a:r>
                    </a:p>
                  </a:txBody>
                  <a:tcPr marL="91440" marR="91440" marT="45720" marB="45720" anchor="ctr">
                    <a:solidFill>
                      <a:srgbClr val="EDF4EF"/>
                    </a:solidFill>
                  </a:tcPr>
                </a:tc>
                <a:tc>
                  <a:txBody>
                    <a:bodyPr lIns="114300" tIns="114300" rIns="114300" bIns="114300"/>
                    <a:lstStyle/>
                    <a:p>
                      <a:r>
                        <a:rPr sz="1650" b="0">
                          <a:solidFill>
                            <a:srgbClr val="17261F"/>
                          </a:solidFill>
                          <a:latin typeface="Helvetica Neue"/>
                          <a:ea typeface="Helvetica Neue"/>
                          <a:cs typeface="Helvetica Neue"/>
                        </a:rPr>
                        <a:t>0.000134</a:t>
                      </a:r>
                    </a:p>
                  </a:txBody>
                  <a:tcPr marL="91440" marR="91440" marT="45720" marB="45720" anchor="ctr">
                    <a:solidFill>
                      <a:srgbClr val="EDF4EF"/>
                    </a:solidFill>
                  </a:tcPr>
                </a:tc>
                <a:tc>
                  <a:txBody>
                    <a:bodyPr lIns="114300" tIns="114300" rIns="114300" bIns="114300"/>
                    <a:lstStyle/>
                    <a:p>
                      <a:r>
                        <a:rPr sz="1650" b="0">
                          <a:solidFill>
                            <a:srgbClr val="17261F"/>
                          </a:solidFill>
                          <a:latin typeface="Helvetica Neue"/>
                          <a:ea typeface="Helvetica Neue"/>
                          <a:cs typeface="Helvetica Neue"/>
                        </a:rPr>
                        <a:t>0.000939</a:t>
                      </a:r>
                    </a:p>
                  </a:txBody>
                  <a:tcPr marL="91440" marR="91440" marT="45720" marB="45720" anchor="ctr">
                    <a:solidFill>
                      <a:srgbClr val="EDF4EF"/>
                    </a:solidFill>
                  </a:tcPr>
                </a:tc>
                <a:tc>
                  <a:txBody>
                    <a:bodyPr lIns="114300" tIns="114300" rIns="114300" bIns="114300"/>
                    <a:lstStyle/>
                    <a:p>
                      <a:r>
                        <a:rPr sz="1650" b="0">
                          <a:solidFill>
                            <a:srgbClr val="17261F"/>
                          </a:solidFill>
                          <a:latin typeface="Helvetica Neue"/>
                          <a:ea typeface="Helvetica Neue"/>
                          <a:cs typeface="Helvetica Neue"/>
                        </a:rPr>
                        <a:t>92</a:t>
                      </a:r>
                    </a:p>
                  </a:txBody>
                  <a:tcPr marL="91440" marR="91440" marT="45720" marB="45720" anchor="ctr">
                    <a:solidFill>
                      <a:srgbClr val="EDF4EF"/>
                    </a:solidFill>
                  </a:tcPr>
                </a:tc>
              </a:tr>
              <a:tr h="533400">
                <a:tc>
                  <a:txBody>
                    <a:bodyPr lIns="114300" tIns="114300" rIns="114300" bIns="114300"/>
                    <a:lstStyle/>
                    <a:p>
                      <a:r>
                        <a:rPr sz="1650" b="0">
                          <a:solidFill>
                            <a:srgbClr val="17261F"/>
                          </a:solidFill>
                          <a:latin typeface="Helvetica Neue"/>
                          <a:ea typeface="Helvetica Neue"/>
                          <a:cs typeface="Helvetica Neue"/>
                        </a:rPr>
                        <a:t>Pop</a:t>
                      </a:r>
                    </a:p>
                  </a:txBody>
                  <a:tcPr marL="91440" marR="91440" marT="45720" marB="45720" anchor="ctr">
                    <a:solidFill>
                      <a:srgbClr val="FFFFFF"/>
                    </a:solidFill>
                  </a:tcPr>
                </a:tc>
                <a:tc>
                  <a:txBody>
                    <a:bodyPr lIns="114300" tIns="114300" rIns="114300" bIns="114300"/>
                    <a:lstStyle/>
                    <a:p>
                      <a:r>
                        <a:rPr sz="1650" b="0">
                          <a:solidFill>
                            <a:srgbClr val="17261F"/>
                          </a:solidFill>
                          <a:latin typeface="Helvetica Neue"/>
                          <a:ea typeface="Helvetica Neue"/>
                          <a:cs typeface="Helvetica Neue"/>
                        </a:rPr>
                        <a:t>0.215</a:t>
                      </a:r>
                    </a:p>
                  </a:txBody>
                  <a:tcPr marL="91440" marR="91440" marT="45720" marB="45720" anchor="ctr">
                    <a:solidFill>
                      <a:srgbClr val="FFFFFF"/>
                    </a:solidFill>
                  </a:tcPr>
                </a:tc>
                <a:tc>
                  <a:txBody>
                    <a:bodyPr lIns="114300" tIns="114300" rIns="114300" bIns="114300"/>
                    <a:lstStyle/>
                    <a:p>
                      <a:r>
                        <a:rPr sz="1650" b="0">
                          <a:solidFill>
                            <a:srgbClr val="17261F"/>
                          </a:solidFill>
                          <a:latin typeface="Helvetica Neue"/>
                          <a:ea typeface="Helvetica Neue"/>
                          <a:cs typeface="Helvetica Neue"/>
                        </a:rPr>
                        <a:t>-0.006 to 0.436</a:t>
                      </a:r>
                    </a:p>
                  </a:txBody>
                  <a:tcPr marL="91440" marR="91440" marT="45720" marB="45720" anchor="ctr">
                    <a:solidFill>
                      <a:srgbClr val="FFFFFF"/>
                    </a:solidFill>
                  </a:tcPr>
                </a:tc>
                <a:tc>
                  <a:txBody>
                    <a:bodyPr lIns="114300" tIns="114300" rIns="114300" bIns="114300"/>
                    <a:lstStyle/>
                    <a:p>
                      <a:r>
                        <a:rPr sz="1650" b="0">
                          <a:solidFill>
                            <a:srgbClr val="17261F"/>
                          </a:solidFill>
                          <a:latin typeface="Helvetica Neue"/>
                          <a:ea typeface="Helvetica Neue"/>
                          <a:cs typeface="Helvetica Neue"/>
                        </a:rPr>
                        <a:t>0.0565</a:t>
                      </a:r>
                    </a:p>
                  </a:txBody>
                  <a:tcPr marL="91440" marR="91440" marT="45720" marB="45720" anchor="ctr">
                    <a:solidFill>
                      <a:srgbClr val="FFFFFF"/>
                    </a:solidFill>
                  </a:tcPr>
                </a:tc>
                <a:tc>
                  <a:txBody>
                    <a:bodyPr lIns="114300" tIns="114300" rIns="114300" bIns="114300"/>
                    <a:lstStyle/>
                    <a:p>
                      <a:r>
                        <a:rPr sz="1650" b="0">
                          <a:solidFill>
                            <a:srgbClr val="17261F"/>
                          </a:solidFill>
                          <a:latin typeface="Helvetica Neue"/>
                          <a:ea typeface="Helvetica Neue"/>
                          <a:cs typeface="Helvetica Neue"/>
                        </a:rPr>
                        <a:t>0.2261</a:t>
                      </a:r>
                    </a:p>
                  </a:txBody>
                  <a:tcPr marL="91440" marR="91440" marT="45720" marB="45720" anchor="ctr">
                    <a:solidFill>
                      <a:srgbClr val="FFFFFF"/>
                    </a:solidFill>
                  </a:tcPr>
                </a:tc>
                <a:tc>
                  <a:txBody>
                    <a:bodyPr lIns="114300" tIns="114300" rIns="114300" bIns="114300"/>
                    <a:lstStyle/>
                    <a:p>
                      <a:r>
                        <a:rPr sz="1650" b="0">
                          <a:solidFill>
                            <a:srgbClr val="17261F"/>
                          </a:solidFill>
                          <a:latin typeface="Helvetica Neue"/>
                          <a:ea typeface="Helvetica Neue"/>
                          <a:cs typeface="Helvetica Neue"/>
                        </a:rPr>
                        <a:t>147</a:t>
                      </a:r>
                    </a:p>
                  </a:txBody>
                  <a:tcPr marL="91440" marR="91440" marT="45720" marB="45720" anchor="ctr">
                    <a:solidFill>
                      <a:srgbClr val="FFFFFF"/>
                    </a:solidFill>
                  </a:tcPr>
                </a:tc>
              </a:tr>
              <a:tr h="533400">
                <a:tc>
                  <a:txBody>
                    <a:bodyPr lIns="114300" tIns="114300" rIns="114300" bIns="114300"/>
                    <a:lstStyle/>
                    <a:p>
                      <a:r>
                        <a:rPr sz="1650" b="0">
                          <a:solidFill>
                            <a:srgbClr val="17261F"/>
                          </a:solidFill>
                          <a:latin typeface="Helvetica Neue"/>
                          <a:ea typeface="Helvetica Neue"/>
                          <a:cs typeface="Helvetica Neue"/>
                        </a:rPr>
                        <a:t>Electronic/Dance</a:t>
                      </a:r>
                    </a:p>
                  </a:txBody>
                  <a:tcPr marL="91440" marR="91440" marT="45720" marB="45720" anchor="ctr">
                    <a:solidFill>
                      <a:srgbClr val="EDF4EF"/>
                    </a:solidFill>
                  </a:tcPr>
                </a:tc>
                <a:tc>
                  <a:txBody>
                    <a:bodyPr lIns="114300" tIns="114300" rIns="114300" bIns="114300"/>
                    <a:lstStyle/>
                    <a:p>
                      <a:r>
                        <a:rPr sz="1650" b="0">
                          <a:solidFill>
                            <a:srgbClr val="17261F"/>
                          </a:solidFill>
                          <a:latin typeface="Helvetica Neue"/>
                          <a:ea typeface="Helvetica Neue"/>
                          <a:cs typeface="Helvetica Neue"/>
                        </a:rPr>
                        <a:t>1.099</a:t>
                      </a:r>
                    </a:p>
                  </a:txBody>
                  <a:tcPr marL="91440" marR="91440" marT="45720" marB="45720" anchor="ctr">
                    <a:solidFill>
                      <a:srgbClr val="EDF4EF"/>
                    </a:solidFill>
                  </a:tcPr>
                </a:tc>
                <a:tc>
                  <a:txBody>
                    <a:bodyPr lIns="114300" tIns="114300" rIns="114300" bIns="114300"/>
                    <a:lstStyle/>
                    <a:p>
                      <a:r>
                        <a:rPr sz="1650" b="0">
                          <a:solidFill>
                            <a:srgbClr val="17261F"/>
                          </a:solidFill>
                          <a:latin typeface="Helvetica Neue"/>
                          <a:ea typeface="Helvetica Neue"/>
                          <a:cs typeface="Helvetica Neue"/>
                        </a:rPr>
                        <a:t>0.313 to 1.886</a:t>
                      </a:r>
                    </a:p>
                  </a:txBody>
                  <a:tcPr marL="91440" marR="91440" marT="45720" marB="45720" anchor="ctr">
                    <a:solidFill>
                      <a:srgbClr val="EDF4EF"/>
                    </a:solidFill>
                  </a:tcPr>
                </a:tc>
                <a:tc>
                  <a:txBody>
                    <a:bodyPr lIns="114300" tIns="114300" rIns="114300" bIns="114300"/>
                    <a:lstStyle/>
                    <a:p>
                      <a:r>
                        <a:rPr sz="1650" b="0">
                          <a:solidFill>
                            <a:srgbClr val="17261F"/>
                          </a:solidFill>
                          <a:latin typeface="Helvetica Neue"/>
                          <a:ea typeface="Helvetica Neue"/>
                          <a:cs typeface="Helvetica Neue"/>
                        </a:rPr>
                        <a:t>0.0061</a:t>
                      </a:r>
                    </a:p>
                  </a:txBody>
                  <a:tcPr marL="91440" marR="91440" marT="45720" marB="45720" anchor="ctr">
                    <a:solidFill>
                      <a:srgbClr val="EDF4EF"/>
                    </a:solidFill>
                  </a:tcPr>
                </a:tc>
                <a:tc>
                  <a:txBody>
                    <a:bodyPr lIns="114300" tIns="114300" rIns="114300" bIns="114300"/>
                    <a:lstStyle/>
                    <a:p>
                      <a:r>
                        <a:rPr sz="1650" b="0">
                          <a:solidFill>
                            <a:srgbClr val="17261F"/>
                          </a:solidFill>
                          <a:latin typeface="Helvetica Neue"/>
                          <a:ea typeface="Helvetica Neue"/>
                          <a:cs typeface="Helvetica Neue"/>
                        </a:rPr>
                        <a:t>0.0368</a:t>
                      </a:r>
                    </a:p>
                  </a:txBody>
                  <a:tcPr marL="91440" marR="91440" marT="45720" marB="45720" anchor="ctr">
                    <a:solidFill>
                      <a:srgbClr val="EDF4EF"/>
                    </a:solidFill>
                  </a:tcPr>
                </a:tc>
                <a:tc>
                  <a:txBody>
                    <a:bodyPr lIns="114300" tIns="114300" rIns="114300" bIns="114300"/>
                    <a:lstStyle/>
                    <a:p>
                      <a:r>
                        <a:rPr sz="1650" b="0">
                          <a:solidFill>
                            <a:srgbClr val="17261F"/>
                          </a:solidFill>
                          <a:latin typeface="Helvetica Neue"/>
                          <a:ea typeface="Helvetica Neue"/>
                          <a:cs typeface="Helvetica Neue"/>
                        </a:rPr>
                        <a:t>11</a:t>
                      </a:r>
                    </a:p>
                  </a:txBody>
                  <a:tcPr marL="91440" marR="91440" marT="45720" marB="45720" anchor="ctr">
                    <a:solidFill>
                      <a:srgbClr val="EDF4EF"/>
                    </a:solidFill>
                  </a:tcPr>
                </a:tc>
              </a:tr>
              <a:tr h="533400">
                <a:tc>
                  <a:txBody>
                    <a:bodyPr lIns="114300" tIns="114300" rIns="114300" bIns="114300"/>
                    <a:lstStyle/>
                    <a:p>
                      <a:r>
                        <a:rPr sz="1650" b="0">
                          <a:solidFill>
                            <a:srgbClr val="17261F"/>
                          </a:solidFill>
                          <a:latin typeface="Helvetica Neue"/>
                          <a:ea typeface="Helvetica Neue"/>
                          <a:cs typeface="Helvetica Neue"/>
                        </a:rPr>
                        <a:t>Rock/Metal</a:t>
                      </a:r>
                    </a:p>
                  </a:txBody>
                  <a:tcPr marL="91440" marR="91440" marT="45720" marB="45720" anchor="ctr">
                    <a:solidFill>
                      <a:srgbClr val="FFFFFF"/>
                    </a:solidFill>
                  </a:tcPr>
                </a:tc>
                <a:tc>
                  <a:txBody>
                    <a:bodyPr lIns="114300" tIns="114300" rIns="114300" bIns="114300"/>
                    <a:lstStyle/>
                    <a:p>
                      <a:r>
                        <a:rPr sz="1650" b="0">
                          <a:solidFill>
                            <a:srgbClr val="17261F"/>
                          </a:solidFill>
                          <a:latin typeface="Helvetica Neue"/>
                          <a:ea typeface="Helvetica Neue"/>
                          <a:cs typeface="Helvetica Neue"/>
                        </a:rPr>
                        <a:t>-0.035</a:t>
                      </a:r>
                    </a:p>
                  </a:txBody>
                  <a:tcPr marL="91440" marR="91440" marT="45720" marB="45720" anchor="ctr">
                    <a:solidFill>
                      <a:srgbClr val="FFFFFF"/>
                    </a:solidFill>
                  </a:tcPr>
                </a:tc>
                <a:tc>
                  <a:txBody>
                    <a:bodyPr lIns="114300" tIns="114300" rIns="114300" bIns="114300"/>
                    <a:lstStyle/>
                    <a:p>
                      <a:r>
                        <a:rPr sz="1650" b="0">
                          <a:solidFill>
                            <a:srgbClr val="17261F"/>
                          </a:solidFill>
                          <a:latin typeface="Helvetica Neue"/>
                          <a:ea typeface="Helvetica Neue"/>
                          <a:cs typeface="Helvetica Neue"/>
                        </a:rPr>
                        <a:t>-0.604 to 0.534</a:t>
                      </a:r>
                    </a:p>
                  </a:txBody>
                  <a:tcPr marL="91440" marR="91440" marT="45720" marB="45720" anchor="ctr">
                    <a:solidFill>
                      <a:srgbClr val="FFFFFF"/>
                    </a:solidFill>
                  </a:tcPr>
                </a:tc>
                <a:tc>
                  <a:txBody>
                    <a:bodyPr lIns="114300" tIns="114300" rIns="114300" bIns="114300"/>
                    <a:lstStyle/>
                    <a:p>
                      <a:r>
                        <a:rPr sz="1650" b="0">
                          <a:solidFill>
                            <a:srgbClr val="17261F"/>
                          </a:solidFill>
                          <a:latin typeface="Helvetica Neue"/>
                          <a:ea typeface="Helvetica Neue"/>
                          <a:cs typeface="Helvetica Neue"/>
                        </a:rPr>
                        <a:t>0.9032</a:t>
                      </a:r>
                    </a:p>
                  </a:txBody>
                  <a:tcPr marL="91440" marR="91440" marT="45720" marB="45720" anchor="ctr">
                    <a:solidFill>
                      <a:srgbClr val="FFFFFF"/>
                    </a:solidFill>
                  </a:tcPr>
                </a:tc>
                <a:tc>
                  <a:txBody>
                    <a:bodyPr lIns="114300" tIns="114300" rIns="114300" bIns="114300"/>
                    <a:lstStyle/>
                    <a:p>
                      <a:r>
                        <a:rPr sz="1650" b="0">
                          <a:solidFill>
                            <a:srgbClr val="17261F"/>
                          </a:solidFill>
                          <a:latin typeface="Helvetica Neue"/>
                          <a:ea typeface="Helvetica Neue"/>
                          <a:cs typeface="Helvetica Neue"/>
                        </a:rPr>
                        <a:t>1.0000</a:t>
                      </a:r>
                    </a:p>
                  </a:txBody>
                  <a:tcPr marL="91440" marR="91440" marT="45720" marB="45720" anchor="ctr">
                    <a:solidFill>
                      <a:srgbClr val="FFFFFF"/>
                    </a:solidFill>
                  </a:tcPr>
                </a:tc>
                <a:tc>
                  <a:txBody>
                    <a:bodyPr lIns="114300" tIns="114300" rIns="114300" bIns="114300"/>
                    <a:lstStyle/>
                    <a:p>
                      <a:r>
                        <a:rPr sz="1650" b="0">
                          <a:solidFill>
                            <a:srgbClr val="17261F"/>
                          </a:solidFill>
                          <a:latin typeface="Helvetica Neue"/>
                          <a:ea typeface="Helvetica Neue"/>
                          <a:cs typeface="Helvetica Neue"/>
                        </a:rPr>
                        <a:t>21</a:t>
                      </a:r>
                    </a:p>
                  </a:txBody>
                  <a:tcPr marL="91440" marR="91440" marT="45720" marB="45720" anchor="ctr">
                    <a:solidFill>
                      <a:srgbClr val="FFFFFF"/>
                    </a:solidFill>
                  </a:tcPr>
                </a:tc>
              </a:tr>
              <a:tr h="533400">
                <a:tc>
                  <a:txBody>
                    <a:bodyPr lIns="114300" tIns="114300" rIns="114300" bIns="114300"/>
                    <a:lstStyle/>
                    <a:p>
                      <a:r>
                        <a:rPr sz="1650" b="0">
                          <a:solidFill>
                            <a:srgbClr val="17261F"/>
                          </a:solidFill>
                          <a:latin typeface="Helvetica Neue"/>
                          <a:ea typeface="Helvetica Neue"/>
                          <a:cs typeface="Helvetica Neue"/>
                        </a:rPr>
                        <a:t>Soul/R&amp;B</a:t>
                      </a:r>
                    </a:p>
                  </a:txBody>
                  <a:tcPr marL="91440" marR="91440" marT="45720" marB="45720" anchor="ctr">
                    <a:solidFill>
                      <a:srgbClr val="EDF4EF"/>
                    </a:solidFill>
                  </a:tcPr>
                </a:tc>
                <a:tc>
                  <a:txBody>
                    <a:bodyPr lIns="114300" tIns="114300" rIns="114300" bIns="114300"/>
                    <a:lstStyle/>
                    <a:p>
                      <a:r>
                        <a:rPr sz="1650" b="0">
                          <a:solidFill>
                            <a:srgbClr val="17261F"/>
                          </a:solidFill>
                          <a:latin typeface="Helvetica Neue"/>
                          <a:ea typeface="Helvetica Neue"/>
                          <a:cs typeface="Helvetica Neue"/>
                        </a:rPr>
                        <a:t>-0.255</a:t>
                      </a:r>
                    </a:p>
                  </a:txBody>
                  <a:tcPr marL="91440" marR="91440" marT="45720" marB="45720" anchor="ctr">
                    <a:solidFill>
                      <a:srgbClr val="EDF4EF"/>
                    </a:solidFill>
                  </a:tcPr>
                </a:tc>
                <a:tc>
                  <a:txBody>
                    <a:bodyPr lIns="114300" tIns="114300" rIns="114300" bIns="114300"/>
                    <a:lstStyle/>
                    <a:p>
                      <a:r>
                        <a:rPr sz="1650" b="0">
                          <a:solidFill>
                            <a:srgbClr val="17261F"/>
                          </a:solidFill>
                          <a:latin typeface="Helvetica Neue"/>
                          <a:ea typeface="Helvetica Neue"/>
                          <a:cs typeface="Helvetica Neue"/>
                        </a:rPr>
                        <a:t>-1.445 to 0.934</a:t>
                      </a:r>
                    </a:p>
                  </a:txBody>
                  <a:tcPr marL="91440" marR="91440" marT="45720" marB="45720" anchor="ctr">
                    <a:solidFill>
                      <a:srgbClr val="EDF4EF"/>
                    </a:solidFill>
                  </a:tcPr>
                </a:tc>
                <a:tc>
                  <a:txBody>
                    <a:bodyPr lIns="114300" tIns="114300" rIns="114300" bIns="114300"/>
                    <a:lstStyle/>
                    <a:p>
                      <a:r>
                        <a:rPr sz="1650" b="0">
                          <a:solidFill>
                            <a:srgbClr val="17261F"/>
                          </a:solidFill>
                          <a:latin typeface="Helvetica Neue"/>
                          <a:ea typeface="Helvetica Neue"/>
                          <a:cs typeface="Helvetica Neue"/>
                        </a:rPr>
                        <a:t>0.6739</a:t>
                      </a:r>
                    </a:p>
                  </a:txBody>
                  <a:tcPr marL="91440" marR="91440" marT="45720" marB="45720" anchor="ctr">
                    <a:solidFill>
                      <a:srgbClr val="EDF4EF"/>
                    </a:solidFill>
                  </a:tcPr>
                </a:tc>
                <a:tc>
                  <a:txBody>
                    <a:bodyPr lIns="114300" tIns="114300" rIns="114300" bIns="114300"/>
                    <a:lstStyle/>
                    <a:p>
                      <a:r>
                        <a:rPr sz="1650" b="0">
                          <a:solidFill>
                            <a:srgbClr val="17261F"/>
                          </a:solidFill>
                          <a:latin typeface="Helvetica Neue"/>
                          <a:ea typeface="Helvetica Neue"/>
                          <a:cs typeface="Helvetica Neue"/>
                        </a:rPr>
                        <a:t>1.0000</a:t>
                      </a:r>
                    </a:p>
                  </a:txBody>
                  <a:tcPr marL="91440" marR="91440" marT="45720" marB="45720" anchor="ctr">
                    <a:solidFill>
                      <a:srgbClr val="EDF4EF"/>
                    </a:solidFill>
                  </a:tcPr>
                </a:tc>
                <a:tc>
                  <a:txBody>
                    <a:bodyPr lIns="114300" tIns="114300" rIns="114300" bIns="114300"/>
                    <a:lstStyle/>
                    <a:p>
                      <a:r>
                        <a:rPr sz="1650" b="0">
                          <a:solidFill>
                            <a:srgbClr val="17261F"/>
                          </a:solidFill>
                          <a:latin typeface="Helvetica Neue"/>
                          <a:ea typeface="Helvetica Neue"/>
                          <a:cs typeface="Helvetica Neue"/>
                        </a:rPr>
                        <a:t>5</a:t>
                      </a:r>
                    </a:p>
                  </a:txBody>
                  <a:tcPr marL="91440" marR="91440" marT="45720" marB="45720" anchor="ctr">
                    <a:solidFill>
                      <a:srgbClr val="EDF4EF"/>
                    </a:solidFill>
                  </a:tcPr>
                </a:tc>
              </a:tr>
              <a:tr h="533400">
                <a:tc>
                  <a:txBody>
                    <a:bodyPr lIns="114300" tIns="114300" rIns="114300" bIns="114300"/>
                    <a:lstStyle/>
                    <a:p>
                      <a:r>
                        <a:rPr sz="1650" b="0">
                          <a:solidFill>
                            <a:srgbClr val="17261F"/>
                          </a:solidFill>
                          <a:latin typeface="Helvetica Neue"/>
                          <a:ea typeface="Helvetica Neue"/>
                          <a:cs typeface="Helvetica Neue"/>
                        </a:rPr>
                        <a:t>Other/Unknown</a:t>
                      </a:r>
                    </a:p>
                  </a:txBody>
                  <a:tcPr marL="91440" marR="91440" marT="45720" marB="45720" anchor="ctr">
                    <a:solidFill>
                      <a:srgbClr val="FFFFFF"/>
                    </a:solidFill>
                  </a:tcPr>
                </a:tc>
                <a:tc>
                  <a:txBody>
                    <a:bodyPr lIns="114300" tIns="114300" rIns="114300" bIns="114300"/>
                    <a:lstStyle/>
                    <a:p>
                      <a:r>
                        <a:rPr sz="1650" b="0">
                          <a:solidFill>
                            <a:srgbClr val="17261F"/>
                          </a:solidFill>
                          <a:latin typeface="Helvetica Neue"/>
                          <a:ea typeface="Helvetica Neue"/>
                          <a:cs typeface="Helvetica Neue"/>
                        </a:rPr>
                        <a:t>0.158</a:t>
                      </a:r>
                    </a:p>
                  </a:txBody>
                  <a:tcPr marL="91440" marR="91440" marT="45720" marB="45720" anchor="ctr">
                    <a:solidFill>
                      <a:srgbClr val="FFFFFF"/>
                    </a:solidFill>
                  </a:tcPr>
                </a:tc>
                <a:tc>
                  <a:txBody>
                    <a:bodyPr lIns="114300" tIns="114300" rIns="114300" bIns="114300"/>
                    <a:lstStyle/>
                    <a:p>
                      <a:r>
                        <a:rPr sz="1650" b="0">
                          <a:solidFill>
                            <a:srgbClr val="17261F"/>
                          </a:solidFill>
                          <a:latin typeface="Helvetica Neue"/>
                          <a:ea typeface="Helvetica Neue"/>
                          <a:cs typeface="Helvetica Neue"/>
                        </a:rPr>
                        <a:t>-0.015 to 0.331</a:t>
                      </a:r>
                    </a:p>
                  </a:txBody>
                  <a:tcPr marL="91440" marR="91440" marT="45720" marB="45720" anchor="ctr">
                    <a:solidFill>
                      <a:srgbClr val="FFFFFF"/>
                    </a:solidFill>
                  </a:tcPr>
                </a:tc>
                <a:tc>
                  <a:txBody>
                    <a:bodyPr lIns="114300" tIns="114300" rIns="114300" bIns="114300"/>
                    <a:lstStyle/>
                    <a:p>
                      <a:r>
                        <a:rPr sz="1650" b="0">
                          <a:solidFill>
                            <a:srgbClr val="17261F"/>
                          </a:solidFill>
                          <a:latin typeface="Helvetica Neue"/>
                          <a:ea typeface="Helvetica Neue"/>
                          <a:cs typeface="Helvetica Neue"/>
                        </a:rPr>
                        <a:t>0.0739</a:t>
                      </a:r>
                    </a:p>
                  </a:txBody>
                  <a:tcPr marL="91440" marR="91440" marT="45720" marB="45720" anchor="ctr">
                    <a:solidFill>
                      <a:srgbClr val="FFFFFF"/>
                    </a:solidFill>
                  </a:tcPr>
                </a:tc>
                <a:tc>
                  <a:txBody>
                    <a:bodyPr lIns="114300" tIns="114300" rIns="114300" bIns="114300"/>
                    <a:lstStyle/>
                    <a:p>
                      <a:r>
                        <a:rPr sz="1650" b="0">
                          <a:solidFill>
                            <a:srgbClr val="17261F"/>
                          </a:solidFill>
                          <a:latin typeface="Helvetica Neue"/>
                          <a:ea typeface="Helvetica Neue"/>
                          <a:cs typeface="Helvetica Neue"/>
                        </a:rPr>
                        <a:t>0.2261</a:t>
                      </a:r>
                    </a:p>
                  </a:txBody>
                  <a:tcPr marL="91440" marR="91440" marT="45720" marB="45720" anchor="ctr">
                    <a:solidFill>
                      <a:srgbClr val="FFFFFF"/>
                    </a:solidFill>
                  </a:tcPr>
                </a:tc>
                <a:tc>
                  <a:txBody>
                    <a:bodyPr lIns="114300" tIns="114300" rIns="114300" bIns="114300"/>
                    <a:lstStyle/>
                    <a:p>
                      <a:r>
                        <a:rPr sz="1650" b="0">
                          <a:solidFill>
                            <a:srgbClr val="17261F"/>
                          </a:solidFill>
                          <a:latin typeface="Helvetica Neue"/>
                          <a:ea typeface="Helvetica Neue"/>
                          <a:cs typeface="Helvetica Neue"/>
                        </a:rPr>
                        <a:t>265</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7DB995BA-9223-41AD-8D83-C497ADB871C2}"/>
              </a:ext>
            </a:extLst>
          </p:cNvPr>
          <p:cNvSpPr>
            <a:spLocks xmlns:a="http://schemas.openxmlformats.org/drawingml/2006/main" noGrp="1"/>
          </p:cNvSpPr>
          <p:nvPr/>
        </p:nvSpPr>
        <p:spPr>
          <a:xfrm xmlns:a="http://schemas.openxmlformats.org/drawingml/2006/main">
            <a:off x="609600" y="598170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3645B"/>
                </a:solidFill>
                <a:latin typeface="Helvetica Neue"/>
                <a:ea typeface="Helvetica Neue"/>
                <a:cs typeface="Helvetica Neue"/>
              </a:defRPr>
            </a:defPPr>
          </a:lstStyle>
          <a:p xmlns:a="http://schemas.openxmlformats.org/drawingml/2006/main">
            <a:pPr>
              <a:defRPr sz="1650" b="0">
                <a:solidFill>
                  <a:srgbClr val="53645B"/>
                </a:solidFill>
                <a:latin typeface="Helvetica Neue"/>
                <a:ea typeface="Helvetica Neue"/>
                <a:cs typeface="Helvetica Neue"/>
              </a:defRPr>
            </a:pPr>
            <a:r>
              <a:rPr sz="1650" b="0">
                <a:solidFill>
                  <a:srgbClr val="53645B"/>
                </a:solidFill>
                <a:latin typeface="Helvetica Neue"/>
                <a:ea typeface="Helvetica Neue"/>
                <a:cs typeface="Helvetica Neue"/>
              </a:rPr>
              <a:t>Ordinary lm() inference. Holm adjusts seven comparisons. All genres share model R² = 0.1236.</a:t>
            </a:r>
          </a:p>
        </p:txBody>
      </p:sp>
    </p:spTree>
    <p:extLst>
      <p:ext uri="{BB962C8B-B14F-4D97-AF65-F5344CB8AC3E}">
        <p14:creationId xmlns:p14="http://schemas.microsoft.com/office/powerpoint/2010/main" val="80152467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2026-10-11T20:23:01.6400000Z</dcterms:created>
  <dcterms:modified xsi:type="dcterms:W3CDTF">2026-10-11T20:23:01.6400000Z</dcterms:modified>
</coreProperties>
</file>